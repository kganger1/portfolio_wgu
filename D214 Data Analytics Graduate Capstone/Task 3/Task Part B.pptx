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8288000" cy="10287000"/>
  <p:notesSz cx="6858000" cy="9144000"/>
  <p:embeddedFontLst>
    <p:embeddedFont>
      <p:font typeface="Rasputin Light" panose="020B0604020202020204" charset="0"/>
      <p:regular r:id="rId21"/>
    </p:embeddedFont>
    <p:embeddedFont>
      <p:font typeface="Rasputin Light Bold" panose="020B0604020202020204" charset="0"/>
      <p:regular r:id="rId22"/>
    </p:embeddedFont>
    <p:embeddedFont>
      <p:font typeface="TT Commons Pro" panose="020B0604020202020204" charset="0"/>
      <p:regular r:id="rId23"/>
    </p:embeddedFont>
    <p:embeddedFont>
      <p:font typeface="TT Commons Pro Bold" panose="020B0604020202020204"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BC5EA0F-3800-4246-92B1-F2CE3DEDBC11}" v="1" dt="2024-12-24T04:20:25.4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68" d="100"/>
          <a:sy n="68" d="100"/>
        </p:scale>
        <p:origin x="162" y="-120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iara Ganger" userId="7477b6d133ff28e1" providerId="LiveId" clId="{9BC5EA0F-3800-4246-92B1-F2CE3DEDBC11}"/>
    <pc:docChg chg="custSel modSld">
      <pc:chgData name="Kiara Ganger" userId="7477b6d133ff28e1" providerId="LiveId" clId="{9BC5EA0F-3800-4246-92B1-F2CE3DEDBC11}" dt="2024-12-24T04:19:06.838" v="9" actId="1076"/>
      <pc:docMkLst>
        <pc:docMk/>
      </pc:docMkLst>
      <pc:sldChg chg="modSp mod">
        <pc:chgData name="Kiara Ganger" userId="7477b6d133ff28e1" providerId="LiveId" clId="{9BC5EA0F-3800-4246-92B1-F2CE3DEDBC11}" dt="2024-12-24T04:19:06.838" v="9" actId="1076"/>
        <pc:sldMkLst>
          <pc:docMk/>
          <pc:sldMk cId="0" sldId="258"/>
        </pc:sldMkLst>
        <pc:spChg chg="mod">
          <ac:chgData name="Kiara Ganger" userId="7477b6d133ff28e1" providerId="LiveId" clId="{9BC5EA0F-3800-4246-92B1-F2CE3DEDBC11}" dt="2024-12-24T04:19:06.838" v="9" actId="1076"/>
          <ac:spMkLst>
            <pc:docMk/>
            <pc:sldMk cId="0" sldId="258"/>
            <ac:spMk id="3" creationId="{00000000-0000-0000-0000-000000000000}"/>
          </ac:spMkLst>
        </pc:spChg>
        <pc:spChg chg="mod">
          <ac:chgData name="Kiara Ganger" userId="7477b6d133ff28e1" providerId="LiveId" clId="{9BC5EA0F-3800-4246-92B1-F2CE3DEDBC11}" dt="2024-12-24T04:18:48.583" v="8" actId="20577"/>
          <ac:spMkLst>
            <pc:docMk/>
            <pc:sldMk cId="0" sldId="258"/>
            <ac:spMk id="8"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12/23/2024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12/23/2024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12/23/2024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slide" Target="slide12.xml"/><Relationship Id="rId3" Type="http://schemas.openxmlformats.org/officeDocument/2006/relationships/image" Target="../media/image8.svg"/><Relationship Id="rId7" Type="http://schemas.openxmlformats.org/officeDocument/2006/relationships/slide" Target="slide4.xml"/><Relationship Id="rId12" Type="http://schemas.openxmlformats.org/officeDocument/2006/relationships/slide" Target="slide17.xml"/><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slide" Target="slide16.xml"/><Relationship Id="rId5" Type="http://schemas.openxmlformats.org/officeDocument/2006/relationships/image" Target="../media/image3.png"/><Relationship Id="rId10" Type="http://schemas.openxmlformats.org/officeDocument/2006/relationships/slide" Target="slide15.xml"/><Relationship Id="rId4" Type="http://schemas.openxmlformats.org/officeDocument/2006/relationships/image" Target="../media/image9.jpeg"/><Relationship Id="rId9" Type="http://schemas.openxmlformats.org/officeDocument/2006/relationships/slide" Target="slide6.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hyperlink" Target="https://docs.google.com/spreadsheets/d/1DUF2isFWsqVSYhbaACYtbgcLi_YjDqpE3GLQIVgkKQg/edit#gid=69851113" TargetMode="Externa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4.sv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slide" Target="slide2.xml"/><Relationship Id="rId3" Type="http://schemas.openxmlformats.org/officeDocument/2006/relationships/image" Target="../media/image12.svg"/><Relationship Id="rId7" Type="http://schemas.openxmlformats.org/officeDocument/2006/relationships/image" Target="../media/image16.sv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18.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7.jpeg"/><Relationship Id="rId5" Type="http://schemas.openxmlformats.org/officeDocument/2006/relationships/image" Target="../media/image4.sv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12.xml.rels><?xml version="1.0" encoding="UTF-8" standalone="yes"?>
<Relationships xmlns="http://schemas.openxmlformats.org/package/2006/relationships"><Relationship Id="rId3" Type="http://schemas.openxmlformats.org/officeDocument/2006/relationships/image" Target="../media/image12.svg"/><Relationship Id="rId7" Type="http://schemas.openxmlformats.org/officeDocument/2006/relationships/image" Target="../media/image33.jpe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14.sv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7.xml"/><Relationship Id="rId5" Type="http://schemas.openxmlformats.org/officeDocument/2006/relationships/hyperlink" Target="https://www.trade.gov/data-visualization/office-consumer-goods-import-data-tools" TargetMode="External"/><Relationship Id="rId4" Type="http://schemas.openxmlformats.org/officeDocument/2006/relationships/image" Target="../media/image34.png"/></Relationships>
</file>

<file path=ppt/slides/_rels/slide1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36.svg"/><Relationship Id="rId4" Type="http://schemas.openxmlformats.org/officeDocument/2006/relationships/image" Target="../media/image35.png"/></Relationships>
</file>

<file path=ppt/slides/_rels/slide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9.jpeg"/><Relationship Id="rId5" Type="http://schemas.openxmlformats.org/officeDocument/2006/relationships/image" Target="../media/image38.svg"/><Relationship Id="rId4" Type="http://schemas.openxmlformats.org/officeDocument/2006/relationships/image" Target="../media/image37.png"/></Relationships>
</file>

<file path=ppt/slides/_rels/slide17.xml.rels><?xml version="1.0" encoding="UTF-8" standalone="yes"?>
<Relationships xmlns="http://schemas.openxmlformats.org/package/2006/relationships"><Relationship Id="rId8" Type="http://schemas.openxmlformats.org/officeDocument/2006/relationships/image" Target="../media/image44.jpeg"/><Relationship Id="rId3" Type="http://schemas.openxmlformats.org/officeDocument/2006/relationships/image" Target="../media/image8.svg"/><Relationship Id="rId7" Type="http://schemas.openxmlformats.org/officeDocument/2006/relationships/image" Target="../media/image43.jpe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42.jpeg"/><Relationship Id="rId5" Type="http://schemas.openxmlformats.org/officeDocument/2006/relationships/image" Target="../media/image41.jpeg"/><Relationship Id="rId4" Type="http://schemas.openxmlformats.org/officeDocument/2006/relationships/image" Target="../media/image40.jpeg"/><Relationship Id="rId9" Type="http://schemas.openxmlformats.org/officeDocument/2006/relationships/image" Target="../media/image45.jpeg"/></Relationships>
</file>

<file path=ppt/slides/_rels/slide18.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6.sv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8" Type="http://schemas.openxmlformats.org/officeDocument/2006/relationships/image" Target="../media/image52.png"/><Relationship Id="rId13" Type="http://schemas.openxmlformats.org/officeDocument/2006/relationships/image" Target="../media/image12.svg"/><Relationship Id="rId18" Type="http://schemas.openxmlformats.org/officeDocument/2006/relationships/image" Target="../media/image60.png"/><Relationship Id="rId26" Type="http://schemas.openxmlformats.org/officeDocument/2006/relationships/image" Target="../media/image7.png"/><Relationship Id="rId3" Type="http://schemas.openxmlformats.org/officeDocument/2006/relationships/image" Target="../media/image47.svg"/><Relationship Id="rId21" Type="http://schemas.openxmlformats.org/officeDocument/2006/relationships/image" Target="../media/image63.svg"/><Relationship Id="rId7" Type="http://schemas.openxmlformats.org/officeDocument/2006/relationships/image" Target="../media/image51.svg"/><Relationship Id="rId12" Type="http://schemas.openxmlformats.org/officeDocument/2006/relationships/image" Target="../media/image11.png"/><Relationship Id="rId17" Type="http://schemas.openxmlformats.org/officeDocument/2006/relationships/image" Target="../media/image59.svg"/><Relationship Id="rId25" Type="http://schemas.openxmlformats.org/officeDocument/2006/relationships/image" Target="../media/image67.svg"/><Relationship Id="rId2" Type="http://schemas.openxmlformats.org/officeDocument/2006/relationships/image" Target="../media/image46.png"/><Relationship Id="rId16" Type="http://schemas.openxmlformats.org/officeDocument/2006/relationships/image" Target="../media/image58.png"/><Relationship Id="rId20" Type="http://schemas.openxmlformats.org/officeDocument/2006/relationships/image" Target="../media/image62.png"/><Relationship Id="rId1" Type="http://schemas.openxmlformats.org/officeDocument/2006/relationships/slideLayout" Target="../slideLayouts/slideLayout7.xml"/><Relationship Id="rId6" Type="http://schemas.openxmlformats.org/officeDocument/2006/relationships/image" Target="../media/image50.png"/><Relationship Id="rId11" Type="http://schemas.openxmlformats.org/officeDocument/2006/relationships/image" Target="../media/image55.svg"/><Relationship Id="rId24" Type="http://schemas.openxmlformats.org/officeDocument/2006/relationships/image" Target="../media/image66.png"/><Relationship Id="rId5" Type="http://schemas.openxmlformats.org/officeDocument/2006/relationships/image" Target="../media/image49.svg"/><Relationship Id="rId15" Type="http://schemas.openxmlformats.org/officeDocument/2006/relationships/image" Target="../media/image57.svg"/><Relationship Id="rId23" Type="http://schemas.openxmlformats.org/officeDocument/2006/relationships/image" Target="../media/image65.svg"/><Relationship Id="rId10" Type="http://schemas.openxmlformats.org/officeDocument/2006/relationships/image" Target="../media/image54.png"/><Relationship Id="rId19" Type="http://schemas.openxmlformats.org/officeDocument/2006/relationships/image" Target="../media/image61.svg"/><Relationship Id="rId4" Type="http://schemas.openxmlformats.org/officeDocument/2006/relationships/image" Target="../media/image48.png"/><Relationship Id="rId9" Type="http://schemas.openxmlformats.org/officeDocument/2006/relationships/image" Target="../media/image53.svg"/><Relationship Id="rId14" Type="http://schemas.openxmlformats.org/officeDocument/2006/relationships/image" Target="../media/image56.png"/><Relationship Id="rId22" Type="http://schemas.openxmlformats.org/officeDocument/2006/relationships/image" Target="../media/image64.png"/><Relationship Id="rId27" Type="http://schemas.openxmlformats.org/officeDocument/2006/relationships/image" Target="../media/image8.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F674F"/>
        </a:solidFill>
        <a:effectLst/>
      </p:bgPr>
    </p:bg>
    <p:spTree>
      <p:nvGrpSpPr>
        <p:cNvPr id="1" name=""/>
        <p:cNvGrpSpPr/>
        <p:nvPr/>
      </p:nvGrpSpPr>
      <p:grpSpPr>
        <a:xfrm>
          <a:off x="0" y="0"/>
          <a:ext cx="0" cy="0"/>
          <a:chOff x="0" y="0"/>
          <a:chExt cx="0" cy="0"/>
        </a:xfrm>
      </p:grpSpPr>
      <p:grpSp>
        <p:nvGrpSpPr>
          <p:cNvPr id="2" name="Group 2"/>
          <p:cNvGrpSpPr/>
          <p:nvPr/>
        </p:nvGrpSpPr>
        <p:grpSpPr>
          <a:xfrm>
            <a:off x="140607" y="1028700"/>
            <a:ext cx="10036225" cy="3251761"/>
            <a:chOff x="0" y="0"/>
            <a:chExt cx="13381633" cy="4335681"/>
          </a:xfrm>
        </p:grpSpPr>
        <p:sp>
          <p:nvSpPr>
            <p:cNvPr id="3" name="TextBox 3"/>
            <p:cNvSpPr txBox="1"/>
            <p:nvPr/>
          </p:nvSpPr>
          <p:spPr>
            <a:xfrm>
              <a:off x="0" y="57150"/>
              <a:ext cx="13381633" cy="2465916"/>
            </a:xfrm>
            <a:prstGeom prst="rect">
              <a:avLst/>
            </a:prstGeom>
          </p:spPr>
          <p:txBody>
            <a:bodyPr lIns="0" tIns="0" rIns="0" bIns="0" rtlCol="0" anchor="t">
              <a:spAutoFit/>
            </a:bodyPr>
            <a:lstStyle/>
            <a:p>
              <a:pPr algn="l">
                <a:lnSpc>
                  <a:spcPts val="7149"/>
                </a:lnSpc>
              </a:pPr>
              <a:r>
                <a:rPr lang="en-US" sz="6499">
                  <a:solidFill>
                    <a:srgbClr val="FFFFFF"/>
                  </a:solidFill>
                  <a:latin typeface="Rasputin Light"/>
                  <a:ea typeface="Rasputin Light"/>
                  <a:cs typeface="Rasputin Light"/>
                  <a:sym typeface="Rasputin Light"/>
                </a:rPr>
                <a:t>Impact of Tariffs on Imported Goods Prices</a:t>
              </a:r>
            </a:p>
          </p:txBody>
        </p:sp>
        <p:sp>
          <p:nvSpPr>
            <p:cNvPr id="4" name="TextBox 4"/>
            <p:cNvSpPr txBox="1"/>
            <p:nvPr/>
          </p:nvSpPr>
          <p:spPr>
            <a:xfrm>
              <a:off x="0" y="2983341"/>
              <a:ext cx="13381633" cy="1352340"/>
            </a:xfrm>
            <a:prstGeom prst="rect">
              <a:avLst/>
            </a:prstGeom>
          </p:spPr>
          <p:txBody>
            <a:bodyPr lIns="0" tIns="0" rIns="0" bIns="0" rtlCol="0" anchor="t">
              <a:spAutoFit/>
            </a:bodyPr>
            <a:lstStyle/>
            <a:p>
              <a:pPr algn="r">
                <a:lnSpc>
                  <a:spcPts val="8539"/>
                </a:lnSpc>
                <a:spcBef>
                  <a:spcPct val="0"/>
                </a:spcBef>
              </a:pPr>
              <a:r>
                <a:rPr lang="en-US" sz="6099">
                  <a:solidFill>
                    <a:srgbClr val="FFFFFF"/>
                  </a:solidFill>
                  <a:latin typeface="TT Commons Pro"/>
                  <a:ea typeface="TT Commons Pro"/>
                  <a:cs typeface="TT Commons Pro"/>
                  <a:sym typeface="TT Commons Pro"/>
                </a:rPr>
                <a:t>Scenario Analysis</a:t>
              </a:r>
            </a:p>
          </p:txBody>
        </p:sp>
      </p:grpSp>
      <p:sp>
        <p:nvSpPr>
          <p:cNvPr id="5" name="Freeform 5" descr="green blob"/>
          <p:cNvSpPr/>
          <p:nvPr/>
        </p:nvSpPr>
        <p:spPr>
          <a:xfrm>
            <a:off x="-2284790" y="-3746425"/>
            <a:ext cx="8857785" cy="8525618"/>
          </a:xfrm>
          <a:custGeom>
            <a:avLst/>
            <a:gdLst/>
            <a:ahLst/>
            <a:cxnLst/>
            <a:rect l="l" t="t" r="r" b="b"/>
            <a:pathLst>
              <a:path w="8857785" h="8525618">
                <a:moveTo>
                  <a:pt x="0" y="0"/>
                </a:moveTo>
                <a:lnTo>
                  <a:pt x="8857785" y="0"/>
                </a:lnTo>
                <a:lnTo>
                  <a:pt x="8857785" y="8525618"/>
                </a:lnTo>
                <a:lnTo>
                  <a:pt x="0" y="8525618"/>
                </a:lnTo>
                <a:lnTo>
                  <a:pt x="0" y="0"/>
                </a:lnTo>
                <a:close/>
              </a:path>
            </a:pathLst>
          </a:custGeom>
          <a:blipFill>
            <a:blip r:embed="rId2">
              <a:alphaModFix amt="21999"/>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descr="lined abstract shape"/>
          <p:cNvSpPr/>
          <p:nvPr/>
        </p:nvSpPr>
        <p:spPr>
          <a:xfrm rot="4726396">
            <a:off x="-2659134" y="-785935"/>
            <a:ext cx="5318268" cy="8429531"/>
          </a:xfrm>
          <a:custGeom>
            <a:avLst/>
            <a:gdLst/>
            <a:ahLst/>
            <a:cxnLst/>
            <a:rect l="l" t="t" r="r" b="b"/>
            <a:pathLst>
              <a:path w="5318268" h="8429531">
                <a:moveTo>
                  <a:pt x="0" y="0"/>
                </a:moveTo>
                <a:lnTo>
                  <a:pt x="5318268" y="0"/>
                </a:lnTo>
                <a:lnTo>
                  <a:pt x="5318268" y="8429531"/>
                </a:lnTo>
                <a:lnTo>
                  <a:pt x="0" y="8429531"/>
                </a:lnTo>
                <a:lnTo>
                  <a:pt x="0" y="0"/>
                </a:lnTo>
                <a:close/>
              </a:path>
            </a:pathLst>
          </a:custGeom>
          <a:blipFill>
            <a:blip r:embed="rId4">
              <a:alphaModFix amt="30000"/>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7" name="Group 7"/>
          <p:cNvGrpSpPr/>
          <p:nvPr/>
        </p:nvGrpSpPr>
        <p:grpSpPr>
          <a:xfrm>
            <a:off x="9231416" y="1685070"/>
            <a:ext cx="16055768" cy="12940229"/>
            <a:chOff x="0" y="0"/>
            <a:chExt cx="21407691" cy="17253639"/>
          </a:xfrm>
        </p:grpSpPr>
        <p:sp>
          <p:nvSpPr>
            <p:cNvPr id="8" name="Freeform 8" descr="green organic shape"/>
            <p:cNvSpPr/>
            <p:nvPr/>
          </p:nvSpPr>
          <p:spPr>
            <a:xfrm rot="6653687">
              <a:off x="1124811" y="3216501"/>
              <a:ext cx="13276870" cy="11550877"/>
            </a:xfrm>
            <a:custGeom>
              <a:avLst/>
              <a:gdLst/>
              <a:ahLst/>
              <a:cxnLst/>
              <a:rect l="l" t="t" r="r" b="b"/>
              <a:pathLst>
                <a:path w="13276870" h="11550877">
                  <a:moveTo>
                    <a:pt x="0" y="0"/>
                  </a:moveTo>
                  <a:lnTo>
                    <a:pt x="13276870" y="0"/>
                  </a:lnTo>
                  <a:lnTo>
                    <a:pt x="13276870" y="11550877"/>
                  </a:lnTo>
                  <a:lnTo>
                    <a:pt x="0" y="11550877"/>
                  </a:lnTo>
                  <a:lnTo>
                    <a:pt x="0" y="0"/>
                  </a:lnTo>
                  <a:close/>
                </a:path>
              </a:pathLst>
            </a:custGeom>
            <a:blipFill>
              <a:blip r:embed="rId6">
                <a:alphaModFix amt="21999"/>
                <a:extLst>
                  <a:ext uri="{96DAC541-7B7A-43D3-8B79-37D633B846F1}">
                    <asvg:svgBlip xmlns:asvg="http://schemas.microsoft.com/office/drawing/2016/SVG/main" r:embed="rId7"/>
                  </a:ext>
                </a:extLst>
              </a:blip>
              <a:stretch>
                <a:fillRect/>
              </a:stretch>
            </a:blipFill>
          </p:spPr>
          <p:txBody>
            <a:bodyPr/>
            <a:lstStyle/>
            <a:p>
              <a:endParaRPr lang="en-US"/>
            </a:p>
          </p:txBody>
        </p:sp>
        <p:sp>
          <p:nvSpPr>
            <p:cNvPr id="9" name="Freeform 9" descr="lined abstract shape"/>
            <p:cNvSpPr/>
            <p:nvPr/>
          </p:nvSpPr>
          <p:spPr>
            <a:xfrm rot="2788089">
              <a:off x="8986172" y="1014021"/>
              <a:ext cx="8754084" cy="13875349"/>
            </a:xfrm>
            <a:custGeom>
              <a:avLst/>
              <a:gdLst/>
              <a:ahLst/>
              <a:cxnLst/>
              <a:rect l="l" t="t" r="r" b="b"/>
              <a:pathLst>
                <a:path w="8754084" h="13875349">
                  <a:moveTo>
                    <a:pt x="0" y="0"/>
                  </a:moveTo>
                  <a:lnTo>
                    <a:pt x="8754083" y="0"/>
                  </a:lnTo>
                  <a:lnTo>
                    <a:pt x="8754083" y="13875349"/>
                  </a:lnTo>
                  <a:lnTo>
                    <a:pt x="0" y="13875349"/>
                  </a:lnTo>
                  <a:lnTo>
                    <a:pt x="0" y="0"/>
                  </a:lnTo>
                  <a:close/>
                </a:path>
              </a:pathLst>
            </a:custGeom>
            <a:blipFill>
              <a:blip r:embed="rId4">
                <a:alphaModFix amt="30000"/>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0" name="TextBox 10"/>
            <p:cNvSpPr txBox="1"/>
            <p:nvPr/>
          </p:nvSpPr>
          <p:spPr>
            <a:xfrm>
              <a:off x="4280999" y="10601853"/>
              <a:ext cx="7501803" cy="651323"/>
            </a:xfrm>
            <a:prstGeom prst="rect">
              <a:avLst/>
            </a:prstGeom>
          </p:spPr>
          <p:txBody>
            <a:bodyPr lIns="0" tIns="0" rIns="0" bIns="0" rtlCol="0" anchor="t">
              <a:spAutoFit/>
            </a:bodyPr>
            <a:lstStyle/>
            <a:p>
              <a:pPr algn="r">
                <a:lnSpc>
                  <a:spcPts val="3741"/>
                </a:lnSpc>
              </a:pPr>
              <a:r>
                <a:rPr lang="en-US" sz="3401">
                  <a:solidFill>
                    <a:srgbClr val="FFFFFF"/>
                  </a:solidFill>
                  <a:latin typeface="TT Commons Pro"/>
                  <a:ea typeface="TT Commons Pro"/>
                  <a:cs typeface="TT Commons Pro"/>
                  <a:sym typeface="TT Commons Pro"/>
                </a:rPr>
                <a:t>Kiara Angelys Ganger</a:t>
              </a:r>
            </a:p>
          </p:txBody>
        </p:sp>
        <p:sp>
          <p:nvSpPr>
            <p:cNvPr id="11" name="TextBox 11"/>
            <p:cNvSpPr txBox="1"/>
            <p:nvPr/>
          </p:nvSpPr>
          <p:spPr>
            <a:xfrm>
              <a:off x="0" y="8554474"/>
              <a:ext cx="11782802" cy="600100"/>
            </a:xfrm>
            <a:prstGeom prst="rect">
              <a:avLst/>
            </a:prstGeom>
          </p:spPr>
          <p:txBody>
            <a:bodyPr lIns="0" tIns="0" rIns="0" bIns="0" rtlCol="0" anchor="t">
              <a:spAutoFit/>
            </a:bodyPr>
            <a:lstStyle/>
            <a:p>
              <a:pPr algn="l">
                <a:lnSpc>
                  <a:spcPts val="3301"/>
                </a:lnSpc>
              </a:pPr>
              <a:r>
                <a:rPr lang="en-US" sz="3001">
                  <a:solidFill>
                    <a:srgbClr val="FFFFFF"/>
                  </a:solidFill>
                  <a:latin typeface="Rasputin Light"/>
                  <a:ea typeface="Rasputin Light"/>
                  <a:cs typeface="Rasputin Light"/>
                  <a:sym typeface="Rasputin Light"/>
                </a:rPr>
                <a:t>D214 Data Analytics Graduate Capstone</a:t>
              </a:r>
            </a:p>
          </p:txBody>
        </p:sp>
        <p:sp>
          <p:nvSpPr>
            <p:cNvPr id="12" name="TextBox 12"/>
            <p:cNvSpPr txBox="1"/>
            <p:nvPr/>
          </p:nvSpPr>
          <p:spPr>
            <a:xfrm>
              <a:off x="0" y="9671998"/>
              <a:ext cx="11782802" cy="751628"/>
            </a:xfrm>
            <a:prstGeom prst="rect">
              <a:avLst/>
            </a:prstGeom>
          </p:spPr>
          <p:txBody>
            <a:bodyPr lIns="0" tIns="0" rIns="0" bIns="0" rtlCol="0" anchor="t">
              <a:spAutoFit/>
            </a:bodyPr>
            <a:lstStyle/>
            <a:p>
              <a:pPr algn="r">
                <a:lnSpc>
                  <a:spcPts val="4760"/>
                </a:lnSpc>
                <a:spcBef>
                  <a:spcPct val="0"/>
                </a:spcBef>
              </a:pPr>
              <a:r>
                <a:rPr lang="en-US" sz="3400">
                  <a:solidFill>
                    <a:srgbClr val="FFFFFF"/>
                  </a:solidFill>
                  <a:latin typeface="TT Commons Pro"/>
                  <a:ea typeface="TT Commons Pro"/>
                  <a:cs typeface="TT Commons Pro"/>
                  <a:sym typeface="TT Commons Pro"/>
                </a:rPr>
                <a:t>Western Governors University</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B7CDB7"/>
        </a:solidFill>
        <a:effectLst/>
      </p:bgPr>
    </p:bg>
    <p:spTree>
      <p:nvGrpSpPr>
        <p:cNvPr id="1" name=""/>
        <p:cNvGrpSpPr/>
        <p:nvPr/>
      </p:nvGrpSpPr>
      <p:grpSpPr>
        <a:xfrm>
          <a:off x="0" y="0"/>
          <a:ext cx="0" cy="0"/>
          <a:chOff x="0" y="0"/>
          <a:chExt cx="0" cy="0"/>
        </a:xfrm>
      </p:grpSpPr>
      <p:sp>
        <p:nvSpPr>
          <p:cNvPr id="2" name="Freeform 2" descr="dark green organic shape"/>
          <p:cNvSpPr/>
          <p:nvPr/>
        </p:nvSpPr>
        <p:spPr>
          <a:xfrm>
            <a:off x="-3891298" y="-1838102"/>
            <a:ext cx="13958156" cy="13434725"/>
          </a:xfrm>
          <a:custGeom>
            <a:avLst/>
            <a:gdLst/>
            <a:ahLst/>
            <a:cxnLst/>
            <a:rect l="l" t="t" r="r" b="b"/>
            <a:pathLst>
              <a:path w="13958156" h="13434725">
                <a:moveTo>
                  <a:pt x="0" y="0"/>
                </a:moveTo>
                <a:lnTo>
                  <a:pt x="13958156" y="0"/>
                </a:lnTo>
                <a:lnTo>
                  <a:pt x="13958156" y="13434725"/>
                </a:lnTo>
                <a:lnTo>
                  <a:pt x="0" y="1343472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 name="Group 3"/>
          <p:cNvGrpSpPr/>
          <p:nvPr/>
        </p:nvGrpSpPr>
        <p:grpSpPr>
          <a:xfrm>
            <a:off x="171440" y="1757307"/>
            <a:ext cx="8622536" cy="7699422"/>
            <a:chOff x="149860" y="501650"/>
            <a:chExt cx="12882880" cy="11503660"/>
          </a:xfrm>
        </p:grpSpPr>
        <p:sp>
          <p:nvSpPr>
            <p:cNvPr id="4" name="Freeform 4"/>
            <p:cNvSpPr/>
            <p:nvPr/>
          </p:nvSpPr>
          <p:spPr>
            <a:xfrm>
              <a:off x="0" y="0"/>
              <a:ext cx="12882879" cy="11503660"/>
            </a:xfrm>
            <a:custGeom>
              <a:avLst/>
              <a:gdLst/>
              <a:ahLst/>
              <a:cxnLst/>
              <a:rect l="l" t="t" r="r" b="b"/>
              <a:pathLst>
                <a:path w="12882879" h="11503660">
                  <a:moveTo>
                    <a:pt x="11337290" y="2283460"/>
                  </a:moveTo>
                  <a:cubicBezTo>
                    <a:pt x="10535920" y="1322070"/>
                    <a:pt x="9357360" y="730250"/>
                    <a:pt x="8139430" y="440690"/>
                  </a:cubicBezTo>
                  <a:cubicBezTo>
                    <a:pt x="6921500" y="151130"/>
                    <a:pt x="5646420" y="0"/>
                    <a:pt x="4451350" y="330200"/>
                  </a:cubicBezTo>
                  <a:lnTo>
                    <a:pt x="4452620" y="330200"/>
                  </a:lnTo>
                  <a:cubicBezTo>
                    <a:pt x="2360930" y="749300"/>
                    <a:pt x="601980" y="2358390"/>
                    <a:pt x="180340" y="4406900"/>
                  </a:cubicBezTo>
                  <a:cubicBezTo>
                    <a:pt x="0" y="5284470"/>
                    <a:pt x="33020" y="6197600"/>
                    <a:pt x="195580" y="7077710"/>
                  </a:cubicBezTo>
                  <a:cubicBezTo>
                    <a:pt x="379730" y="8077200"/>
                    <a:pt x="746760" y="9077960"/>
                    <a:pt x="1456690" y="9805670"/>
                  </a:cubicBezTo>
                  <a:cubicBezTo>
                    <a:pt x="2240280" y="10610850"/>
                    <a:pt x="3362960" y="11004550"/>
                    <a:pt x="4475480" y="11163300"/>
                  </a:cubicBezTo>
                  <a:cubicBezTo>
                    <a:pt x="6866890" y="11503660"/>
                    <a:pt x="9480550" y="10773410"/>
                    <a:pt x="11055350" y="8940800"/>
                  </a:cubicBezTo>
                  <a:cubicBezTo>
                    <a:pt x="12630149" y="7108190"/>
                    <a:pt x="12882880" y="4138930"/>
                    <a:pt x="11337290" y="2283460"/>
                  </a:cubicBezTo>
                  <a:close/>
                </a:path>
              </a:pathLst>
            </a:custGeom>
            <a:blipFill>
              <a:blip r:embed="rId4"/>
              <a:stretch>
                <a:fillRect l="-18674" r="-18674"/>
              </a:stretch>
            </a:blipFill>
          </p:spPr>
          <p:txBody>
            <a:bodyPr/>
            <a:lstStyle/>
            <a:p>
              <a:endParaRPr lang="en-US"/>
            </a:p>
          </p:txBody>
        </p:sp>
      </p:grpSp>
      <p:sp>
        <p:nvSpPr>
          <p:cNvPr id="5" name="Freeform 5" descr="lined abstract shape"/>
          <p:cNvSpPr/>
          <p:nvPr/>
        </p:nvSpPr>
        <p:spPr>
          <a:xfrm rot="-7005215">
            <a:off x="7503112" y="3339439"/>
            <a:ext cx="8946815" cy="14180830"/>
          </a:xfrm>
          <a:custGeom>
            <a:avLst/>
            <a:gdLst/>
            <a:ahLst/>
            <a:cxnLst/>
            <a:rect l="l" t="t" r="r" b="b"/>
            <a:pathLst>
              <a:path w="8946815" h="14180830">
                <a:moveTo>
                  <a:pt x="0" y="0"/>
                </a:moveTo>
                <a:lnTo>
                  <a:pt x="8946814" y="0"/>
                </a:lnTo>
                <a:lnTo>
                  <a:pt x="8946814" y="14180830"/>
                </a:lnTo>
                <a:lnTo>
                  <a:pt x="0" y="1418083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6" name="TextBox 6"/>
          <p:cNvSpPr txBox="1"/>
          <p:nvPr/>
        </p:nvSpPr>
        <p:spPr>
          <a:xfrm>
            <a:off x="1158402" y="281043"/>
            <a:ext cx="6910589" cy="1476263"/>
          </a:xfrm>
          <a:prstGeom prst="rect">
            <a:avLst/>
          </a:prstGeom>
        </p:spPr>
        <p:txBody>
          <a:bodyPr lIns="0" tIns="0" rIns="0" bIns="0" rtlCol="0" anchor="t">
            <a:spAutoFit/>
          </a:bodyPr>
          <a:lstStyle/>
          <a:p>
            <a:pPr algn="l">
              <a:lnSpc>
                <a:spcPts val="11519"/>
              </a:lnSpc>
            </a:pPr>
            <a:r>
              <a:rPr lang="en-US" sz="9600">
                <a:solidFill>
                  <a:srgbClr val="FFFFFF"/>
                </a:solidFill>
                <a:latin typeface="Rasputin Light"/>
                <a:ea typeface="Rasputin Light"/>
                <a:cs typeface="Rasputin Light"/>
                <a:sym typeface="Rasputin Light"/>
              </a:rPr>
              <a:t>Agenda</a:t>
            </a:r>
          </a:p>
        </p:txBody>
      </p:sp>
      <p:sp>
        <p:nvSpPr>
          <p:cNvPr id="7" name="TextBox 7"/>
          <p:cNvSpPr txBox="1"/>
          <p:nvPr/>
        </p:nvSpPr>
        <p:spPr>
          <a:xfrm>
            <a:off x="11001997" y="3846266"/>
            <a:ext cx="6225357" cy="502920"/>
          </a:xfrm>
          <a:prstGeom prst="rect">
            <a:avLst/>
          </a:prstGeom>
        </p:spPr>
        <p:txBody>
          <a:bodyPr lIns="0" tIns="0" rIns="0" bIns="0" rtlCol="0" anchor="t">
            <a:spAutoFit/>
          </a:bodyPr>
          <a:lstStyle/>
          <a:p>
            <a:pPr algn="l">
              <a:lnSpc>
                <a:spcPts val="4199"/>
              </a:lnSpc>
            </a:pPr>
            <a:r>
              <a:rPr lang="en-US" sz="2799" u="sng">
                <a:solidFill>
                  <a:srgbClr val="142414"/>
                </a:solidFill>
                <a:latin typeface="TT Commons Pro"/>
                <a:ea typeface="TT Commons Pro"/>
                <a:cs typeface="TT Commons Pro"/>
                <a:sym typeface="TT Commons Pro"/>
                <a:hlinkClick r:id="rId7" action="ppaction://hlinksldjump"/>
              </a:rPr>
              <a:t>Problem and Hypothesis</a:t>
            </a:r>
          </a:p>
        </p:txBody>
      </p:sp>
      <p:sp>
        <p:nvSpPr>
          <p:cNvPr id="8" name="TextBox 8"/>
          <p:cNvSpPr txBox="1"/>
          <p:nvPr/>
        </p:nvSpPr>
        <p:spPr>
          <a:xfrm>
            <a:off x="11033943" y="5712601"/>
            <a:ext cx="6225357" cy="502920"/>
          </a:xfrm>
          <a:prstGeom prst="rect">
            <a:avLst/>
          </a:prstGeom>
        </p:spPr>
        <p:txBody>
          <a:bodyPr lIns="0" tIns="0" rIns="0" bIns="0" rtlCol="0" anchor="t">
            <a:spAutoFit/>
          </a:bodyPr>
          <a:lstStyle/>
          <a:p>
            <a:pPr algn="l">
              <a:lnSpc>
                <a:spcPts val="4199"/>
              </a:lnSpc>
            </a:pPr>
            <a:r>
              <a:rPr lang="en-US" sz="2799" u="sng">
                <a:solidFill>
                  <a:srgbClr val="142414"/>
                </a:solidFill>
                <a:latin typeface="TT Commons Pro"/>
                <a:ea typeface="TT Commons Pro"/>
                <a:cs typeface="TT Commons Pro"/>
                <a:sym typeface="TT Commons Pro"/>
                <a:hlinkClick r:id="rId8" action="ppaction://hlinksldjump"/>
              </a:rPr>
              <a:t>Findings</a:t>
            </a:r>
          </a:p>
        </p:txBody>
      </p:sp>
      <p:sp>
        <p:nvSpPr>
          <p:cNvPr id="9" name="TextBox 9"/>
          <p:cNvSpPr txBox="1"/>
          <p:nvPr/>
        </p:nvSpPr>
        <p:spPr>
          <a:xfrm>
            <a:off x="11001997" y="4781056"/>
            <a:ext cx="6225357" cy="502920"/>
          </a:xfrm>
          <a:prstGeom prst="rect">
            <a:avLst/>
          </a:prstGeom>
        </p:spPr>
        <p:txBody>
          <a:bodyPr lIns="0" tIns="0" rIns="0" bIns="0" rtlCol="0" anchor="t">
            <a:spAutoFit/>
          </a:bodyPr>
          <a:lstStyle/>
          <a:p>
            <a:pPr algn="l">
              <a:lnSpc>
                <a:spcPts val="4199"/>
              </a:lnSpc>
            </a:pPr>
            <a:r>
              <a:rPr lang="en-US" sz="2799" u="sng">
                <a:solidFill>
                  <a:srgbClr val="142414"/>
                </a:solidFill>
                <a:latin typeface="TT Commons Pro"/>
                <a:ea typeface="TT Commons Pro"/>
                <a:cs typeface="TT Commons Pro"/>
                <a:sym typeface="TT Commons Pro"/>
                <a:hlinkClick r:id="rId9" action="ppaction://hlinksldjump"/>
              </a:rPr>
              <a:t>Data-Analysis Process</a:t>
            </a:r>
          </a:p>
        </p:txBody>
      </p:sp>
      <p:sp>
        <p:nvSpPr>
          <p:cNvPr id="10" name="TextBox 10"/>
          <p:cNvSpPr txBox="1"/>
          <p:nvPr/>
        </p:nvSpPr>
        <p:spPr>
          <a:xfrm>
            <a:off x="11033943" y="6644146"/>
            <a:ext cx="6225357" cy="502920"/>
          </a:xfrm>
          <a:prstGeom prst="rect">
            <a:avLst/>
          </a:prstGeom>
        </p:spPr>
        <p:txBody>
          <a:bodyPr lIns="0" tIns="0" rIns="0" bIns="0" rtlCol="0" anchor="t">
            <a:spAutoFit/>
          </a:bodyPr>
          <a:lstStyle/>
          <a:p>
            <a:pPr algn="l">
              <a:lnSpc>
                <a:spcPts val="4199"/>
              </a:lnSpc>
            </a:pPr>
            <a:r>
              <a:rPr lang="en-US" sz="2799" u="sng" dirty="0">
                <a:solidFill>
                  <a:srgbClr val="142414"/>
                </a:solidFill>
                <a:latin typeface="TT Commons Pro"/>
                <a:ea typeface="TT Commons Pro"/>
                <a:cs typeface="TT Commons Pro"/>
                <a:sym typeface="TT Commons Pro"/>
                <a:hlinkClick r:id="rId10" action="ppaction://hlinksldjump"/>
              </a:rPr>
              <a:t>Limitations</a:t>
            </a:r>
          </a:p>
        </p:txBody>
      </p:sp>
      <p:sp>
        <p:nvSpPr>
          <p:cNvPr id="11" name="TextBox 11"/>
          <p:cNvSpPr txBox="1"/>
          <p:nvPr/>
        </p:nvSpPr>
        <p:spPr>
          <a:xfrm>
            <a:off x="11001997" y="2514319"/>
            <a:ext cx="6910589" cy="780901"/>
          </a:xfrm>
          <a:prstGeom prst="rect">
            <a:avLst/>
          </a:prstGeom>
        </p:spPr>
        <p:txBody>
          <a:bodyPr lIns="0" tIns="0" rIns="0" bIns="0" rtlCol="0" anchor="t">
            <a:spAutoFit/>
          </a:bodyPr>
          <a:lstStyle/>
          <a:p>
            <a:pPr algn="l">
              <a:lnSpc>
                <a:spcPts val="6300"/>
              </a:lnSpc>
            </a:pPr>
            <a:r>
              <a:rPr lang="en-US" sz="4500">
                <a:solidFill>
                  <a:srgbClr val="142414"/>
                </a:solidFill>
                <a:latin typeface="Rasputin Light"/>
                <a:ea typeface="Rasputin Light"/>
                <a:cs typeface="Rasputin Light"/>
                <a:sym typeface="Rasputin Light"/>
              </a:rPr>
              <a:t>Topics Covered</a:t>
            </a:r>
          </a:p>
        </p:txBody>
      </p:sp>
      <p:sp>
        <p:nvSpPr>
          <p:cNvPr id="12" name="TextBox 12"/>
          <p:cNvSpPr txBox="1"/>
          <p:nvPr/>
        </p:nvSpPr>
        <p:spPr>
          <a:xfrm>
            <a:off x="11033943" y="7575692"/>
            <a:ext cx="6225357" cy="502920"/>
          </a:xfrm>
          <a:prstGeom prst="rect">
            <a:avLst/>
          </a:prstGeom>
        </p:spPr>
        <p:txBody>
          <a:bodyPr lIns="0" tIns="0" rIns="0" bIns="0" rtlCol="0" anchor="t">
            <a:spAutoFit/>
          </a:bodyPr>
          <a:lstStyle/>
          <a:p>
            <a:pPr algn="l">
              <a:lnSpc>
                <a:spcPts val="4199"/>
              </a:lnSpc>
            </a:pPr>
            <a:r>
              <a:rPr lang="en-US" sz="2799" u="sng" dirty="0">
                <a:solidFill>
                  <a:srgbClr val="142414"/>
                </a:solidFill>
                <a:latin typeface="TT Commons Pro"/>
                <a:ea typeface="TT Commons Pro"/>
                <a:cs typeface="TT Commons Pro"/>
                <a:sym typeface="TT Commons Pro"/>
                <a:hlinkClick r:id="rId11" action="ppaction://hlinksldjump"/>
              </a:rPr>
              <a:t>Proposed Actions</a:t>
            </a:r>
            <a:endParaRPr lang="en-US" sz="2799" u="sng" dirty="0">
              <a:solidFill>
                <a:srgbClr val="142414"/>
              </a:solidFill>
              <a:latin typeface="TT Commons Pro"/>
              <a:ea typeface="TT Commons Pro"/>
              <a:cs typeface="TT Commons Pro"/>
              <a:sym typeface="TT Commons Pro"/>
            </a:endParaRPr>
          </a:p>
        </p:txBody>
      </p:sp>
      <p:sp>
        <p:nvSpPr>
          <p:cNvPr id="13" name="TextBox 13"/>
          <p:cNvSpPr txBox="1"/>
          <p:nvPr/>
        </p:nvSpPr>
        <p:spPr>
          <a:xfrm>
            <a:off x="11033943" y="8507237"/>
            <a:ext cx="6225357" cy="502920"/>
          </a:xfrm>
          <a:prstGeom prst="rect">
            <a:avLst/>
          </a:prstGeom>
        </p:spPr>
        <p:txBody>
          <a:bodyPr lIns="0" tIns="0" rIns="0" bIns="0" rtlCol="0" anchor="t">
            <a:spAutoFit/>
          </a:bodyPr>
          <a:lstStyle/>
          <a:p>
            <a:pPr algn="l">
              <a:lnSpc>
                <a:spcPts val="4199"/>
              </a:lnSpc>
            </a:pPr>
            <a:r>
              <a:rPr lang="en-US" sz="2799" u="sng">
                <a:solidFill>
                  <a:srgbClr val="142414"/>
                </a:solidFill>
                <a:latin typeface="TT Commons Pro"/>
                <a:ea typeface="TT Commons Pro"/>
                <a:cs typeface="TT Commons Pro"/>
                <a:sym typeface="TT Commons Pro"/>
                <a:hlinkClick r:id="rId12" action="ppaction://hlinksldjump"/>
              </a:rPr>
              <a:t>Expected Benefits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4F674F"/>
        </a:solidFill>
        <a:effectLst/>
      </p:bgPr>
    </p:bg>
    <p:spTree>
      <p:nvGrpSpPr>
        <p:cNvPr id="1" name=""/>
        <p:cNvGrpSpPr/>
        <p:nvPr/>
      </p:nvGrpSpPr>
      <p:grpSpPr>
        <a:xfrm>
          <a:off x="0" y="0"/>
          <a:ext cx="0" cy="0"/>
          <a:chOff x="0" y="0"/>
          <a:chExt cx="0" cy="0"/>
        </a:xfrm>
      </p:grpSpPr>
      <p:sp>
        <p:nvSpPr>
          <p:cNvPr id="2" name="Freeform 2" descr="Abstract shapes"/>
          <p:cNvSpPr/>
          <p:nvPr/>
        </p:nvSpPr>
        <p:spPr>
          <a:xfrm>
            <a:off x="6775407" y="-3636889"/>
            <a:ext cx="8857785" cy="8525618"/>
          </a:xfrm>
          <a:custGeom>
            <a:avLst/>
            <a:gdLst/>
            <a:ahLst/>
            <a:cxnLst/>
            <a:rect l="l" t="t" r="r" b="b"/>
            <a:pathLst>
              <a:path w="8857785" h="8525618">
                <a:moveTo>
                  <a:pt x="0" y="0"/>
                </a:moveTo>
                <a:lnTo>
                  <a:pt x="8857785" y="0"/>
                </a:lnTo>
                <a:lnTo>
                  <a:pt x="8857785" y="8525619"/>
                </a:lnTo>
                <a:lnTo>
                  <a:pt x="0" y="8525619"/>
                </a:lnTo>
                <a:lnTo>
                  <a:pt x="0" y="0"/>
                </a:lnTo>
                <a:close/>
              </a:path>
            </a:pathLst>
          </a:custGeom>
          <a:blipFill>
            <a:blip r:embed="rId2">
              <a:alphaModFix amt="21999"/>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descr="Abstract Shape"/>
          <p:cNvSpPr/>
          <p:nvPr/>
        </p:nvSpPr>
        <p:spPr>
          <a:xfrm rot="4243551">
            <a:off x="7938393" y="4866424"/>
            <a:ext cx="5915271" cy="9375789"/>
          </a:xfrm>
          <a:custGeom>
            <a:avLst/>
            <a:gdLst/>
            <a:ahLst/>
            <a:cxnLst/>
            <a:rect l="l" t="t" r="r" b="b"/>
            <a:pathLst>
              <a:path w="5915271" h="9375789">
                <a:moveTo>
                  <a:pt x="0" y="0"/>
                </a:moveTo>
                <a:lnTo>
                  <a:pt x="5915270" y="0"/>
                </a:lnTo>
                <a:lnTo>
                  <a:pt x="5915270" y="9375789"/>
                </a:lnTo>
                <a:lnTo>
                  <a:pt x="0" y="93757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a:off x="10896028" y="1677333"/>
            <a:ext cx="6363272" cy="7580967"/>
          </a:xfrm>
          <a:custGeom>
            <a:avLst/>
            <a:gdLst/>
            <a:ahLst/>
            <a:cxnLst/>
            <a:rect l="l" t="t" r="r" b="b"/>
            <a:pathLst>
              <a:path w="6363272" h="7580967">
                <a:moveTo>
                  <a:pt x="0" y="0"/>
                </a:moveTo>
                <a:lnTo>
                  <a:pt x="6363272" y="0"/>
                </a:lnTo>
                <a:lnTo>
                  <a:pt x="6363272" y="7580967"/>
                </a:lnTo>
                <a:lnTo>
                  <a:pt x="0" y="7580967"/>
                </a:lnTo>
                <a:lnTo>
                  <a:pt x="0" y="0"/>
                </a:lnTo>
                <a:close/>
              </a:path>
            </a:pathLst>
          </a:custGeom>
          <a:blipFill>
            <a:blip r:embed="rId6"/>
            <a:stretch>
              <a:fillRect b="-11978"/>
            </a:stretch>
          </a:blipFill>
        </p:spPr>
        <p:txBody>
          <a:bodyPr/>
          <a:lstStyle/>
          <a:p>
            <a:endParaRPr lang="en-US"/>
          </a:p>
        </p:txBody>
      </p:sp>
      <p:sp>
        <p:nvSpPr>
          <p:cNvPr id="5" name="TextBox 5"/>
          <p:cNvSpPr txBox="1"/>
          <p:nvPr/>
        </p:nvSpPr>
        <p:spPr>
          <a:xfrm>
            <a:off x="1028700" y="1028700"/>
            <a:ext cx="9269393" cy="1285875"/>
          </a:xfrm>
          <a:prstGeom prst="rect">
            <a:avLst/>
          </a:prstGeom>
        </p:spPr>
        <p:txBody>
          <a:bodyPr lIns="0" tIns="0" rIns="0" bIns="0" rtlCol="0" anchor="t">
            <a:spAutoFit/>
          </a:bodyPr>
          <a:lstStyle/>
          <a:p>
            <a:pPr marL="0" lvl="0" indent="0" algn="l">
              <a:lnSpc>
                <a:spcPts val="10199"/>
              </a:lnSpc>
            </a:pPr>
            <a:r>
              <a:rPr lang="en-US" sz="8499">
                <a:solidFill>
                  <a:srgbClr val="FFFFFF"/>
                </a:solidFill>
                <a:latin typeface="Rasputin Light"/>
                <a:ea typeface="Rasputin Light"/>
                <a:cs typeface="Rasputin Light"/>
                <a:sym typeface="Rasputin Light"/>
              </a:rPr>
              <a:t>Introduction</a:t>
            </a:r>
          </a:p>
        </p:txBody>
      </p:sp>
      <p:grpSp>
        <p:nvGrpSpPr>
          <p:cNvPr id="6" name="Group 6"/>
          <p:cNvGrpSpPr/>
          <p:nvPr/>
        </p:nvGrpSpPr>
        <p:grpSpPr>
          <a:xfrm>
            <a:off x="1028700" y="5245903"/>
            <a:ext cx="9269393" cy="4012397"/>
            <a:chOff x="0" y="0"/>
            <a:chExt cx="12359190" cy="5349863"/>
          </a:xfrm>
        </p:grpSpPr>
        <p:sp>
          <p:nvSpPr>
            <p:cNvPr id="7" name="TextBox 7"/>
            <p:cNvSpPr txBox="1"/>
            <p:nvPr/>
          </p:nvSpPr>
          <p:spPr>
            <a:xfrm>
              <a:off x="0" y="852394"/>
              <a:ext cx="12359190" cy="1978025"/>
            </a:xfrm>
            <a:prstGeom prst="rect">
              <a:avLst/>
            </a:prstGeom>
          </p:spPr>
          <p:txBody>
            <a:bodyPr lIns="0" tIns="0" rIns="0" bIns="0" rtlCol="0" anchor="t">
              <a:spAutoFit/>
            </a:bodyPr>
            <a:lstStyle/>
            <a:p>
              <a:pPr marL="0" lvl="0" indent="0" algn="l">
                <a:lnSpc>
                  <a:spcPts val="3900"/>
                </a:lnSpc>
              </a:pPr>
              <a:r>
                <a:rPr lang="en-US" sz="3000">
                  <a:solidFill>
                    <a:srgbClr val="FFFFFF"/>
                  </a:solidFill>
                  <a:latin typeface="Rasputin Light"/>
                  <a:ea typeface="Rasputin Light"/>
                  <a:cs typeface="Rasputin Light"/>
                  <a:sym typeface="Rasputin Light"/>
                </a:rPr>
                <a:t>Hi, I’m Kiara Ganger. I have a background in data governance and analytics specialist for the state of Washington</a:t>
              </a:r>
            </a:p>
          </p:txBody>
        </p:sp>
        <p:sp>
          <p:nvSpPr>
            <p:cNvPr id="8" name="TextBox 8"/>
            <p:cNvSpPr txBox="1"/>
            <p:nvPr/>
          </p:nvSpPr>
          <p:spPr>
            <a:xfrm>
              <a:off x="0" y="3249616"/>
              <a:ext cx="12359190" cy="1183005"/>
            </a:xfrm>
            <a:prstGeom prst="rect">
              <a:avLst/>
            </a:prstGeom>
          </p:spPr>
          <p:txBody>
            <a:bodyPr lIns="0" tIns="0" rIns="0" bIns="0" rtlCol="0" anchor="t">
              <a:spAutoFit/>
            </a:bodyPr>
            <a:lstStyle/>
            <a:p>
              <a:pPr marL="518160" lvl="1" indent="-259080" algn="l">
                <a:lnSpc>
                  <a:spcPts val="3600"/>
                </a:lnSpc>
                <a:buFont typeface="Arial"/>
                <a:buChar char="•"/>
              </a:pPr>
              <a:r>
                <a:rPr lang="en-US" sz="2400" dirty="0">
                  <a:solidFill>
                    <a:srgbClr val="FFFFFF"/>
                  </a:solidFill>
                  <a:latin typeface="TT Commons Pro"/>
                  <a:ea typeface="TT Commons Pro"/>
                  <a:cs typeface="TT Commons Pro"/>
                  <a:sym typeface="TT Commons Pro"/>
                </a:rPr>
                <a:t>Mother of 3 boys</a:t>
              </a:r>
              <a:endParaRPr lang="en-US" sz="2400" dirty="0">
                <a:solidFill>
                  <a:srgbClr val="FFFFFF"/>
                </a:solidFill>
                <a:latin typeface="TT Commons Pro"/>
                <a:ea typeface="TT Commons Pro"/>
                <a:cs typeface="TT Commons Pro"/>
                <a:sym typeface="TT Commons Pro"/>
                <a:hlinkClick r:id="rId7" tooltip="https://docs.google.com/spreadsheets/d/1DUF2isFWsqVSYhbaACYtbgcLi_YjDqpE3GLQIVgkKQg/edit#gid=69851113"/>
              </a:endParaRPr>
            </a:p>
            <a:p>
              <a:pPr marL="518160" lvl="1" indent="-259080" algn="l">
                <a:lnSpc>
                  <a:spcPts val="3600"/>
                </a:lnSpc>
                <a:buFont typeface="Arial"/>
                <a:buChar char="•"/>
              </a:pPr>
              <a:r>
                <a:rPr lang="en-US" sz="2400" dirty="0">
                  <a:solidFill>
                    <a:srgbClr val="FFFFFF"/>
                  </a:solidFill>
                  <a:latin typeface="TT Commons Pro"/>
                  <a:ea typeface="TT Commons Pro"/>
                  <a:cs typeface="TT Commons Pro"/>
                  <a:sym typeface="TT Commons Pro"/>
                </a:rPr>
                <a:t>Love K-Drama and Bookbinding</a:t>
              </a:r>
              <a:endParaRPr lang="en-US" sz="2400" dirty="0">
                <a:solidFill>
                  <a:srgbClr val="FFFFFF"/>
                </a:solidFill>
                <a:latin typeface="TT Commons Pro"/>
                <a:ea typeface="TT Commons Pro"/>
                <a:cs typeface="TT Commons Pro"/>
                <a:sym typeface="TT Commons Pro"/>
                <a:hlinkClick r:id="rId7" tooltip="https://docs.google.com/spreadsheets/d/1DUF2isFWsqVSYhbaACYtbgcLi_YjDqpE3GLQIVgkKQg/edit#gid=69851113"/>
              </a:endParaRPr>
            </a:p>
          </p:txBody>
        </p:sp>
        <p:sp>
          <p:nvSpPr>
            <p:cNvPr id="9" name="AutoShape 9"/>
            <p:cNvSpPr/>
            <p:nvPr/>
          </p:nvSpPr>
          <p:spPr>
            <a:xfrm>
              <a:off x="0" y="5330813"/>
              <a:ext cx="12359190" cy="0"/>
            </a:xfrm>
            <a:prstGeom prst="line">
              <a:avLst/>
            </a:prstGeom>
            <a:ln w="38100" cap="rnd">
              <a:solidFill>
                <a:srgbClr val="B7CDB7"/>
              </a:solidFill>
              <a:prstDash val="solid"/>
              <a:headEnd type="none" w="sm" len="sm"/>
              <a:tailEnd type="none" w="sm" len="sm"/>
            </a:ln>
          </p:spPr>
          <p:txBody>
            <a:bodyPr/>
            <a:lstStyle/>
            <a:p>
              <a:endParaRPr lang="en-US"/>
            </a:p>
          </p:txBody>
        </p:sp>
        <p:sp>
          <p:nvSpPr>
            <p:cNvPr id="10" name="AutoShape 10"/>
            <p:cNvSpPr/>
            <p:nvPr/>
          </p:nvSpPr>
          <p:spPr>
            <a:xfrm>
              <a:off x="0" y="19050"/>
              <a:ext cx="12359190" cy="0"/>
            </a:xfrm>
            <a:prstGeom prst="line">
              <a:avLst/>
            </a:prstGeom>
            <a:ln w="38100" cap="rnd">
              <a:solidFill>
                <a:srgbClr val="B7CDB7"/>
              </a:solidFill>
              <a:prstDash val="solid"/>
              <a:headEnd type="none" w="sm" len="sm"/>
              <a:tailEnd type="none" w="sm" len="sm"/>
            </a:ln>
          </p:spPr>
          <p:txBody>
            <a:bodyPr/>
            <a:lstStyle/>
            <a:p>
              <a:endParaRPr lang="en-US"/>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B7CDB7"/>
        </a:solidFill>
        <a:effectLst/>
      </p:bgPr>
    </p:bg>
    <p:spTree>
      <p:nvGrpSpPr>
        <p:cNvPr id="1" name=""/>
        <p:cNvGrpSpPr/>
        <p:nvPr/>
      </p:nvGrpSpPr>
      <p:grpSpPr>
        <a:xfrm>
          <a:off x="0" y="0"/>
          <a:ext cx="0" cy="0"/>
          <a:chOff x="0" y="0"/>
          <a:chExt cx="0" cy="0"/>
        </a:xfrm>
      </p:grpSpPr>
      <p:sp>
        <p:nvSpPr>
          <p:cNvPr id="2" name="Freeform 2" descr="Abstract shapes"/>
          <p:cNvSpPr/>
          <p:nvPr/>
        </p:nvSpPr>
        <p:spPr>
          <a:xfrm rot="-1016209">
            <a:off x="-890667" y="4921459"/>
            <a:ext cx="8901994" cy="10457555"/>
          </a:xfrm>
          <a:custGeom>
            <a:avLst/>
            <a:gdLst/>
            <a:ahLst/>
            <a:cxnLst/>
            <a:rect l="l" t="t" r="r" b="b"/>
            <a:pathLst>
              <a:path w="8901994" h="10457555">
                <a:moveTo>
                  <a:pt x="0" y="0"/>
                </a:moveTo>
                <a:lnTo>
                  <a:pt x="8901993" y="0"/>
                </a:lnTo>
                <a:lnTo>
                  <a:pt x="8901993" y="10457555"/>
                </a:lnTo>
                <a:lnTo>
                  <a:pt x="0" y="10457555"/>
                </a:lnTo>
                <a:lnTo>
                  <a:pt x="0" y="0"/>
                </a:lnTo>
                <a:close/>
              </a:path>
            </a:pathLst>
          </a:custGeom>
          <a:blipFill>
            <a:blip r:embed="rId2">
              <a:alphaModFix amt="21999"/>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descr="Abstract Shape"/>
          <p:cNvSpPr/>
          <p:nvPr/>
        </p:nvSpPr>
        <p:spPr>
          <a:xfrm rot="6787978">
            <a:off x="10415856" y="-4885058"/>
            <a:ext cx="7755409" cy="12292435"/>
          </a:xfrm>
          <a:custGeom>
            <a:avLst/>
            <a:gdLst/>
            <a:ahLst/>
            <a:cxnLst/>
            <a:rect l="l" t="t" r="r" b="b"/>
            <a:pathLst>
              <a:path w="7755409" h="12292435">
                <a:moveTo>
                  <a:pt x="0" y="0"/>
                </a:moveTo>
                <a:lnTo>
                  <a:pt x="7755409" y="0"/>
                </a:lnTo>
                <a:lnTo>
                  <a:pt x="7755409" y="12292436"/>
                </a:lnTo>
                <a:lnTo>
                  <a:pt x="0" y="1229243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a:off x="271999" y="3596322"/>
            <a:ext cx="7908899" cy="3094357"/>
          </a:xfrm>
          <a:custGeom>
            <a:avLst/>
            <a:gdLst/>
            <a:ahLst/>
            <a:cxnLst/>
            <a:rect l="l" t="t" r="r" b="b"/>
            <a:pathLst>
              <a:path w="7908899" h="3094357">
                <a:moveTo>
                  <a:pt x="0" y="0"/>
                </a:moveTo>
                <a:lnTo>
                  <a:pt x="7908899" y="0"/>
                </a:lnTo>
                <a:lnTo>
                  <a:pt x="7908899" y="3094356"/>
                </a:lnTo>
                <a:lnTo>
                  <a:pt x="0" y="309435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grpSp>
        <p:nvGrpSpPr>
          <p:cNvPr id="5" name="Group 5"/>
          <p:cNvGrpSpPr/>
          <p:nvPr/>
        </p:nvGrpSpPr>
        <p:grpSpPr>
          <a:xfrm>
            <a:off x="9256123" y="1689223"/>
            <a:ext cx="8384422" cy="6647298"/>
            <a:chOff x="0" y="0"/>
            <a:chExt cx="11179230" cy="8863064"/>
          </a:xfrm>
        </p:grpSpPr>
        <p:sp>
          <p:nvSpPr>
            <p:cNvPr id="6" name="TextBox 6"/>
            <p:cNvSpPr txBox="1"/>
            <p:nvPr/>
          </p:nvSpPr>
          <p:spPr>
            <a:xfrm>
              <a:off x="161667" y="-19050"/>
              <a:ext cx="10356836" cy="7334250"/>
            </a:xfrm>
            <a:prstGeom prst="rect">
              <a:avLst/>
            </a:prstGeom>
          </p:spPr>
          <p:txBody>
            <a:bodyPr lIns="0" tIns="0" rIns="0" bIns="0" rtlCol="0" anchor="t">
              <a:spAutoFit/>
            </a:bodyPr>
            <a:lstStyle/>
            <a:p>
              <a:pPr marL="0" lvl="0" indent="0" algn="l">
                <a:lnSpc>
                  <a:spcPts val="10800"/>
                </a:lnSpc>
              </a:pPr>
              <a:r>
                <a:rPr lang="en-US" sz="9000">
                  <a:solidFill>
                    <a:srgbClr val="142414"/>
                  </a:solidFill>
                  <a:latin typeface="Rasputin Light"/>
                  <a:ea typeface="Rasputin Light"/>
                  <a:cs typeface="Rasputin Light"/>
                  <a:sym typeface="Rasputin Light"/>
                </a:rPr>
                <a:t>Problem Statement</a:t>
              </a:r>
            </a:p>
            <a:p>
              <a:pPr marL="0" lvl="0" indent="0" algn="l">
                <a:lnSpc>
                  <a:spcPts val="10800"/>
                </a:lnSpc>
              </a:pPr>
              <a:r>
                <a:rPr lang="en-US" sz="9000">
                  <a:solidFill>
                    <a:srgbClr val="142414"/>
                  </a:solidFill>
                  <a:latin typeface="Rasputin Light"/>
                  <a:ea typeface="Rasputin Light"/>
                  <a:cs typeface="Rasputin Light"/>
                  <a:sym typeface="Rasputin Light"/>
                </a:rPr>
                <a:t> and </a:t>
              </a:r>
            </a:p>
            <a:p>
              <a:pPr marL="0" lvl="0" indent="0" algn="l">
                <a:lnSpc>
                  <a:spcPts val="10800"/>
                </a:lnSpc>
              </a:pPr>
              <a:r>
                <a:rPr lang="en-US" sz="9000">
                  <a:solidFill>
                    <a:srgbClr val="142414"/>
                  </a:solidFill>
                  <a:latin typeface="Rasputin Light"/>
                  <a:ea typeface="Rasputin Light"/>
                  <a:cs typeface="Rasputin Light"/>
                  <a:sym typeface="Rasputin Light"/>
                </a:rPr>
                <a:t>Hypothesis</a:t>
              </a:r>
            </a:p>
          </p:txBody>
        </p:sp>
        <p:sp>
          <p:nvSpPr>
            <p:cNvPr id="7" name="TextBox 7"/>
            <p:cNvSpPr txBox="1"/>
            <p:nvPr/>
          </p:nvSpPr>
          <p:spPr>
            <a:xfrm>
              <a:off x="161667" y="8215364"/>
              <a:ext cx="10356836" cy="647700"/>
            </a:xfrm>
            <a:prstGeom prst="rect">
              <a:avLst/>
            </a:prstGeom>
          </p:spPr>
          <p:txBody>
            <a:bodyPr lIns="0" tIns="0" rIns="0" bIns="0" rtlCol="0" anchor="t">
              <a:spAutoFit/>
            </a:bodyPr>
            <a:lstStyle/>
            <a:p>
              <a:pPr marL="0" lvl="0" indent="0" algn="l">
                <a:lnSpc>
                  <a:spcPts val="3900"/>
                </a:lnSpc>
              </a:pPr>
              <a:r>
                <a:rPr lang="en-US" sz="3000" u="sng" spc="242">
                  <a:solidFill>
                    <a:srgbClr val="142414"/>
                  </a:solidFill>
                  <a:latin typeface="TT Commons Pro"/>
                  <a:ea typeface="TT Commons Pro"/>
                  <a:cs typeface="TT Commons Pro"/>
                  <a:sym typeface="TT Commons Pro"/>
                  <a:hlinkClick r:id="rId8" action="ppaction://hlinksldjump"/>
                </a:rPr>
                <a:t>GO BACK TO AGENDA PAGE</a:t>
              </a:r>
            </a:p>
          </p:txBody>
        </p:sp>
        <p:sp>
          <p:nvSpPr>
            <p:cNvPr id="8" name="AutoShape 8"/>
            <p:cNvSpPr/>
            <p:nvPr/>
          </p:nvSpPr>
          <p:spPr>
            <a:xfrm>
              <a:off x="0" y="7736253"/>
              <a:ext cx="11179230" cy="0"/>
            </a:xfrm>
            <a:prstGeom prst="line">
              <a:avLst/>
            </a:prstGeom>
            <a:ln w="139700" cap="flat">
              <a:solidFill>
                <a:srgbClr val="231F20"/>
              </a:solidFill>
              <a:prstDash val="solid"/>
              <a:headEnd type="none" w="sm" len="sm"/>
              <a:tailEnd type="none" w="sm" len="sm"/>
            </a:ln>
          </p:spPr>
          <p:txBody>
            <a:bodyPr/>
            <a:lstStyle/>
            <a:p>
              <a:endParaRPr lang="en-US"/>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4F674F"/>
        </a:solidFill>
        <a:effectLst/>
      </p:bgPr>
    </p:bg>
    <p:spTree>
      <p:nvGrpSpPr>
        <p:cNvPr id="1" name=""/>
        <p:cNvGrpSpPr/>
        <p:nvPr/>
      </p:nvGrpSpPr>
      <p:grpSpPr>
        <a:xfrm>
          <a:off x="0" y="0"/>
          <a:ext cx="0" cy="0"/>
          <a:chOff x="0" y="0"/>
          <a:chExt cx="0" cy="0"/>
        </a:xfrm>
      </p:grpSpPr>
      <p:sp>
        <p:nvSpPr>
          <p:cNvPr id="2" name="Freeform 2" descr="Abstract shapes"/>
          <p:cNvSpPr/>
          <p:nvPr/>
        </p:nvSpPr>
        <p:spPr>
          <a:xfrm>
            <a:off x="-3849591" y="5642381"/>
            <a:ext cx="8857785" cy="8525618"/>
          </a:xfrm>
          <a:custGeom>
            <a:avLst/>
            <a:gdLst/>
            <a:ahLst/>
            <a:cxnLst/>
            <a:rect l="l" t="t" r="r" b="b"/>
            <a:pathLst>
              <a:path w="8857785" h="8525618">
                <a:moveTo>
                  <a:pt x="0" y="0"/>
                </a:moveTo>
                <a:lnTo>
                  <a:pt x="8857785" y="0"/>
                </a:lnTo>
                <a:lnTo>
                  <a:pt x="8857785" y="8525618"/>
                </a:lnTo>
                <a:lnTo>
                  <a:pt x="0" y="8525618"/>
                </a:lnTo>
                <a:lnTo>
                  <a:pt x="0" y="0"/>
                </a:lnTo>
                <a:close/>
              </a:path>
            </a:pathLst>
          </a:custGeom>
          <a:blipFill>
            <a:blip r:embed="rId2">
              <a:alphaModFix amt="21999"/>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descr="Abstract Shape"/>
          <p:cNvSpPr/>
          <p:nvPr/>
        </p:nvSpPr>
        <p:spPr>
          <a:xfrm rot="8743839">
            <a:off x="-2596254" y="4920069"/>
            <a:ext cx="5915271" cy="9375789"/>
          </a:xfrm>
          <a:custGeom>
            <a:avLst/>
            <a:gdLst/>
            <a:ahLst/>
            <a:cxnLst/>
            <a:rect l="l" t="t" r="r" b="b"/>
            <a:pathLst>
              <a:path w="5915271" h="9375789">
                <a:moveTo>
                  <a:pt x="0" y="0"/>
                </a:moveTo>
                <a:lnTo>
                  <a:pt x="5915271" y="0"/>
                </a:lnTo>
                <a:lnTo>
                  <a:pt x="5915271" y="9375789"/>
                </a:lnTo>
                <a:lnTo>
                  <a:pt x="0" y="9375789"/>
                </a:lnTo>
                <a:lnTo>
                  <a:pt x="0" y="0"/>
                </a:lnTo>
                <a:close/>
              </a:path>
            </a:pathLst>
          </a:custGeom>
          <a:blipFill>
            <a:blip r:embed="rId4">
              <a:alphaModFix amt="30000"/>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4" name="Group 4"/>
          <p:cNvGrpSpPr/>
          <p:nvPr/>
        </p:nvGrpSpPr>
        <p:grpSpPr>
          <a:xfrm>
            <a:off x="-495300" y="-280630"/>
            <a:ext cx="19278600" cy="5568347"/>
            <a:chOff x="0" y="0"/>
            <a:chExt cx="6521403" cy="1883614"/>
          </a:xfrm>
        </p:grpSpPr>
        <p:sp>
          <p:nvSpPr>
            <p:cNvPr id="5" name="Freeform 5"/>
            <p:cNvSpPr/>
            <p:nvPr/>
          </p:nvSpPr>
          <p:spPr>
            <a:xfrm>
              <a:off x="0" y="0"/>
              <a:ext cx="6521403" cy="1883614"/>
            </a:xfrm>
            <a:custGeom>
              <a:avLst/>
              <a:gdLst/>
              <a:ahLst/>
              <a:cxnLst/>
              <a:rect l="l" t="t" r="r" b="b"/>
              <a:pathLst>
                <a:path w="6521403" h="1883614">
                  <a:moveTo>
                    <a:pt x="0" y="0"/>
                  </a:moveTo>
                  <a:lnTo>
                    <a:pt x="6521403" y="0"/>
                  </a:lnTo>
                  <a:lnTo>
                    <a:pt x="6521403" y="1883614"/>
                  </a:lnTo>
                  <a:lnTo>
                    <a:pt x="0" y="1883614"/>
                  </a:lnTo>
                  <a:close/>
                </a:path>
              </a:pathLst>
            </a:custGeom>
            <a:solidFill>
              <a:srgbClr val="678067"/>
            </a:solidFill>
          </p:spPr>
          <p:txBody>
            <a:bodyPr/>
            <a:lstStyle/>
            <a:p>
              <a:endParaRPr lang="en-US"/>
            </a:p>
          </p:txBody>
        </p:sp>
      </p:grpSp>
      <p:grpSp>
        <p:nvGrpSpPr>
          <p:cNvPr id="6" name="Group 6"/>
          <p:cNvGrpSpPr/>
          <p:nvPr/>
        </p:nvGrpSpPr>
        <p:grpSpPr>
          <a:xfrm>
            <a:off x="1028700" y="1028700"/>
            <a:ext cx="10038045" cy="3396948"/>
            <a:chOff x="0" y="0"/>
            <a:chExt cx="13384061" cy="4529264"/>
          </a:xfrm>
        </p:grpSpPr>
        <p:sp>
          <p:nvSpPr>
            <p:cNvPr id="7" name="TextBox 7"/>
            <p:cNvSpPr txBox="1"/>
            <p:nvPr/>
          </p:nvSpPr>
          <p:spPr>
            <a:xfrm>
              <a:off x="0" y="19050"/>
              <a:ext cx="11564163" cy="2890915"/>
            </a:xfrm>
            <a:prstGeom prst="rect">
              <a:avLst/>
            </a:prstGeom>
          </p:spPr>
          <p:txBody>
            <a:bodyPr lIns="0" tIns="0" rIns="0" bIns="0" rtlCol="0" anchor="t">
              <a:spAutoFit/>
            </a:bodyPr>
            <a:lstStyle/>
            <a:p>
              <a:pPr marL="0" lvl="0" indent="0" algn="l">
                <a:lnSpc>
                  <a:spcPts val="4233"/>
                </a:lnSpc>
                <a:spcBef>
                  <a:spcPct val="0"/>
                </a:spcBef>
              </a:pPr>
              <a:r>
                <a:rPr lang="en-US" sz="3848" u="none">
                  <a:solidFill>
                    <a:srgbClr val="FFFFFF"/>
                  </a:solidFill>
                  <a:latin typeface="Rasputin Light"/>
                  <a:ea typeface="Rasputin Light"/>
                  <a:cs typeface="Rasputin Light"/>
                  <a:sym typeface="Rasputin Light"/>
                </a:rPr>
                <a:t>How will the proposed tariffs impact the cost of goods sold (COGS) for small businesses importing from China and Mexico?</a:t>
              </a:r>
            </a:p>
          </p:txBody>
        </p:sp>
        <p:sp>
          <p:nvSpPr>
            <p:cNvPr id="8" name="TextBox 8"/>
            <p:cNvSpPr txBox="1"/>
            <p:nvPr/>
          </p:nvSpPr>
          <p:spPr>
            <a:xfrm>
              <a:off x="0" y="3724084"/>
              <a:ext cx="13384061" cy="805180"/>
            </a:xfrm>
            <a:prstGeom prst="rect">
              <a:avLst/>
            </a:prstGeom>
          </p:spPr>
          <p:txBody>
            <a:bodyPr lIns="0" tIns="0" rIns="0" bIns="0" rtlCol="0" anchor="t">
              <a:spAutoFit/>
            </a:bodyPr>
            <a:lstStyle/>
            <a:p>
              <a:pPr marL="0" lvl="0" indent="0" algn="l">
                <a:lnSpc>
                  <a:spcPts val="5040"/>
                </a:lnSpc>
                <a:spcBef>
                  <a:spcPct val="0"/>
                </a:spcBef>
              </a:pPr>
              <a:r>
                <a:rPr lang="en-US" sz="3600" u="none">
                  <a:solidFill>
                    <a:srgbClr val="FFFFFF"/>
                  </a:solidFill>
                  <a:latin typeface="Rasputin Light"/>
                  <a:ea typeface="Rasputin Light"/>
                  <a:cs typeface="Rasputin Light"/>
                  <a:sym typeface="Rasputin Light"/>
                </a:rPr>
                <a:t>This study tested two possible outcomes:</a:t>
              </a:r>
            </a:p>
          </p:txBody>
        </p:sp>
      </p:grpSp>
      <p:grpSp>
        <p:nvGrpSpPr>
          <p:cNvPr id="9" name="Group 9"/>
          <p:cNvGrpSpPr/>
          <p:nvPr/>
        </p:nvGrpSpPr>
        <p:grpSpPr>
          <a:xfrm>
            <a:off x="1028700" y="6514703"/>
            <a:ext cx="7442331" cy="1659100"/>
            <a:chOff x="0" y="0"/>
            <a:chExt cx="9923108" cy="2212133"/>
          </a:xfrm>
        </p:grpSpPr>
        <p:sp>
          <p:nvSpPr>
            <p:cNvPr id="10" name="TextBox 10"/>
            <p:cNvSpPr txBox="1"/>
            <p:nvPr/>
          </p:nvSpPr>
          <p:spPr>
            <a:xfrm>
              <a:off x="0" y="919485"/>
              <a:ext cx="9923108" cy="1292648"/>
            </a:xfrm>
            <a:prstGeom prst="rect">
              <a:avLst/>
            </a:prstGeom>
          </p:spPr>
          <p:txBody>
            <a:bodyPr lIns="0" tIns="0" rIns="0" bIns="0" rtlCol="0" anchor="t">
              <a:spAutoFit/>
            </a:bodyPr>
            <a:lstStyle/>
            <a:p>
              <a:pPr marL="0" lvl="0" indent="0" algn="l">
                <a:lnSpc>
                  <a:spcPts val="3919"/>
                </a:lnSpc>
                <a:spcBef>
                  <a:spcPct val="0"/>
                </a:spcBef>
              </a:pPr>
              <a:r>
                <a:rPr lang="en-US" sz="2799" u="none">
                  <a:solidFill>
                    <a:srgbClr val="FFFFFF"/>
                  </a:solidFill>
                  <a:latin typeface="TT Commons Pro"/>
                  <a:ea typeface="TT Commons Pro"/>
                  <a:cs typeface="TT Commons Pro"/>
                  <a:sym typeface="TT Commons Pro"/>
                </a:rPr>
                <a:t>tariffs on goods from China and Mexico would not make it more expensive</a:t>
              </a:r>
            </a:p>
          </p:txBody>
        </p:sp>
        <p:sp>
          <p:nvSpPr>
            <p:cNvPr id="11" name="TextBox 11"/>
            <p:cNvSpPr txBox="1"/>
            <p:nvPr/>
          </p:nvSpPr>
          <p:spPr>
            <a:xfrm>
              <a:off x="0" y="-66675"/>
              <a:ext cx="9923108" cy="707602"/>
            </a:xfrm>
            <a:prstGeom prst="rect">
              <a:avLst/>
            </a:prstGeom>
          </p:spPr>
          <p:txBody>
            <a:bodyPr lIns="0" tIns="0" rIns="0" bIns="0" rtlCol="0" anchor="t">
              <a:spAutoFit/>
            </a:bodyPr>
            <a:lstStyle/>
            <a:p>
              <a:pPr marL="0" lvl="0" indent="0" algn="l">
                <a:lnSpc>
                  <a:spcPts val="4479"/>
                </a:lnSpc>
                <a:spcBef>
                  <a:spcPct val="0"/>
                </a:spcBef>
              </a:pPr>
              <a:r>
                <a:rPr lang="en-US" sz="3199" u="none">
                  <a:solidFill>
                    <a:srgbClr val="FFFFFF"/>
                  </a:solidFill>
                  <a:latin typeface="TT Commons Pro"/>
                  <a:ea typeface="TT Commons Pro"/>
                  <a:cs typeface="TT Commons Pro"/>
                  <a:sym typeface="TT Commons Pro"/>
                </a:rPr>
                <a:t>Null Hypothesis (H₀)</a:t>
              </a:r>
            </a:p>
          </p:txBody>
        </p:sp>
      </p:grpSp>
      <p:grpSp>
        <p:nvGrpSpPr>
          <p:cNvPr id="12" name="Group 12"/>
          <p:cNvGrpSpPr/>
          <p:nvPr/>
        </p:nvGrpSpPr>
        <p:grpSpPr>
          <a:xfrm>
            <a:off x="9532620" y="6514703"/>
            <a:ext cx="7442331" cy="1630525"/>
            <a:chOff x="0" y="0"/>
            <a:chExt cx="9923108" cy="2174033"/>
          </a:xfrm>
        </p:grpSpPr>
        <p:sp>
          <p:nvSpPr>
            <p:cNvPr id="13" name="TextBox 13"/>
            <p:cNvSpPr txBox="1"/>
            <p:nvPr/>
          </p:nvSpPr>
          <p:spPr>
            <a:xfrm>
              <a:off x="0" y="881385"/>
              <a:ext cx="9923108" cy="1292648"/>
            </a:xfrm>
            <a:prstGeom prst="rect">
              <a:avLst/>
            </a:prstGeom>
          </p:spPr>
          <p:txBody>
            <a:bodyPr lIns="0" tIns="0" rIns="0" bIns="0" rtlCol="0" anchor="t">
              <a:spAutoFit/>
            </a:bodyPr>
            <a:lstStyle/>
            <a:p>
              <a:pPr marL="0" lvl="0" indent="0" algn="l">
                <a:lnSpc>
                  <a:spcPts val="3919"/>
                </a:lnSpc>
                <a:spcBef>
                  <a:spcPct val="0"/>
                </a:spcBef>
              </a:pPr>
              <a:r>
                <a:rPr lang="en-US" sz="2799" u="none">
                  <a:solidFill>
                    <a:srgbClr val="FFFFFF"/>
                  </a:solidFill>
                  <a:latin typeface="TT Commons Pro"/>
                  <a:ea typeface="TT Commons Pro"/>
                  <a:cs typeface="TT Commons Pro"/>
                  <a:sym typeface="TT Commons Pro"/>
                </a:rPr>
                <a:t>tariffs on goods from China and Mexico would make it more expensive</a:t>
              </a:r>
            </a:p>
          </p:txBody>
        </p:sp>
        <p:sp>
          <p:nvSpPr>
            <p:cNvPr id="14" name="TextBox 14"/>
            <p:cNvSpPr txBox="1"/>
            <p:nvPr/>
          </p:nvSpPr>
          <p:spPr>
            <a:xfrm>
              <a:off x="0" y="-66675"/>
              <a:ext cx="9923108" cy="707602"/>
            </a:xfrm>
            <a:prstGeom prst="rect">
              <a:avLst/>
            </a:prstGeom>
          </p:spPr>
          <p:txBody>
            <a:bodyPr lIns="0" tIns="0" rIns="0" bIns="0" rtlCol="0" anchor="t">
              <a:spAutoFit/>
            </a:bodyPr>
            <a:lstStyle/>
            <a:p>
              <a:pPr marL="0" lvl="0" indent="0" algn="l">
                <a:lnSpc>
                  <a:spcPts val="4479"/>
                </a:lnSpc>
                <a:spcBef>
                  <a:spcPct val="0"/>
                </a:spcBef>
              </a:pPr>
              <a:r>
                <a:rPr lang="en-US" sz="3199" u="none">
                  <a:solidFill>
                    <a:srgbClr val="FFFFFF"/>
                  </a:solidFill>
                  <a:latin typeface="TT Commons Pro"/>
                  <a:ea typeface="TT Commons Pro"/>
                  <a:cs typeface="TT Commons Pro"/>
                  <a:sym typeface="TT Commons Pro"/>
                </a:rPr>
                <a:t>Alternate Hypothesis (H₁)</a:t>
              </a:r>
            </a:p>
          </p:txBody>
        </p:sp>
      </p:grpSp>
      <p:grpSp>
        <p:nvGrpSpPr>
          <p:cNvPr id="15" name="Group 15"/>
          <p:cNvGrpSpPr/>
          <p:nvPr/>
        </p:nvGrpSpPr>
        <p:grpSpPr>
          <a:xfrm>
            <a:off x="12291273" y="0"/>
            <a:ext cx="5996727" cy="2544112"/>
            <a:chOff x="0" y="0"/>
            <a:chExt cx="1915851" cy="812800"/>
          </a:xfrm>
        </p:grpSpPr>
        <p:sp>
          <p:nvSpPr>
            <p:cNvPr id="16" name="Freeform 16"/>
            <p:cNvSpPr/>
            <p:nvPr/>
          </p:nvSpPr>
          <p:spPr>
            <a:xfrm>
              <a:off x="0" y="0"/>
              <a:ext cx="1915851" cy="812800"/>
            </a:xfrm>
            <a:custGeom>
              <a:avLst/>
              <a:gdLst/>
              <a:ahLst/>
              <a:cxnLst/>
              <a:rect l="l" t="t" r="r" b="b"/>
              <a:pathLst>
                <a:path w="1915851" h="812800">
                  <a:moveTo>
                    <a:pt x="0" y="0"/>
                  </a:moveTo>
                  <a:lnTo>
                    <a:pt x="1915851" y="0"/>
                  </a:lnTo>
                  <a:lnTo>
                    <a:pt x="1915851" y="812800"/>
                  </a:lnTo>
                  <a:lnTo>
                    <a:pt x="0" y="812800"/>
                  </a:lnTo>
                  <a:close/>
                </a:path>
              </a:pathLst>
            </a:custGeom>
            <a:blipFill>
              <a:blip r:embed="rId6"/>
              <a:stretch>
                <a:fillRect t="-28520" b="-28520"/>
              </a:stretch>
            </a:blipFill>
          </p:spPr>
          <p:txBody>
            <a:bodyPr/>
            <a:lstStyle/>
            <a:p>
              <a:endParaRPr lang="en-US"/>
            </a:p>
          </p:txBody>
        </p:sp>
      </p:grpSp>
      <p:grpSp>
        <p:nvGrpSpPr>
          <p:cNvPr id="17" name="Group 17"/>
          <p:cNvGrpSpPr/>
          <p:nvPr/>
        </p:nvGrpSpPr>
        <p:grpSpPr>
          <a:xfrm>
            <a:off x="12291273" y="2639362"/>
            <a:ext cx="5996727" cy="2616502"/>
            <a:chOff x="0" y="0"/>
            <a:chExt cx="1862846" cy="812800"/>
          </a:xfrm>
        </p:grpSpPr>
        <p:sp>
          <p:nvSpPr>
            <p:cNvPr id="18" name="Freeform 18"/>
            <p:cNvSpPr/>
            <p:nvPr/>
          </p:nvSpPr>
          <p:spPr>
            <a:xfrm>
              <a:off x="0" y="0"/>
              <a:ext cx="1862846" cy="812800"/>
            </a:xfrm>
            <a:custGeom>
              <a:avLst/>
              <a:gdLst/>
              <a:ahLst/>
              <a:cxnLst/>
              <a:rect l="l" t="t" r="r" b="b"/>
              <a:pathLst>
                <a:path w="1862846" h="812800">
                  <a:moveTo>
                    <a:pt x="0" y="0"/>
                  </a:moveTo>
                  <a:lnTo>
                    <a:pt x="1862846" y="0"/>
                  </a:lnTo>
                  <a:lnTo>
                    <a:pt x="1862846" y="812800"/>
                  </a:lnTo>
                  <a:lnTo>
                    <a:pt x="0" y="812800"/>
                  </a:lnTo>
                  <a:close/>
                </a:path>
              </a:pathLst>
            </a:custGeom>
            <a:blipFill>
              <a:blip r:embed="rId7"/>
              <a:stretch>
                <a:fillRect t="-14101" b="-14101"/>
              </a:stretch>
            </a:blipFill>
          </p:spPr>
          <p:txBody>
            <a:bodyPr/>
            <a:lstStyle/>
            <a:p>
              <a:endParaRPr lang="en-US"/>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A0B7A0"/>
        </a:solidFill>
        <a:effectLst/>
      </p:bgPr>
    </p:bg>
    <p:spTree>
      <p:nvGrpSpPr>
        <p:cNvPr id="1" name=""/>
        <p:cNvGrpSpPr/>
        <p:nvPr/>
      </p:nvGrpSpPr>
      <p:grpSpPr>
        <a:xfrm>
          <a:off x="0" y="0"/>
          <a:ext cx="0" cy="0"/>
          <a:chOff x="0" y="0"/>
          <a:chExt cx="0" cy="0"/>
        </a:xfrm>
      </p:grpSpPr>
      <p:sp>
        <p:nvSpPr>
          <p:cNvPr id="2" name="Freeform 2" descr="Abstract shapes"/>
          <p:cNvSpPr/>
          <p:nvPr/>
        </p:nvSpPr>
        <p:spPr>
          <a:xfrm rot="-1016209">
            <a:off x="-890667" y="4921459"/>
            <a:ext cx="8901994" cy="10457555"/>
          </a:xfrm>
          <a:custGeom>
            <a:avLst/>
            <a:gdLst/>
            <a:ahLst/>
            <a:cxnLst/>
            <a:rect l="l" t="t" r="r" b="b"/>
            <a:pathLst>
              <a:path w="8901994" h="10457555">
                <a:moveTo>
                  <a:pt x="0" y="0"/>
                </a:moveTo>
                <a:lnTo>
                  <a:pt x="8901993" y="0"/>
                </a:lnTo>
                <a:lnTo>
                  <a:pt x="8901993" y="10457555"/>
                </a:lnTo>
                <a:lnTo>
                  <a:pt x="0" y="10457555"/>
                </a:lnTo>
                <a:lnTo>
                  <a:pt x="0" y="0"/>
                </a:lnTo>
                <a:close/>
              </a:path>
            </a:pathLst>
          </a:custGeom>
          <a:blipFill>
            <a:blip r:embed="rId2">
              <a:alphaModFix amt="21999"/>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descr="Abstract shapes"/>
          <p:cNvSpPr/>
          <p:nvPr/>
        </p:nvSpPr>
        <p:spPr>
          <a:xfrm rot="8862409">
            <a:off x="12992700" y="-3537343"/>
            <a:ext cx="8901994" cy="10457555"/>
          </a:xfrm>
          <a:custGeom>
            <a:avLst/>
            <a:gdLst/>
            <a:ahLst/>
            <a:cxnLst/>
            <a:rect l="l" t="t" r="r" b="b"/>
            <a:pathLst>
              <a:path w="8901994" h="10457555">
                <a:moveTo>
                  <a:pt x="0" y="0"/>
                </a:moveTo>
                <a:lnTo>
                  <a:pt x="8901994" y="0"/>
                </a:lnTo>
                <a:lnTo>
                  <a:pt x="8901994" y="10457555"/>
                </a:lnTo>
                <a:lnTo>
                  <a:pt x="0" y="10457555"/>
                </a:lnTo>
                <a:lnTo>
                  <a:pt x="0" y="0"/>
                </a:lnTo>
                <a:close/>
              </a:path>
            </a:pathLst>
          </a:custGeom>
          <a:blipFill>
            <a:blip r:embed="rId2">
              <a:alphaModFix amt="21999"/>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 name="Group 4"/>
          <p:cNvGrpSpPr/>
          <p:nvPr/>
        </p:nvGrpSpPr>
        <p:grpSpPr>
          <a:xfrm>
            <a:off x="0" y="0"/>
            <a:ext cx="18288000" cy="6232831"/>
            <a:chOff x="0" y="0"/>
            <a:chExt cx="2384869" cy="812800"/>
          </a:xfrm>
        </p:grpSpPr>
        <p:sp>
          <p:nvSpPr>
            <p:cNvPr id="5" name="Freeform 5"/>
            <p:cNvSpPr/>
            <p:nvPr/>
          </p:nvSpPr>
          <p:spPr>
            <a:xfrm>
              <a:off x="0" y="0"/>
              <a:ext cx="2384869" cy="812800"/>
            </a:xfrm>
            <a:custGeom>
              <a:avLst/>
              <a:gdLst/>
              <a:ahLst/>
              <a:cxnLst/>
              <a:rect l="l" t="t" r="r" b="b"/>
              <a:pathLst>
                <a:path w="2384869" h="812800">
                  <a:moveTo>
                    <a:pt x="0" y="0"/>
                  </a:moveTo>
                  <a:lnTo>
                    <a:pt x="2384869" y="0"/>
                  </a:lnTo>
                  <a:lnTo>
                    <a:pt x="2384869" y="812800"/>
                  </a:lnTo>
                  <a:lnTo>
                    <a:pt x="0" y="812800"/>
                  </a:lnTo>
                  <a:close/>
                </a:path>
              </a:pathLst>
            </a:custGeom>
            <a:blipFill>
              <a:blip r:embed="rId4"/>
              <a:stretch>
                <a:fillRect t="-50494" b="-50494"/>
              </a:stretch>
            </a:blipFill>
          </p:spPr>
          <p:txBody>
            <a:bodyPr/>
            <a:lstStyle/>
            <a:p>
              <a:endParaRPr lang="en-US"/>
            </a:p>
          </p:txBody>
        </p:sp>
      </p:grpSp>
      <p:sp>
        <p:nvSpPr>
          <p:cNvPr id="6" name="TextBox 6"/>
          <p:cNvSpPr txBox="1"/>
          <p:nvPr/>
        </p:nvSpPr>
        <p:spPr>
          <a:xfrm>
            <a:off x="9970335" y="6688901"/>
            <a:ext cx="7473361" cy="3021330"/>
          </a:xfrm>
          <a:prstGeom prst="rect">
            <a:avLst/>
          </a:prstGeom>
        </p:spPr>
        <p:txBody>
          <a:bodyPr lIns="0" tIns="0" rIns="0" bIns="0" rtlCol="0" anchor="t">
            <a:spAutoFit/>
          </a:bodyPr>
          <a:lstStyle/>
          <a:p>
            <a:pPr marL="820417" lvl="1" indent="-410209" algn="l">
              <a:lnSpc>
                <a:spcPts val="4939"/>
              </a:lnSpc>
              <a:buFont typeface="Arial"/>
              <a:buChar char="•"/>
            </a:pPr>
            <a:r>
              <a:rPr lang="en-US" sz="3799">
                <a:solidFill>
                  <a:srgbClr val="142414"/>
                </a:solidFill>
                <a:latin typeface="TT Commons Pro"/>
                <a:ea typeface="TT Commons Pro"/>
                <a:cs typeface="TT Commons Pro"/>
                <a:sym typeface="TT Commons Pro"/>
              </a:rPr>
              <a:t>Data Collection</a:t>
            </a:r>
          </a:p>
          <a:p>
            <a:pPr marL="820417" lvl="1" indent="-410209" algn="l">
              <a:lnSpc>
                <a:spcPts val="4939"/>
              </a:lnSpc>
              <a:buFont typeface="Arial"/>
              <a:buChar char="•"/>
            </a:pPr>
            <a:r>
              <a:rPr lang="en-US" sz="3799">
                <a:solidFill>
                  <a:srgbClr val="142414"/>
                </a:solidFill>
                <a:latin typeface="TT Commons Pro"/>
                <a:ea typeface="TT Commons Pro"/>
                <a:cs typeface="TT Commons Pro"/>
                <a:sym typeface="TT Commons Pro"/>
              </a:rPr>
              <a:t>Scenario Modeling </a:t>
            </a:r>
          </a:p>
          <a:p>
            <a:pPr marL="820417" lvl="1" indent="-410209" algn="l">
              <a:lnSpc>
                <a:spcPts val="4939"/>
              </a:lnSpc>
              <a:buFont typeface="Arial"/>
              <a:buChar char="•"/>
            </a:pPr>
            <a:r>
              <a:rPr lang="en-US" sz="3799">
                <a:solidFill>
                  <a:srgbClr val="142414"/>
                </a:solidFill>
                <a:latin typeface="TT Commons Pro"/>
                <a:ea typeface="TT Commons Pro"/>
                <a:cs typeface="TT Commons Pro"/>
                <a:sym typeface="TT Commons Pro"/>
              </a:rPr>
              <a:t>Comparative Analysis (baseline vs. scenarios).</a:t>
            </a:r>
          </a:p>
          <a:p>
            <a:pPr marL="0" lvl="0" indent="0" algn="l">
              <a:lnSpc>
                <a:spcPts val="4419"/>
              </a:lnSpc>
            </a:pPr>
            <a:endParaRPr lang="en-US" sz="3799">
              <a:solidFill>
                <a:srgbClr val="142414"/>
              </a:solidFill>
              <a:latin typeface="TT Commons Pro"/>
              <a:ea typeface="TT Commons Pro"/>
              <a:cs typeface="TT Commons Pro"/>
              <a:sym typeface="TT Commons Pro"/>
            </a:endParaRPr>
          </a:p>
        </p:txBody>
      </p:sp>
      <p:sp>
        <p:nvSpPr>
          <p:cNvPr id="7" name="TextBox 7"/>
          <p:cNvSpPr txBox="1"/>
          <p:nvPr/>
        </p:nvSpPr>
        <p:spPr>
          <a:xfrm>
            <a:off x="1028700" y="6869876"/>
            <a:ext cx="7657549" cy="2162583"/>
          </a:xfrm>
          <a:prstGeom prst="rect">
            <a:avLst/>
          </a:prstGeom>
        </p:spPr>
        <p:txBody>
          <a:bodyPr lIns="0" tIns="0" rIns="0" bIns="0" rtlCol="0" anchor="t">
            <a:spAutoFit/>
          </a:bodyPr>
          <a:lstStyle/>
          <a:p>
            <a:pPr marL="0" lvl="0" indent="0" algn="l">
              <a:lnSpc>
                <a:spcPts val="8266"/>
              </a:lnSpc>
            </a:pPr>
            <a:r>
              <a:rPr lang="en-US" sz="8266">
                <a:solidFill>
                  <a:srgbClr val="142414"/>
                </a:solidFill>
                <a:latin typeface="Rasputin Light"/>
                <a:ea typeface="Rasputin Light"/>
                <a:cs typeface="Rasputin Light"/>
                <a:sym typeface="Rasputin Light"/>
              </a:rPr>
              <a:t>Data-Analysis Process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4F674F"/>
        </a:solidFill>
        <a:effectLst/>
      </p:bgPr>
    </p:bg>
    <p:spTree>
      <p:nvGrpSpPr>
        <p:cNvPr id="1" name=""/>
        <p:cNvGrpSpPr/>
        <p:nvPr/>
      </p:nvGrpSpPr>
      <p:grpSpPr>
        <a:xfrm>
          <a:off x="0" y="0"/>
          <a:ext cx="0" cy="0"/>
          <a:chOff x="0" y="0"/>
          <a:chExt cx="0" cy="0"/>
        </a:xfrm>
      </p:grpSpPr>
      <p:sp>
        <p:nvSpPr>
          <p:cNvPr id="2" name="Freeform 2" descr="Abstract Shape"/>
          <p:cNvSpPr/>
          <p:nvPr/>
        </p:nvSpPr>
        <p:spPr>
          <a:xfrm rot="3595009">
            <a:off x="11667807" y="-2491199"/>
            <a:ext cx="10836480" cy="7395897"/>
          </a:xfrm>
          <a:custGeom>
            <a:avLst/>
            <a:gdLst/>
            <a:ahLst/>
            <a:cxnLst/>
            <a:rect l="l" t="t" r="r" b="b"/>
            <a:pathLst>
              <a:path w="10836480" h="7395897">
                <a:moveTo>
                  <a:pt x="0" y="0"/>
                </a:moveTo>
                <a:lnTo>
                  <a:pt x="10836479" y="0"/>
                </a:lnTo>
                <a:lnTo>
                  <a:pt x="10836479" y="7395898"/>
                </a:lnTo>
                <a:lnTo>
                  <a:pt x="0" y="739589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descr="Abstract Shape"/>
          <p:cNvSpPr/>
          <p:nvPr/>
        </p:nvSpPr>
        <p:spPr>
          <a:xfrm rot="3921556">
            <a:off x="-3704253" y="5881126"/>
            <a:ext cx="10836480" cy="7395897"/>
          </a:xfrm>
          <a:custGeom>
            <a:avLst/>
            <a:gdLst/>
            <a:ahLst/>
            <a:cxnLst/>
            <a:rect l="l" t="t" r="r" b="b"/>
            <a:pathLst>
              <a:path w="10836480" h="7395897">
                <a:moveTo>
                  <a:pt x="0" y="0"/>
                </a:moveTo>
                <a:lnTo>
                  <a:pt x="10836480" y="0"/>
                </a:lnTo>
                <a:lnTo>
                  <a:pt x="10836480" y="7395897"/>
                </a:lnTo>
                <a:lnTo>
                  <a:pt x="0" y="73958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a:off x="11836269" y="3341045"/>
            <a:ext cx="2881780" cy="4159109"/>
          </a:xfrm>
          <a:custGeom>
            <a:avLst/>
            <a:gdLst/>
            <a:ahLst/>
            <a:cxnLst/>
            <a:rect l="l" t="t" r="r" b="b"/>
            <a:pathLst>
              <a:path w="2881780" h="4159109">
                <a:moveTo>
                  <a:pt x="0" y="0"/>
                </a:moveTo>
                <a:lnTo>
                  <a:pt x="2881780" y="0"/>
                </a:lnTo>
                <a:lnTo>
                  <a:pt x="2881780" y="4159109"/>
                </a:lnTo>
                <a:lnTo>
                  <a:pt x="0" y="4159109"/>
                </a:lnTo>
                <a:lnTo>
                  <a:pt x="0" y="0"/>
                </a:lnTo>
                <a:close/>
              </a:path>
            </a:pathLst>
          </a:custGeom>
          <a:blipFill>
            <a:blip r:embed="rId4"/>
            <a:stretch>
              <a:fillRect/>
            </a:stretch>
          </a:blipFill>
        </p:spPr>
        <p:txBody>
          <a:bodyPr/>
          <a:lstStyle/>
          <a:p>
            <a:endParaRPr lang="en-US"/>
          </a:p>
        </p:txBody>
      </p:sp>
      <p:sp>
        <p:nvSpPr>
          <p:cNvPr id="5" name="Freeform 5"/>
          <p:cNvSpPr/>
          <p:nvPr/>
        </p:nvSpPr>
        <p:spPr>
          <a:xfrm>
            <a:off x="1268245" y="3758171"/>
            <a:ext cx="6864936" cy="2454350"/>
          </a:xfrm>
          <a:custGeom>
            <a:avLst/>
            <a:gdLst/>
            <a:ahLst/>
            <a:cxnLst/>
            <a:rect l="l" t="t" r="r" b="b"/>
            <a:pathLst>
              <a:path w="6864936" h="2454350">
                <a:moveTo>
                  <a:pt x="0" y="0"/>
                </a:moveTo>
                <a:lnTo>
                  <a:pt x="6864936" y="0"/>
                </a:lnTo>
                <a:lnTo>
                  <a:pt x="6864936" y="2454350"/>
                </a:lnTo>
                <a:lnTo>
                  <a:pt x="0" y="2454350"/>
                </a:lnTo>
                <a:lnTo>
                  <a:pt x="0" y="0"/>
                </a:lnTo>
                <a:close/>
              </a:path>
            </a:pathLst>
          </a:custGeom>
          <a:blipFill>
            <a:blip r:embed="rId5"/>
            <a:stretch>
              <a:fillRect/>
            </a:stretch>
          </a:blipFill>
        </p:spPr>
        <p:txBody>
          <a:bodyPr/>
          <a:lstStyle/>
          <a:p>
            <a:endParaRPr lang="en-US"/>
          </a:p>
        </p:txBody>
      </p:sp>
      <p:sp>
        <p:nvSpPr>
          <p:cNvPr id="6" name="TextBox 6"/>
          <p:cNvSpPr txBox="1"/>
          <p:nvPr/>
        </p:nvSpPr>
        <p:spPr>
          <a:xfrm>
            <a:off x="1268245" y="6440868"/>
            <a:ext cx="7178755" cy="3646170"/>
          </a:xfrm>
          <a:prstGeom prst="rect">
            <a:avLst/>
          </a:prstGeom>
        </p:spPr>
        <p:txBody>
          <a:bodyPr lIns="0" tIns="0" rIns="0" bIns="0" rtlCol="0" anchor="t">
            <a:spAutoFit/>
          </a:bodyPr>
          <a:lstStyle/>
          <a:p>
            <a:pPr algn="l">
              <a:lnSpc>
                <a:spcPts val="4199"/>
              </a:lnSpc>
            </a:pPr>
            <a:r>
              <a:rPr lang="en-US" sz="2799">
                <a:solidFill>
                  <a:srgbClr val="FFFFFF"/>
                </a:solidFill>
                <a:latin typeface="TT Commons Pro"/>
                <a:ea typeface="TT Commons Pro"/>
                <a:cs typeface="TT Commons Pro"/>
                <a:sym typeface="TT Commons Pro"/>
              </a:rPr>
              <a:t>Annual Tariff Data for 2023 (Annual Tariff Data, 2023, [Dataset], 2024):</a:t>
            </a:r>
          </a:p>
          <a:p>
            <a:pPr marL="0" lvl="0" indent="0" algn="l">
              <a:lnSpc>
                <a:spcPts val="4199"/>
              </a:lnSpc>
              <a:spcBef>
                <a:spcPct val="0"/>
              </a:spcBef>
            </a:pPr>
            <a:r>
              <a:rPr lang="en-US" sz="2799">
                <a:solidFill>
                  <a:srgbClr val="FFFFFF"/>
                </a:solidFill>
                <a:latin typeface="TT Commons Pro"/>
                <a:ea typeface="TT Commons Pro"/>
                <a:cs typeface="TT Commons Pro"/>
                <a:sym typeface="TT Commons Pro"/>
              </a:rPr>
              <a:t>This dataset gives detailed information on tariffs applied to goods imported to the US. Including specific and ad valorem rates for goods coming from Mexico and the MTNs(which includes China) </a:t>
            </a:r>
          </a:p>
        </p:txBody>
      </p:sp>
      <p:sp>
        <p:nvSpPr>
          <p:cNvPr id="7" name="TextBox 7"/>
          <p:cNvSpPr txBox="1"/>
          <p:nvPr/>
        </p:nvSpPr>
        <p:spPr>
          <a:xfrm>
            <a:off x="633163" y="400050"/>
            <a:ext cx="14084886" cy="1247775"/>
          </a:xfrm>
          <a:prstGeom prst="rect">
            <a:avLst/>
          </a:prstGeom>
        </p:spPr>
        <p:txBody>
          <a:bodyPr lIns="0" tIns="0" rIns="0" bIns="0" rtlCol="0" anchor="t">
            <a:spAutoFit/>
          </a:bodyPr>
          <a:lstStyle/>
          <a:p>
            <a:pPr marL="0" lvl="0" indent="0" algn="l">
              <a:lnSpc>
                <a:spcPts val="9600"/>
              </a:lnSpc>
              <a:spcBef>
                <a:spcPct val="0"/>
              </a:spcBef>
            </a:pPr>
            <a:r>
              <a:rPr lang="en-US" sz="8000" b="1">
                <a:solidFill>
                  <a:srgbClr val="FFFFFF"/>
                </a:solidFill>
                <a:latin typeface="Rasputin Light Bold"/>
                <a:ea typeface="Rasputin Light Bold"/>
                <a:cs typeface="Rasputin Light Bold"/>
                <a:sym typeface="Rasputin Light Bold"/>
              </a:rPr>
              <a:t>Data Collection</a:t>
            </a:r>
          </a:p>
        </p:txBody>
      </p:sp>
      <p:sp>
        <p:nvSpPr>
          <p:cNvPr id="8" name="TextBox 8"/>
          <p:cNvSpPr txBox="1"/>
          <p:nvPr/>
        </p:nvSpPr>
        <p:spPr>
          <a:xfrm>
            <a:off x="9545025" y="7452529"/>
            <a:ext cx="8441652" cy="2453005"/>
          </a:xfrm>
          <a:prstGeom prst="rect">
            <a:avLst/>
          </a:prstGeom>
        </p:spPr>
        <p:txBody>
          <a:bodyPr lIns="0" tIns="0" rIns="0" bIns="0" rtlCol="0" anchor="t">
            <a:spAutoFit/>
          </a:bodyPr>
          <a:lstStyle/>
          <a:p>
            <a:pPr algn="l">
              <a:lnSpc>
                <a:spcPts val="3920"/>
              </a:lnSpc>
            </a:pPr>
            <a:r>
              <a:rPr lang="en-US" sz="2800">
                <a:solidFill>
                  <a:srgbClr val="FFFFFF"/>
                </a:solidFill>
                <a:latin typeface="TT Commons Pro"/>
                <a:ea typeface="TT Commons Pro"/>
                <a:cs typeface="TT Commons Pro"/>
                <a:sym typeface="TT Commons Pro"/>
              </a:rPr>
              <a:t>Additional Tariffs (Harmonized Tariff Schedule, 2024):</a:t>
            </a:r>
          </a:p>
          <a:p>
            <a:pPr algn="l">
              <a:lnSpc>
                <a:spcPts val="3920"/>
              </a:lnSpc>
            </a:pPr>
            <a:r>
              <a:rPr lang="en-US" sz="2800">
                <a:solidFill>
                  <a:srgbClr val="FFFFFF"/>
                </a:solidFill>
                <a:latin typeface="TT Commons Pro"/>
                <a:ea typeface="TT Commons Pro"/>
                <a:cs typeface="TT Commons Pro"/>
                <a:sym typeface="TT Commons Pro"/>
              </a:rPr>
              <a:t>This dataset is a supplemental listing of the extra tariff imposed on China in subchapter III, Chapter 99 marked with code (.1) of 7.5% or 25% (Harmonized Tariff Schedule of the United States, 2024).</a:t>
            </a:r>
          </a:p>
        </p:txBody>
      </p:sp>
      <p:sp>
        <p:nvSpPr>
          <p:cNvPr id="9" name="TextBox 9"/>
          <p:cNvSpPr txBox="1"/>
          <p:nvPr/>
        </p:nvSpPr>
        <p:spPr>
          <a:xfrm>
            <a:off x="0" y="2013680"/>
            <a:ext cx="18288000" cy="1090073"/>
          </a:xfrm>
          <a:prstGeom prst="rect">
            <a:avLst/>
          </a:prstGeom>
        </p:spPr>
        <p:txBody>
          <a:bodyPr lIns="0" tIns="0" rIns="0" bIns="0" rtlCol="0" anchor="t">
            <a:spAutoFit/>
          </a:bodyPr>
          <a:lstStyle/>
          <a:p>
            <a:pPr algn="ctr">
              <a:lnSpc>
                <a:spcPts val="4492"/>
              </a:lnSpc>
            </a:pPr>
            <a:r>
              <a:rPr lang="en-US" sz="3208">
                <a:solidFill>
                  <a:srgbClr val="FFFFFF"/>
                </a:solidFill>
                <a:latin typeface="TT Commons Pro"/>
                <a:ea typeface="TT Commons Pro"/>
                <a:cs typeface="TT Commons Pro"/>
                <a:sym typeface="TT Commons Pro"/>
              </a:rPr>
              <a:t>The data collected for this analysis was collected from two sites: Harmonized Tariff Scheduled(HTS) of the United States and USITC DataWeb:</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4F674F"/>
        </a:solidFill>
        <a:effectLst/>
      </p:bgPr>
    </p:bg>
    <p:spTree>
      <p:nvGrpSpPr>
        <p:cNvPr id="1" name=""/>
        <p:cNvGrpSpPr/>
        <p:nvPr/>
      </p:nvGrpSpPr>
      <p:grpSpPr>
        <a:xfrm>
          <a:off x="0" y="0"/>
          <a:ext cx="0" cy="0"/>
          <a:chOff x="0" y="0"/>
          <a:chExt cx="0" cy="0"/>
        </a:xfrm>
      </p:grpSpPr>
      <p:sp>
        <p:nvSpPr>
          <p:cNvPr id="2" name="Freeform 2" descr="Abstract Shape"/>
          <p:cNvSpPr/>
          <p:nvPr/>
        </p:nvSpPr>
        <p:spPr>
          <a:xfrm rot="3595009">
            <a:off x="11667807" y="-2491199"/>
            <a:ext cx="10836480" cy="7395897"/>
          </a:xfrm>
          <a:custGeom>
            <a:avLst/>
            <a:gdLst/>
            <a:ahLst/>
            <a:cxnLst/>
            <a:rect l="l" t="t" r="r" b="b"/>
            <a:pathLst>
              <a:path w="10836480" h="7395897">
                <a:moveTo>
                  <a:pt x="0" y="0"/>
                </a:moveTo>
                <a:lnTo>
                  <a:pt x="10836479" y="0"/>
                </a:lnTo>
                <a:lnTo>
                  <a:pt x="10836479" y="7395898"/>
                </a:lnTo>
                <a:lnTo>
                  <a:pt x="0" y="739589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descr="Abstract Shape"/>
          <p:cNvSpPr/>
          <p:nvPr/>
        </p:nvSpPr>
        <p:spPr>
          <a:xfrm rot="3921556">
            <a:off x="-5015365" y="6589051"/>
            <a:ext cx="10836480" cy="7395897"/>
          </a:xfrm>
          <a:custGeom>
            <a:avLst/>
            <a:gdLst/>
            <a:ahLst/>
            <a:cxnLst/>
            <a:rect l="l" t="t" r="r" b="b"/>
            <a:pathLst>
              <a:path w="10836480" h="7395897">
                <a:moveTo>
                  <a:pt x="0" y="0"/>
                </a:moveTo>
                <a:lnTo>
                  <a:pt x="10836480" y="0"/>
                </a:lnTo>
                <a:lnTo>
                  <a:pt x="10836480" y="7395898"/>
                </a:lnTo>
                <a:lnTo>
                  <a:pt x="0" y="739589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 name="Group 4"/>
          <p:cNvGrpSpPr/>
          <p:nvPr/>
        </p:nvGrpSpPr>
        <p:grpSpPr>
          <a:xfrm>
            <a:off x="12588368" y="3531545"/>
            <a:ext cx="5207935" cy="5912185"/>
            <a:chOff x="0" y="0"/>
            <a:chExt cx="6943913" cy="7882913"/>
          </a:xfrm>
        </p:grpSpPr>
        <p:pic>
          <p:nvPicPr>
            <p:cNvPr id="5" name="Picture 5"/>
            <p:cNvPicPr>
              <a:picLocks noChangeAspect="1"/>
            </p:cNvPicPr>
            <p:nvPr/>
          </p:nvPicPr>
          <p:blipFill>
            <a:blip r:embed="rId4"/>
            <a:srcRect l="3605" r="47469"/>
            <a:stretch>
              <a:fillRect/>
            </a:stretch>
          </p:blipFill>
          <p:spPr>
            <a:xfrm>
              <a:off x="0" y="0"/>
              <a:ext cx="6943913" cy="7882913"/>
            </a:xfrm>
            <a:prstGeom prst="rect">
              <a:avLst/>
            </a:prstGeom>
          </p:spPr>
        </p:pic>
      </p:grpSp>
      <p:grpSp>
        <p:nvGrpSpPr>
          <p:cNvPr id="6" name="Group 6"/>
          <p:cNvGrpSpPr/>
          <p:nvPr/>
        </p:nvGrpSpPr>
        <p:grpSpPr>
          <a:xfrm>
            <a:off x="6495622" y="3531545"/>
            <a:ext cx="5207935" cy="5912185"/>
            <a:chOff x="0" y="0"/>
            <a:chExt cx="6943913" cy="7882913"/>
          </a:xfrm>
        </p:grpSpPr>
        <p:pic>
          <p:nvPicPr>
            <p:cNvPr id="7" name="Picture 7"/>
            <p:cNvPicPr>
              <a:picLocks noChangeAspect="1"/>
            </p:cNvPicPr>
            <p:nvPr/>
          </p:nvPicPr>
          <p:blipFill>
            <a:blip r:embed="rId5"/>
            <a:srcRect r="44834"/>
            <a:stretch>
              <a:fillRect/>
            </a:stretch>
          </p:blipFill>
          <p:spPr>
            <a:xfrm>
              <a:off x="0" y="0"/>
              <a:ext cx="6943913" cy="7882913"/>
            </a:xfrm>
            <a:prstGeom prst="rect">
              <a:avLst/>
            </a:prstGeom>
          </p:spPr>
        </p:pic>
      </p:grpSp>
      <p:grpSp>
        <p:nvGrpSpPr>
          <p:cNvPr id="8" name="Group 8"/>
          <p:cNvGrpSpPr/>
          <p:nvPr/>
        </p:nvGrpSpPr>
        <p:grpSpPr>
          <a:xfrm>
            <a:off x="402875" y="3531545"/>
            <a:ext cx="5207935" cy="5912185"/>
            <a:chOff x="0" y="0"/>
            <a:chExt cx="6943913" cy="7882913"/>
          </a:xfrm>
        </p:grpSpPr>
        <p:pic>
          <p:nvPicPr>
            <p:cNvPr id="9" name="Picture 9"/>
            <p:cNvPicPr>
              <a:picLocks noChangeAspect="1"/>
            </p:cNvPicPr>
            <p:nvPr/>
          </p:nvPicPr>
          <p:blipFill>
            <a:blip r:embed="rId6"/>
            <a:srcRect l="230" r="41631"/>
            <a:stretch>
              <a:fillRect/>
            </a:stretch>
          </p:blipFill>
          <p:spPr>
            <a:xfrm>
              <a:off x="0" y="0"/>
              <a:ext cx="6943913" cy="7882913"/>
            </a:xfrm>
            <a:prstGeom prst="rect">
              <a:avLst/>
            </a:prstGeom>
          </p:spPr>
        </p:pic>
      </p:grpSp>
      <p:sp>
        <p:nvSpPr>
          <p:cNvPr id="10" name="TextBox 10"/>
          <p:cNvSpPr txBox="1"/>
          <p:nvPr/>
        </p:nvSpPr>
        <p:spPr>
          <a:xfrm>
            <a:off x="633163" y="400050"/>
            <a:ext cx="14084886" cy="1247775"/>
          </a:xfrm>
          <a:prstGeom prst="rect">
            <a:avLst/>
          </a:prstGeom>
        </p:spPr>
        <p:txBody>
          <a:bodyPr lIns="0" tIns="0" rIns="0" bIns="0" rtlCol="0" anchor="t">
            <a:spAutoFit/>
          </a:bodyPr>
          <a:lstStyle/>
          <a:p>
            <a:pPr marL="0" lvl="0" indent="0" algn="l">
              <a:lnSpc>
                <a:spcPts val="9600"/>
              </a:lnSpc>
              <a:spcBef>
                <a:spcPct val="0"/>
              </a:spcBef>
            </a:pPr>
            <a:r>
              <a:rPr lang="en-US" sz="8000" b="1">
                <a:solidFill>
                  <a:srgbClr val="FFFFFF"/>
                </a:solidFill>
                <a:latin typeface="Rasputin Light Bold"/>
                <a:ea typeface="Rasputin Light Bold"/>
                <a:cs typeface="Rasputin Light Bold"/>
                <a:sym typeface="Rasputin Light Bold"/>
              </a:rPr>
              <a:t>Data Cleaning</a:t>
            </a:r>
          </a:p>
        </p:txBody>
      </p:sp>
      <p:sp>
        <p:nvSpPr>
          <p:cNvPr id="11" name="TextBox 11"/>
          <p:cNvSpPr txBox="1"/>
          <p:nvPr/>
        </p:nvSpPr>
        <p:spPr>
          <a:xfrm>
            <a:off x="0" y="2013680"/>
            <a:ext cx="18288000" cy="1090073"/>
          </a:xfrm>
          <a:prstGeom prst="rect">
            <a:avLst/>
          </a:prstGeom>
        </p:spPr>
        <p:txBody>
          <a:bodyPr lIns="0" tIns="0" rIns="0" bIns="0" rtlCol="0" anchor="t">
            <a:spAutoFit/>
          </a:bodyPr>
          <a:lstStyle/>
          <a:p>
            <a:pPr algn="ctr">
              <a:lnSpc>
                <a:spcPts val="4492"/>
              </a:lnSpc>
            </a:pPr>
            <a:r>
              <a:rPr lang="en-US" sz="3208">
                <a:solidFill>
                  <a:srgbClr val="FFFFFF"/>
                </a:solidFill>
                <a:latin typeface="TT Commons Pro"/>
                <a:ea typeface="TT Commons Pro"/>
                <a:cs typeface="TT Commons Pro"/>
                <a:sym typeface="TT Commons Pro"/>
              </a:rPr>
              <a:t>I  removed any unneeded columns, combined the datasets, calculated the tariff rates, and created a section column to group HTS code by chapters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4F674F"/>
        </a:solidFill>
        <a:effectLst/>
      </p:bgPr>
    </p:bg>
    <p:spTree>
      <p:nvGrpSpPr>
        <p:cNvPr id="1" name=""/>
        <p:cNvGrpSpPr/>
        <p:nvPr/>
      </p:nvGrpSpPr>
      <p:grpSpPr>
        <a:xfrm>
          <a:off x="0" y="0"/>
          <a:ext cx="0" cy="0"/>
          <a:chOff x="0" y="0"/>
          <a:chExt cx="0" cy="0"/>
        </a:xfrm>
      </p:grpSpPr>
      <p:sp>
        <p:nvSpPr>
          <p:cNvPr id="2" name="Freeform 2" descr="Abstract shapes"/>
          <p:cNvSpPr/>
          <p:nvPr/>
        </p:nvSpPr>
        <p:spPr>
          <a:xfrm>
            <a:off x="-3051543" y="4484428"/>
            <a:ext cx="8857785" cy="8525618"/>
          </a:xfrm>
          <a:custGeom>
            <a:avLst/>
            <a:gdLst/>
            <a:ahLst/>
            <a:cxnLst/>
            <a:rect l="l" t="t" r="r" b="b"/>
            <a:pathLst>
              <a:path w="8857785" h="8525618">
                <a:moveTo>
                  <a:pt x="0" y="0"/>
                </a:moveTo>
                <a:lnTo>
                  <a:pt x="8857785" y="0"/>
                </a:lnTo>
                <a:lnTo>
                  <a:pt x="8857785" y="8525619"/>
                </a:lnTo>
                <a:lnTo>
                  <a:pt x="0" y="8525619"/>
                </a:lnTo>
                <a:lnTo>
                  <a:pt x="0" y="0"/>
                </a:lnTo>
                <a:close/>
              </a:path>
            </a:pathLst>
          </a:custGeom>
          <a:blipFill>
            <a:blip r:embed="rId2">
              <a:alphaModFix amt="21999"/>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AutoShape 3"/>
          <p:cNvSpPr/>
          <p:nvPr/>
        </p:nvSpPr>
        <p:spPr>
          <a:xfrm>
            <a:off x="5358840" y="1108553"/>
            <a:ext cx="11859377" cy="8069894"/>
          </a:xfrm>
          <a:prstGeom prst="rect">
            <a:avLst/>
          </a:prstGeom>
          <a:solidFill>
            <a:srgbClr val="384F38"/>
          </a:solidFill>
        </p:spPr>
        <p:txBody>
          <a:bodyPr/>
          <a:lstStyle/>
          <a:p>
            <a:endParaRPr lang="en-US"/>
          </a:p>
        </p:txBody>
      </p:sp>
      <p:grpSp>
        <p:nvGrpSpPr>
          <p:cNvPr id="4" name="Group 4"/>
          <p:cNvGrpSpPr/>
          <p:nvPr/>
        </p:nvGrpSpPr>
        <p:grpSpPr>
          <a:xfrm>
            <a:off x="5607369" y="1365529"/>
            <a:ext cx="11362320" cy="7555943"/>
            <a:chOff x="0" y="0"/>
            <a:chExt cx="1222256" cy="812800"/>
          </a:xfrm>
        </p:grpSpPr>
        <p:sp>
          <p:nvSpPr>
            <p:cNvPr id="5" name="Freeform 5"/>
            <p:cNvSpPr/>
            <p:nvPr/>
          </p:nvSpPr>
          <p:spPr>
            <a:xfrm>
              <a:off x="0" y="0"/>
              <a:ext cx="1222256" cy="812800"/>
            </a:xfrm>
            <a:custGeom>
              <a:avLst/>
              <a:gdLst/>
              <a:ahLst/>
              <a:cxnLst/>
              <a:rect l="l" t="t" r="r" b="b"/>
              <a:pathLst>
                <a:path w="1222256" h="812800">
                  <a:moveTo>
                    <a:pt x="0" y="0"/>
                  </a:moveTo>
                  <a:lnTo>
                    <a:pt x="1222256" y="0"/>
                  </a:lnTo>
                  <a:lnTo>
                    <a:pt x="1222256" y="812800"/>
                  </a:lnTo>
                  <a:lnTo>
                    <a:pt x="0" y="812800"/>
                  </a:lnTo>
                  <a:close/>
                </a:path>
              </a:pathLst>
            </a:custGeom>
            <a:blipFill>
              <a:blip r:embed="rId4"/>
              <a:stretch>
                <a:fillRect l="-2362" r="-2362"/>
              </a:stretch>
            </a:blipFill>
          </p:spPr>
          <p:txBody>
            <a:bodyPr/>
            <a:lstStyle/>
            <a:p>
              <a:endParaRPr lang="en-US"/>
            </a:p>
          </p:txBody>
        </p:sp>
      </p:grpSp>
      <p:grpSp>
        <p:nvGrpSpPr>
          <p:cNvPr id="6" name="Group 6"/>
          <p:cNvGrpSpPr/>
          <p:nvPr/>
        </p:nvGrpSpPr>
        <p:grpSpPr>
          <a:xfrm>
            <a:off x="723248" y="2696848"/>
            <a:ext cx="6982269" cy="4893304"/>
            <a:chOff x="0" y="0"/>
            <a:chExt cx="9309692" cy="6524405"/>
          </a:xfrm>
        </p:grpSpPr>
        <p:sp>
          <p:nvSpPr>
            <p:cNvPr id="7" name="AutoShape 7"/>
            <p:cNvSpPr/>
            <p:nvPr/>
          </p:nvSpPr>
          <p:spPr>
            <a:xfrm>
              <a:off x="0" y="0"/>
              <a:ext cx="9309692" cy="6524405"/>
            </a:xfrm>
            <a:prstGeom prst="rect">
              <a:avLst/>
            </a:prstGeom>
            <a:solidFill>
              <a:srgbClr val="384F38"/>
            </a:solidFill>
          </p:spPr>
          <p:txBody>
            <a:bodyPr/>
            <a:lstStyle/>
            <a:p>
              <a:endParaRPr lang="en-US"/>
            </a:p>
          </p:txBody>
        </p:sp>
        <p:sp>
          <p:nvSpPr>
            <p:cNvPr id="8" name="TextBox 8"/>
            <p:cNvSpPr txBox="1"/>
            <p:nvPr/>
          </p:nvSpPr>
          <p:spPr>
            <a:xfrm>
              <a:off x="524778" y="609216"/>
              <a:ext cx="8260135" cy="3185541"/>
            </a:xfrm>
            <a:prstGeom prst="rect">
              <a:avLst/>
            </a:prstGeom>
          </p:spPr>
          <p:txBody>
            <a:bodyPr lIns="0" tIns="0" rIns="0" bIns="0" rtlCol="0" anchor="t">
              <a:spAutoFit/>
            </a:bodyPr>
            <a:lstStyle/>
            <a:p>
              <a:pPr marL="0" lvl="0" indent="0" algn="ctr">
                <a:lnSpc>
                  <a:spcPts val="9324"/>
                </a:lnSpc>
              </a:pPr>
              <a:r>
                <a:rPr lang="en-US" sz="8400">
                  <a:solidFill>
                    <a:srgbClr val="FFFFFF"/>
                  </a:solidFill>
                  <a:latin typeface="Rasputin Light"/>
                  <a:ea typeface="Rasputin Light"/>
                  <a:cs typeface="Rasputin Light"/>
                  <a:sym typeface="Rasputin Light"/>
                </a:rPr>
                <a:t>Scenario Modeling</a:t>
              </a:r>
            </a:p>
          </p:txBody>
        </p:sp>
        <p:sp>
          <p:nvSpPr>
            <p:cNvPr id="9" name="TextBox 9"/>
            <p:cNvSpPr txBox="1"/>
            <p:nvPr/>
          </p:nvSpPr>
          <p:spPr>
            <a:xfrm>
              <a:off x="524778" y="4130204"/>
              <a:ext cx="8260135" cy="1851660"/>
            </a:xfrm>
            <a:prstGeom prst="rect">
              <a:avLst/>
            </a:prstGeom>
          </p:spPr>
          <p:txBody>
            <a:bodyPr lIns="0" tIns="0" rIns="0" bIns="0" rtlCol="0" anchor="t">
              <a:spAutoFit/>
            </a:bodyPr>
            <a:lstStyle/>
            <a:p>
              <a:pPr marL="0" lvl="0" indent="0" algn="ctr">
                <a:lnSpc>
                  <a:spcPts val="3780"/>
                </a:lnSpc>
              </a:pPr>
              <a:r>
                <a:rPr lang="en-US" sz="2700">
                  <a:solidFill>
                    <a:srgbClr val="FFFFFF"/>
                  </a:solidFill>
                  <a:latin typeface="TT Commons Pro"/>
                  <a:ea typeface="TT Commons Pro"/>
                  <a:cs typeface="TT Commons Pro"/>
                  <a:sym typeface="TT Commons Pro"/>
                </a:rPr>
                <a:t>I created scenarios to simulate 10%, 20%, and 30% tariff increases for both ad valorem and specific rates.</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4F674F"/>
        </a:solidFill>
        <a:effectLst/>
      </p:bgPr>
    </p:bg>
    <p:spTree>
      <p:nvGrpSpPr>
        <p:cNvPr id="1" name=""/>
        <p:cNvGrpSpPr/>
        <p:nvPr/>
      </p:nvGrpSpPr>
      <p:grpSpPr>
        <a:xfrm>
          <a:off x="0" y="0"/>
          <a:ext cx="0" cy="0"/>
          <a:chOff x="0" y="0"/>
          <a:chExt cx="0" cy="0"/>
        </a:xfrm>
      </p:grpSpPr>
      <p:sp>
        <p:nvSpPr>
          <p:cNvPr id="2" name="Freeform 2" descr="Abstract shapes"/>
          <p:cNvSpPr/>
          <p:nvPr/>
        </p:nvSpPr>
        <p:spPr>
          <a:xfrm>
            <a:off x="-3051543" y="4484428"/>
            <a:ext cx="8857785" cy="8525618"/>
          </a:xfrm>
          <a:custGeom>
            <a:avLst/>
            <a:gdLst/>
            <a:ahLst/>
            <a:cxnLst/>
            <a:rect l="l" t="t" r="r" b="b"/>
            <a:pathLst>
              <a:path w="8857785" h="8525618">
                <a:moveTo>
                  <a:pt x="0" y="0"/>
                </a:moveTo>
                <a:lnTo>
                  <a:pt x="8857785" y="0"/>
                </a:lnTo>
                <a:lnTo>
                  <a:pt x="8857785" y="8525619"/>
                </a:lnTo>
                <a:lnTo>
                  <a:pt x="0" y="8525619"/>
                </a:lnTo>
                <a:lnTo>
                  <a:pt x="0" y="0"/>
                </a:lnTo>
                <a:close/>
              </a:path>
            </a:pathLst>
          </a:custGeom>
          <a:blipFill>
            <a:blip r:embed="rId2">
              <a:alphaModFix amt="21999"/>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AutoShape 3"/>
          <p:cNvSpPr/>
          <p:nvPr/>
        </p:nvSpPr>
        <p:spPr>
          <a:xfrm>
            <a:off x="5358840" y="1108553"/>
            <a:ext cx="11859377" cy="8069894"/>
          </a:xfrm>
          <a:prstGeom prst="rect">
            <a:avLst/>
          </a:prstGeom>
          <a:solidFill>
            <a:srgbClr val="384F38"/>
          </a:solidFill>
        </p:spPr>
        <p:txBody>
          <a:bodyPr/>
          <a:lstStyle/>
          <a:p>
            <a:endParaRPr lang="en-US"/>
          </a:p>
        </p:txBody>
      </p:sp>
      <p:grpSp>
        <p:nvGrpSpPr>
          <p:cNvPr id="4" name="Group 4"/>
          <p:cNvGrpSpPr/>
          <p:nvPr/>
        </p:nvGrpSpPr>
        <p:grpSpPr>
          <a:xfrm>
            <a:off x="5607369" y="1365529"/>
            <a:ext cx="11362320" cy="7555943"/>
            <a:chOff x="0" y="0"/>
            <a:chExt cx="1222256" cy="812800"/>
          </a:xfrm>
        </p:grpSpPr>
        <p:sp>
          <p:nvSpPr>
            <p:cNvPr id="5" name="Freeform 5"/>
            <p:cNvSpPr/>
            <p:nvPr/>
          </p:nvSpPr>
          <p:spPr>
            <a:xfrm>
              <a:off x="0" y="0"/>
              <a:ext cx="1222256" cy="812800"/>
            </a:xfrm>
            <a:custGeom>
              <a:avLst/>
              <a:gdLst/>
              <a:ahLst/>
              <a:cxnLst/>
              <a:rect l="l" t="t" r="r" b="b"/>
              <a:pathLst>
                <a:path w="1222256" h="812800">
                  <a:moveTo>
                    <a:pt x="0" y="0"/>
                  </a:moveTo>
                  <a:lnTo>
                    <a:pt x="1222256" y="0"/>
                  </a:lnTo>
                  <a:lnTo>
                    <a:pt x="1222256" y="812800"/>
                  </a:lnTo>
                  <a:lnTo>
                    <a:pt x="0" y="812800"/>
                  </a:lnTo>
                  <a:close/>
                </a:path>
              </a:pathLst>
            </a:custGeom>
            <a:blipFill>
              <a:blip r:embed="rId4"/>
              <a:stretch>
                <a:fillRect t="-8928" b="-8928"/>
              </a:stretch>
            </a:blipFill>
          </p:spPr>
          <p:txBody>
            <a:bodyPr/>
            <a:lstStyle/>
            <a:p>
              <a:endParaRPr lang="en-US"/>
            </a:p>
          </p:txBody>
        </p:sp>
      </p:grpSp>
      <p:grpSp>
        <p:nvGrpSpPr>
          <p:cNvPr id="6" name="Group 6"/>
          <p:cNvGrpSpPr/>
          <p:nvPr/>
        </p:nvGrpSpPr>
        <p:grpSpPr>
          <a:xfrm>
            <a:off x="537818" y="2951814"/>
            <a:ext cx="8419349" cy="4893304"/>
            <a:chOff x="0" y="0"/>
            <a:chExt cx="11225798" cy="6524405"/>
          </a:xfrm>
        </p:grpSpPr>
        <p:sp>
          <p:nvSpPr>
            <p:cNvPr id="7" name="AutoShape 7"/>
            <p:cNvSpPr/>
            <p:nvPr/>
          </p:nvSpPr>
          <p:spPr>
            <a:xfrm>
              <a:off x="0" y="0"/>
              <a:ext cx="11225798" cy="6524405"/>
            </a:xfrm>
            <a:prstGeom prst="rect">
              <a:avLst/>
            </a:prstGeom>
            <a:solidFill>
              <a:srgbClr val="384F38"/>
            </a:solidFill>
          </p:spPr>
          <p:txBody>
            <a:bodyPr/>
            <a:lstStyle/>
            <a:p>
              <a:endParaRPr lang="en-US"/>
            </a:p>
          </p:txBody>
        </p:sp>
        <p:sp>
          <p:nvSpPr>
            <p:cNvPr id="8" name="TextBox 8"/>
            <p:cNvSpPr txBox="1"/>
            <p:nvPr/>
          </p:nvSpPr>
          <p:spPr>
            <a:xfrm>
              <a:off x="632788" y="609216"/>
              <a:ext cx="9960223" cy="3185541"/>
            </a:xfrm>
            <a:prstGeom prst="rect">
              <a:avLst/>
            </a:prstGeom>
          </p:spPr>
          <p:txBody>
            <a:bodyPr lIns="0" tIns="0" rIns="0" bIns="0" rtlCol="0" anchor="t">
              <a:spAutoFit/>
            </a:bodyPr>
            <a:lstStyle/>
            <a:p>
              <a:pPr marL="0" lvl="0" indent="0" algn="ctr">
                <a:lnSpc>
                  <a:spcPts val="9324"/>
                </a:lnSpc>
              </a:pPr>
              <a:r>
                <a:rPr lang="en-US" sz="8400">
                  <a:solidFill>
                    <a:srgbClr val="FFFFFF"/>
                  </a:solidFill>
                  <a:latin typeface="Rasputin Light"/>
                  <a:ea typeface="Rasputin Light"/>
                  <a:cs typeface="Rasputin Light"/>
                  <a:sym typeface="Rasputin Light"/>
                </a:rPr>
                <a:t>Comparative Analysis</a:t>
              </a:r>
            </a:p>
          </p:txBody>
        </p:sp>
        <p:sp>
          <p:nvSpPr>
            <p:cNvPr id="9" name="TextBox 9"/>
            <p:cNvSpPr txBox="1"/>
            <p:nvPr/>
          </p:nvSpPr>
          <p:spPr>
            <a:xfrm>
              <a:off x="632788" y="4130204"/>
              <a:ext cx="9960223" cy="1851660"/>
            </a:xfrm>
            <a:prstGeom prst="rect">
              <a:avLst/>
            </a:prstGeom>
          </p:spPr>
          <p:txBody>
            <a:bodyPr lIns="0" tIns="0" rIns="0" bIns="0" rtlCol="0" anchor="t">
              <a:spAutoFit/>
            </a:bodyPr>
            <a:lstStyle/>
            <a:p>
              <a:pPr marL="0" lvl="0" indent="0" algn="ctr">
                <a:lnSpc>
                  <a:spcPts val="3779"/>
                </a:lnSpc>
              </a:pPr>
              <a:r>
                <a:rPr lang="en-US" sz="2700">
                  <a:solidFill>
                    <a:srgbClr val="FFFFFF"/>
                  </a:solidFill>
                  <a:latin typeface="TT Commons Pro"/>
                  <a:ea typeface="TT Commons Pro"/>
                  <a:cs typeface="TT Commons Pro"/>
                  <a:sym typeface="TT Commons Pro"/>
                </a:rPr>
                <a:t>I calculated the average tariff rates across product categories and identified the most affected sections</a:t>
              </a: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4F674F"/>
        </a:solidFill>
        <a:effectLst/>
      </p:bgPr>
    </p:bg>
    <p:spTree>
      <p:nvGrpSpPr>
        <p:cNvPr id="1" name=""/>
        <p:cNvGrpSpPr/>
        <p:nvPr/>
      </p:nvGrpSpPr>
      <p:grpSpPr>
        <a:xfrm>
          <a:off x="0" y="0"/>
          <a:ext cx="0" cy="0"/>
          <a:chOff x="0" y="0"/>
          <a:chExt cx="0" cy="0"/>
        </a:xfrm>
      </p:grpSpPr>
      <p:sp>
        <p:nvSpPr>
          <p:cNvPr id="2" name="Freeform 2" descr="Abstract shapes"/>
          <p:cNvSpPr/>
          <p:nvPr/>
        </p:nvSpPr>
        <p:spPr>
          <a:xfrm>
            <a:off x="2981971" y="3851364"/>
            <a:ext cx="5042104" cy="4853025"/>
          </a:xfrm>
          <a:custGeom>
            <a:avLst/>
            <a:gdLst/>
            <a:ahLst/>
            <a:cxnLst/>
            <a:rect l="l" t="t" r="r" b="b"/>
            <a:pathLst>
              <a:path w="5042104" h="4853025">
                <a:moveTo>
                  <a:pt x="0" y="0"/>
                </a:moveTo>
                <a:lnTo>
                  <a:pt x="5042104" y="0"/>
                </a:lnTo>
                <a:lnTo>
                  <a:pt x="5042104" y="4853026"/>
                </a:lnTo>
                <a:lnTo>
                  <a:pt x="0" y="4853026"/>
                </a:lnTo>
                <a:lnTo>
                  <a:pt x="0" y="0"/>
                </a:lnTo>
                <a:close/>
              </a:path>
            </a:pathLst>
          </a:custGeom>
          <a:blipFill>
            <a:blip r:embed="rId2">
              <a:alphaModFix amt="21999"/>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3284373" y="2783104"/>
            <a:ext cx="12021656" cy="6989546"/>
          </a:xfrm>
          <a:custGeom>
            <a:avLst/>
            <a:gdLst/>
            <a:ahLst/>
            <a:cxnLst/>
            <a:rect l="l" t="t" r="r" b="b"/>
            <a:pathLst>
              <a:path w="12021656" h="6989546">
                <a:moveTo>
                  <a:pt x="0" y="0"/>
                </a:moveTo>
                <a:lnTo>
                  <a:pt x="12021656" y="0"/>
                </a:lnTo>
                <a:lnTo>
                  <a:pt x="12021656" y="6989546"/>
                </a:lnTo>
                <a:lnTo>
                  <a:pt x="0" y="6989546"/>
                </a:lnTo>
                <a:lnTo>
                  <a:pt x="0" y="0"/>
                </a:lnTo>
                <a:close/>
              </a:path>
            </a:pathLst>
          </a:custGeom>
          <a:blipFill>
            <a:blip r:embed="rId4"/>
            <a:stretch>
              <a:fillRect b="-2336"/>
            </a:stretch>
          </a:blipFill>
        </p:spPr>
        <p:txBody>
          <a:bodyPr/>
          <a:lstStyle/>
          <a:p>
            <a:endParaRPr lang="en-US"/>
          </a:p>
        </p:txBody>
      </p:sp>
      <p:sp>
        <p:nvSpPr>
          <p:cNvPr id="4" name="TextBox 4"/>
          <p:cNvSpPr txBox="1"/>
          <p:nvPr/>
        </p:nvSpPr>
        <p:spPr>
          <a:xfrm>
            <a:off x="1662964" y="56515"/>
            <a:ext cx="14962072" cy="1111251"/>
          </a:xfrm>
          <a:prstGeom prst="rect">
            <a:avLst/>
          </a:prstGeom>
        </p:spPr>
        <p:txBody>
          <a:bodyPr lIns="0" tIns="0" rIns="0" bIns="0" rtlCol="0" anchor="t">
            <a:spAutoFit/>
          </a:bodyPr>
          <a:lstStyle/>
          <a:p>
            <a:pPr marL="0" lvl="0" indent="0" algn="ctr">
              <a:lnSpc>
                <a:spcPts val="9099"/>
              </a:lnSpc>
              <a:spcBef>
                <a:spcPct val="0"/>
              </a:spcBef>
            </a:pPr>
            <a:r>
              <a:rPr lang="en-US" sz="6499">
                <a:solidFill>
                  <a:srgbClr val="FFFFFF"/>
                </a:solidFill>
                <a:latin typeface="Rasputin Light"/>
                <a:ea typeface="Rasputin Light"/>
                <a:cs typeface="Rasputin Light"/>
                <a:sym typeface="Rasputin Light"/>
              </a:rPr>
              <a:t>Comparative Analysis cont.</a:t>
            </a:r>
          </a:p>
        </p:txBody>
      </p:sp>
      <p:sp>
        <p:nvSpPr>
          <p:cNvPr id="5" name="TextBox 5"/>
          <p:cNvSpPr txBox="1"/>
          <p:nvPr/>
        </p:nvSpPr>
        <p:spPr>
          <a:xfrm>
            <a:off x="463002" y="1120141"/>
            <a:ext cx="17361995" cy="1298576"/>
          </a:xfrm>
          <a:prstGeom prst="rect">
            <a:avLst/>
          </a:prstGeom>
        </p:spPr>
        <p:txBody>
          <a:bodyPr lIns="0" tIns="0" rIns="0" bIns="0" rtlCol="0" anchor="t">
            <a:spAutoFit/>
          </a:bodyPr>
          <a:lstStyle/>
          <a:p>
            <a:pPr marL="0" lvl="0" indent="0" algn="ctr">
              <a:lnSpc>
                <a:spcPts val="3499"/>
              </a:lnSpc>
              <a:spcBef>
                <a:spcPct val="0"/>
              </a:spcBef>
            </a:pPr>
            <a:r>
              <a:rPr lang="en-US" sz="2499">
                <a:solidFill>
                  <a:srgbClr val="FFFFFF"/>
                </a:solidFill>
                <a:latin typeface="TT Commons Pro"/>
                <a:ea typeface="TT Commons Pro"/>
                <a:cs typeface="TT Commons Pro"/>
                <a:sym typeface="TT Commons Pro"/>
              </a:rPr>
              <a:t>This chart shows how increasing tariffs by 10%, 20%, and 30% affects different types of products imported from China and Mexico. Each bar represents the added cost due to the tariff increases. For example, categories like food, mineral products, and medical instruments see the biggest increases,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B7CDB7"/>
        </a:solidFill>
        <a:effectLst/>
      </p:bgPr>
    </p:bg>
    <p:spTree>
      <p:nvGrpSpPr>
        <p:cNvPr id="1" name=""/>
        <p:cNvGrpSpPr/>
        <p:nvPr/>
      </p:nvGrpSpPr>
      <p:grpSpPr>
        <a:xfrm>
          <a:off x="0" y="0"/>
          <a:ext cx="0" cy="0"/>
          <a:chOff x="0" y="0"/>
          <a:chExt cx="0" cy="0"/>
        </a:xfrm>
      </p:grpSpPr>
      <p:sp>
        <p:nvSpPr>
          <p:cNvPr id="2" name="Freeform 2" descr="green organic shape"/>
          <p:cNvSpPr/>
          <p:nvPr/>
        </p:nvSpPr>
        <p:spPr>
          <a:xfrm rot="2068842">
            <a:off x="-4611311" y="-1362269"/>
            <a:ext cx="8901994" cy="10457555"/>
          </a:xfrm>
          <a:custGeom>
            <a:avLst/>
            <a:gdLst/>
            <a:ahLst/>
            <a:cxnLst/>
            <a:rect l="l" t="t" r="r" b="b"/>
            <a:pathLst>
              <a:path w="8901994" h="10457555">
                <a:moveTo>
                  <a:pt x="0" y="0"/>
                </a:moveTo>
                <a:lnTo>
                  <a:pt x="8901994" y="0"/>
                </a:lnTo>
                <a:lnTo>
                  <a:pt x="8901994" y="10457555"/>
                </a:lnTo>
                <a:lnTo>
                  <a:pt x="0" y="10457555"/>
                </a:lnTo>
                <a:lnTo>
                  <a:pt x="0" y="0"/>
                </a:lnTo>
                <a:close/>
              </a:path>
            </a:pathLst>
          </a:custGeom>
          <a:blipFill>
            <a:blip r:embed="rId2">
              <a:alphaModFix amt="21999"/>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descr="lined abstract shape"/>
          <p:cNvSpPr/>
          <p:nvPr/>
        </p:nvSpPr>
        <p:spPr>
          <a:xfrm rot="6787978">
            <a:off x="13094258" y="-4595393"/>
            <a:ext cx="7755409" cy="12292435"/>
          </a:xfrm>
          <a:custGeom>
            <a:avLst/>
            <a:gdLst/>
            <a:ahLst/>
            <a:cxnLst/>
            <a:rect l="l" t="t" r="r" b="b"/>
            <a:pathLst>
              <a:path w="7755409" h="12292435">
                <a:moveTo>
                  <a:pt x="0" y="0"/>
                </a:moveTo>
                <a:lnTo>
                  <a:pt x="7755409" y="0"/>
                </a:lnTo>
                <a:lnTo>
                  <a:pt x="7755409" y="12292435"/>
                </a:lnTo>
                <a:lnTo>
                  <a:pt x="0" y="1229243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4" name="Group 4"/>
          <p:cNvGrpSpPr/>
          <p:nvPr/>
        </p:nvGrpSpPr>
        <p:grpSpPr>
          <a:xfrm>
            <a:off x="2090344" y="2147396"/>
            <a:ext cx="5945515" cy="5528298"/>
            <a:chOff x="0" y="0"/>
            <a:chExt cx="812800" cy="755763"/>
          </a:xfrm>
        </p:grpSpPr>
        <p:sp>
          <p:nvSpPr>
            <p:cNvPr id="5" name="Freeform 5"/>
            <p:cNvSpPr/>
            <p:nvPr/>
          </p:nvSpPr>
          <p:spPr>
            <a:xfrm>
              <a:off x="0" y="0"/>
              <a:ext cx="812800" cy="755763"/>
            </a:xfrm>
            <a:custGeom>
              <a:avLst/>
              <a:gdLst/>
              <a:ahLst/>
              <a:cxnLst/>
              <a:rect l="l" t="t" r="r" b="b"/>
              <a:pathLst>
                <a:path w="812800" h="755763">
                  <a:moveTo>
                    <a:pt x="0" y="0"/>
                  </a:moveTo>
                  <a:lnTo>
                    <a:pt x="812800" y="0"/>
                  </a:lnTo>
                  <a:lnTo>
                    <a:pt x="812800" y="755763"/>
                  </a:lnTo>
                  <a:lnTo>
                    <a:pt x="0" y="755763"/>
                  </a:lnTo>
                  <a:close/>
                </a:path>
              </a:pathLst>
            </a:custGeom>
            <a:blipFill>
              <a:blip r:embed="rId6"/>
              <a:stretch>
                <a:fillRect r="-29118" b="-17338"/>
              </a:stretch>
            </a:blipFill>
          </p:spPr>
          <p:txBody>
            <a:bodyPr/>
            <a:lstStyle/>
            <a:p>
              <a:endParaRPr lang="en-US"/>
            </a:p>
          </p:txBody>
        </p:sp>
      </p:grpSp>
      <p:grpSp>
        <p:nvGrpSpPr>
          <p:cNvPr id="6" name="Group 6"/>
          <p:cNvGrpSpPr/>
          <p:nvPr/>
        </p:nvGrpSpPr>
        <p:grpSpPr>
          <a:xfrm>
            <a:off x="10688752" y="2147396"/>
            <a:ext cx="5528298" cy="5528298"/>
            <a:chOff x="0" y="0"/>
            <a:chExt cx="812800" cy="812800"/>
          </a:xfrm>
        </p:grpSpPr>
        <p:sp>
          <p:nvSpPr>
            <p:cNvPr id="7" name="Freeform 7"/>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blipFill>
              <a:blip r:embed="rId7"/>
              <a:stretch>
                <a:fillRect t="-12500" b="-12500"/>
              </a:stretch>
            </a:blipFill>
          </p:spPr>
          <p:txBody>
            <a:bodyPr/>
            <a:lstStyle/>
            <a:p>
              <a:endParaRPr lang="en-US"/>
            </a:p>
          </p:txBody>
        </p:sp>
      </p:grpSp>
      <p:grpSp>
        <p:nvGrpSpPr>
          <p:cNvPr id="8" name="Group 8"/>
          <p:cNvGrpSpPr/>
          <p:nvPr/>
        </p:nvGrpSpPr>
        <p:grpSpPr>
          <a:xfrm>
            <a:off x="2164013" y="8092911"/>
            <a:ext cx="5871846" cy="1123048"/>
            <a:chOff x="0" y="0"/>
            <a:chExt cx="7829128" cy="1497398"/>
          </a:xfrm>
        </p:grpSpPr>
        <p:sp>
          <p:nvSpPr>
            <p:cNvPr id="9" name="TextBox 9"/>
            <p:cNvSpPr txBox="1"/>
            <p:nvPr/>
          </p:nvSpPr>
          <p:spPr>
            <a:xfrm>
              <a:off x="0" y="963412"/>
              <a:ext cx="7829128" cy="533985"/>
            </a:xfrm>
            <a:prstGeom prst="rect">
              <a:avLst/>
            </a:prstGeom>
          </p:spPr>
          <p:txBody>
            <a:bodyPr lIns="0" tIns="0" rIns="0" bIns="0" rtlCol="0" anchor="t">
              <a:spAutoFit/>
            </a:bodyPr>
            <a:lstStyle/>
            <a:p>
              <a:pPr marL="0" lvl="0" indent="0" algn="ctr">
                <a:lnSpc>
                  <a:spcPts val="3450"/>
                </a:lnSpc>
              </a:pPr>
              <a:r>
                <a:rPr lang="en-US" sz="2300">
                  <a:solidFill>
                    <a:srgbClr val="142414"/>
                  </a:solidFill>
                  <a:latin typeface="TT Commons Pro"/>
                  <a:ea typeface="TT Commons Pro"/>
                  <a:cs typeface="TT Commons Pro"/>
                  <a:sym typeface="TT Commons Pro"/>
                </a:rPr>
                <a:t>Briefly elaborate on what you want to discuss. </a:t>
              </a:r>
            </a:p>
          </p:txBody>
        </p:sp>
        <p:sp>
          <p:nvSpPr>
            <p:cNvPr id="10" name="TextBox 10"/>
            <p:cNvSpPr txBox="1"/>
            <p:nvPr/>
          </p:nvSpPr>
          <p:spPr>
            <a:xfrm>
              <a:off x="0" y="-47625"/>
              <a:ext cx="7829128" cy="657225"/>
            </a:xfrm>
            <a:prstGeom prst="rect">
              <a:avLst/>
            </a:prstGeom>
          </p:spPr>
          <p:txBody>
            <a:bodyPr lIns="0" tIns="0" rIns="0" bIns="0" rtlCol="0" anchor="t">
              <a:spAutoFit/>
            </a:bodyPr>
            <a:lstStyle/>
            <a:p>
              <a:pPr algn="ctr">
                <a:lnSpc>
                  <a:spcPts val="3900"/>
                </a:lnSpc>
              </a:pPr>
              <a:r>
                <a:rPr lang="en-US" sz="3000">
                  <a:solidFill>
                    <a:srgbClr val="142414"/>
                  </a:solidFill>
                  <a:latin typeface="Rasputin Light"/>
                  <a:ea typeface="Rasputin Light"/>
                  <a:cs typeface="Rasputin Light"/>
                  <a:sym typeface="Rasputin Light"/>
                </a:rPr>
                <a:t>key impacted sections</a:t>
              </a:r>
            </a:p>
          </p:txBody>
        </p:sp>
      </p:grpSp>
      <p:grpSp>
        <p:nvGrpSpPr>
          <p:cNvPr id="11" name="Group 11"/>
          <p:cNvGrpSpPr/>
          <p:nvPr/>
        </p:nvGrpSpPr>
        <p:grpSpPr>
          <a:xfrm>
            <a:off x="10516978" y="8092911"/>
            <a:ext cx="5871846" cy="1123048"/>
            <a:chOff x="0" y="0"/>
            <a:chExt cx="7829128" cy="1497398"/>
          </a:xfrm>
        </p:grpSpPr>
        <p:sp>
          <p:nvSpPr>
            <p:cNvPr id="12" name="TextBox 12"/>
            <p:cNvSpPr txBox="1"/>
            <p:nvPr/>
          </p:nvSpPr>
          <p:spPr>
            <a:xfrm>
              <a:off x="0" y="963412"/>
              <a:ext cx="7829128" cy="533985"/>
            </a:xfrm>
            <a:prstGeom prst="rect">
              <a:avLst/>
            </a:prstGeom>
          </p:spPr>
          <p:txBody>
            <a:bodyPr lIns="0" tIns="0" rIns="0" bIns="0" rtlCol="0" anchor="t">
              <a:spAutoFit/>
            </a:bodyPr>
            <a:lstStyle/>
            <a:p>
              <a:pPr marL="0" lvl="0" indent="0" algn="ctr">
                <a:lnSpc>
                  <a:spcPts val="3450"/>
                </a:lnSpc>
              </a:pPr>
              <a:r>
                <a:rPr lang="en-US" sz="2300">
                  <a:solidFill>
                    <a:srgbClr val="142414"/>
                  </a:solidFill>
                  <a:latin typeface="TT Commons Pro"/>
                  <a:ea typeface="TT Commons Pro"/>
                  <a:cs typeface="TT Commons Pro"/>
                  <a:sym typeface="TT Commons Pro"/>
                </a:rPr>
                <a:t>Briefly elaborate on what you want to discuss. </a:t>
              </a:r>
            </a:p>
          </p:txBody>
        </p:sp>
        <p:sp>
          <p:nvSpPr>
            <p:cNvPr id="13" name="TextBox 13"/>
            <p:cNvSpPr txBox="1"/>
            <p:nvPr/>
          </p:nvSpPr>
          <p:spPr>
            <a:xfrm>
              <a:off x="0" y="-47625"/>
              <a:ext cx="7829128" cy="657225"/>
            </a:xfrm>
            <a:prstGeom prst="rect">
              <a:avLst/>
            </a:prstGeom>
          </p:spPr>
          <p:txBody>
            <a:bodyPr lIns="0" tIns="0" rIns="0" bIns="0" rtlCol="0" anchor="t">
              <a:spAutoFit/>
            </a:bodyPr>
            <a:lstStyle/>
            <a:p>
              <a:pPr algn="ctr">
                <a:lnSpc>
                  <a:spcPts val="3900"/>
                </a:lnSpc>
              </a:pPr>
              <a:r>
                <a:rPr lang="en-US" sz="3000">
                  <a:solidFill>
                    <a:srgbClr val="142414"/>
                  </a:solidFill>
                  <a:latin typeface="Rasputin Light"/>
                  <a:ea typeface="Rasputin Light"/>
                  <a:cs typeface="Rasputin Light"/>
                  <a:sym typeface="Rasputin Light"/>
                </a:rPr>
                <a:t>Real world example</a:t>
              </a:r>
            </a:p>
          </p:txBody>
        </p:sp>
      </p:grpSp>
      <p:sp>
        <p:nvSpPr>
          <p:cNvPr id="14" name="TextBox 14"/>
          <p:cNvSpPr txBox="1"/>
          <p:nvPr/>
        </p:nvSpPr>
        <p:spPr>
          <a:xfrm>
            <a:off x="2240421" y="1028700"/>
            <a:ext cx="13807158" cy="981075"/>
          </a:xfrm>
          <a:prstGeom prst="rect">
            <a:avLst/>
          </a:prstGeom>
        </p:spPr>
        <p:txBody>
          <a:bodyPr lIns="0" tIns="0" rIns="0" bIns="0" rtlCol="0" anchor="t">
            <a:spAutoFit/>
          </a:bodyPr>
          <a:lstStyle/>
          <a:p>
            <a:pPr algn="ctr">
              <a:lnSpc>
                <a:spcPts val="7799"/>
              </a:lnSpc>
            </a:pPr>
            <a:r>
              <a:rPr lang="en-US" sz="6499">
                <a:solidFill>
                  <a:srgbClr val="142414"/>
                </a:solidFill>
                <a:latin typeface="Rasputin Light"/>
                <a:ea typeface="Rasputin Light"/>
                <a:cs typeface="Rasputin Light"/>
                <a:sym typeface="Rasputin Light"/>
              </a:rPr>
              <a:t>Findings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4F674F"/>
        </a:solidFill>
        <a:effectLst/>
      </p:bgPr>
    </p:bg>
    <p:spTree>
      <p:nvGrpSpPr>
        <p:cNvPr id="1" name=""/>
        <p:cNvGrpSpPr/>
        <p:nvPr/>
      </p:nvGrpSpPr>
      <p:grpSpPr>
        <a:xfrm>
          <a:off x="0" y="0"/>
          <a:ext cx="0" cy="0"/>
          <a:chOff x="0" y="0"/>
          <a:chExt cx="0" cy="0"/>
        </a:xfrm>
      </p:grpSpPr>
      <p:sp>
        <p:nvSpPr>
          <p:cNvPr id="2" name="Freeform 2" descr="Abstract Shape"/>
          <p:cNvSpPr/>
          <p:nvPr/>
        </p:nvSpPr>
        <p:spPr>
          <a:xfrm rot="3595009">
            <a:off x="11667807" y="-2491199"/>
            <a:ext cx="10836480" cy="7395897"/>
          </a:xfrm>
          <a:custGeom>
            <a:avLst/>
            <a:gdLst/>
            <a:ahLst/>
            <a:cxnLst/>
            <a:rect l="l" t="t" r="r" b="b"/>
            <a:pathLst>
              <a:path w="10836480" h="7395897">
                <a:moveTo>
                  <a:pt x="0" y="0"/>
                </a:moveTo>
                <a:lnTo>
                  <a:pt x="10836479" y="0"/>
                </a:lnTo>
                <a:lnTo>
                  <a:pt x="10836479" y="7395898"/>
                </a:lnTo>
                <a:lnTo>
                  <a:pt x="0" y="739589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descr="Abstract Shape"/>
          <p:cNvSpPr/>
          <p:nvPr/>
        </p:nvSpPr>
        <p:spPr>
          <a:xfrm rot="3921556">
            <a:off x="-3704253" y="5881126"/>
            <a:ext cx="10836480" cy="7395897"/>
          </a:xfrm>
          <a:custGeom>
            <a:avLst/>
            <a:gdLst/>
            <a:ahLst/>
            <a:cxnLst/>
            <a:rect l="l" t="t" r="r" b="b"/>
            <a:pathLst>
              <a:path w="10836480" h="7395897">
                <a:moveTo>
                  <a:pt x="0" y="0"/>
                </a:moveTo>
                <a:lnTo>
                  <a:pt x="10836480" y="0"/>
                </a:lnTo>
                <a:lnTo>
                  <a:pt x="10836480" y="7395897"/>
                </a:lnTo>
                <a:lnTo>
                  <a:pt x="0" y="73958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aphicFrame>
        <p:nvGraphicFramePr>
          <p:cNvPr id="4" name="Table 4"/>
          <p:cNvGraphicFramePr>
            <a:graphicFrameLocks noGrp="1"/>
          </p:cNvGraphicFramePr>
          <p:nvPr/>
        </p:nvGraphicFramePr>
        <p:xfrm>
          <a:off x="657841" y="4292516"/>
          <a:ext cx="17064447" cy="5711358"/>
        </p:xfrm>
        <a:graphic>
          <a:graphicData uri="http://schemas.openxmlformats.org/drawingml/2006/table">
            <a:tbl>
              <a:tblPr/>
              <a:tblGrid>
                <a:gridCol w="3952311">
                  <a:extLst>
                    <a:ext uri="{9D8B030D-6E8A-4147-A177-3AD203B41FA5}">
                      <a16:colId xmlns:a16="http://schemas.microsoft.com/office/drawing/2014/main" val="20000"/>
                    </a:ext>
                  </a:extLst>
                </a:gridCol>
                <a:gridCol w="2153820">
                  <a:extLst>
                    <a:ext uri="{9D8B030D-6E8A-4147-A177-3AD203B41FA5}">
                      <a16:colId xmlns:a16="http://schemas.microsoft.com/office/drawing/2014/main" val="20001"/>
                    </a:ext>
                  </a:extLst>
                </a:gridCol>
                <a:gridCol w="2119596">
                  <a:extLst>
                    <a:ext uri="{9D8B030D-6E8A-4147-A177-3AD203B41FA5}">
                      <a16:colId xmlns:a16="http://schemas.microsoft.com/office/drawing/2014/main" val="20002"/>
                    </a:ext>
                  </a:extLst>
                </a:gridCol>
                <a:gridCol w="2836667">
                  <a:extLst>
                    <a:ext uri="{9D8B030D-6E8A-4147-A177-3AD203B41FA5}">
                      <a16:colId xmlns:a16="http://schemas.microsoft.com/office/drawing/2014/main" val="20003"/>
                    </a:ext>
                  </a:extLst>
                </a:gridCol>
                <a:gridCol w="2976775">
                  <a:extLst>
                    <a:ext uri="{9D8B030D-6E8A-4147-A177-3AD203B41FA5}">
                      <a16:colId xmlns:a16="http://schemas.microsoft.com/office/drawing/2014/main" val="20004"/>
                    </a:ext>
                  </a:extLst>
                </a:gridCol>
                <a:gridCol w="3025278">
                  <a:extLst>
                    <a:ext uri="{9D8B030D-6E8A-4147-A177-3AD203B41FA5}">
                      <a16:colId xmlns:a16="http://schemas.microsoft.com/office/drawing/2014/main" val="20005"/>
                    </a:ext>
                  </a:extLst>
                </a:gridCol>
              </a:tblGrid>
              <a:tr h="1192740">
                <a:tc>
                  <a:txBody>
                    <a:bodyPr/>
                    <a:lstStyle/>
                    <a:p>
                      <a:pPr marL="0" lvl="0" indent="0" algn="ctr">
                        <a:lnSpc>
                          <a:spcPts val="3580"/>
                        </a:lnSpc>
                        <a:spcBef>
                          <a:spcPct val="0"/>
                        </a:spcBef>
                        <a:defRPr/>
                      </a:pPr>
                      <a:r>
                        <a:rPr lang="en-US" sz="2557" b="1" u="none" strike="noStrike">
                          <a:solidFill>
                            <a:srgbClr val="FFFFFF"/>
                          </a:solidFill>
                          <a:latin typeface="Rasputin Light Bold"/>
                          <a:ea typeface="Rasputin Light Bold"/>
                          <a:cs typeface="Rasputin Light Bold"/>
                          <a:sym typeface="Rasputin Light Bold"/>
                        </a:rPr>
                        <a:t>Section</a:t>
                      </a:r>
                      <a:endParaRPr lang="en-US" sz="1100"/>
                    </a:p>
                  </a:txBody>
                  <a:tcPr marL="95250" marR="95250" marT="95250" marB="95250" anchor="ctr">
                    <a:lnL w="0" cap="flat" cmpd="sng" algn="ctr">
                      <a:solidFill>
                        <a:srgbClr val="678067"/>
                      </a:solidFill>
                      <a:prstDash val="solid"/>
                      <a:round/>
                      <a:headEnd type="none" w="med" len="med"/>
                      <a:tailEnd type="none" w="med" len="med"/>
                    </a:lnL>
                    <a:lnR w="0" cap="flat" cmpd="sng" algn="ctr">
                      <a:solidFill>
                        <a:srgbClr val="678067"/>
                      </a:solidFill>
                      <a:prstDash val="solid"/>
                      <a:round/>
                      <a:headEnd type="none" w="med" len="med"/>
                      <a:tailEnd type="none" w="med" len="med"/>
                    </a:lnR>
                    <a:lnT w="0" cap="flat" cmpd="sng" algn="ctr">
                      <a:solidFill>
                        <a:srgbClr val="678067"/>
                      </a:solidFill>
                      <a:prstDash val="solid"/>
                      <a:round/>
                      <a:headEnd type="none" w="med" len="med"/>
                      <a:tailEnd type="none" w="med" len="med"/>
                    </a:lnT>
                    <a:lnB w="9525" cap="flat" cmpd="sng" algn="ctr">
                      <a:solidFill>
                        <a:srgbClr val="678067"/>
                      </a:solidFill>
                      <a:prstDash val="solid"/>
                      <a:round/>
                      <a:headEnd type="none" w="med" len="med"/>
                      <a:tailEnd type="none" w="med" len="med"/>
                    </a:lnB>
                    <a:solidFill>
                      <a:srgbClr val="1B2E22"/>
                    </a:solidFill>
                  </a:tcPr>
                </a:tc>
                <a:tc>
                  <a:txBody>
                    <a:bodyPr/>
                    <a:lstStyle/>
                    <a:p>
                      <a:pPr marL="0" lvl="0" indent="0" algn="ctr">
                        <a:lnSpc>
                          <a:spcPts val="3580"/>
                        </a:lnSpc>
                        <a:spcBef>
                          <a:spcPct val="0"/>
                        </a:spcBef>
                        <a:defRPr/>
                      </a:pPr>
                      <a:r>
                        <a:rPr lang="en-US" sz="2557" b="1" u="none" strike="noStrike">
                          <a:solidFill>
                            <a:srgbClr val="FFFFFF"/>
                          </a:solidFill>
                          <a:latin typeface="Rasputin Light Bold"/>
                          <a:ea typeface="Rasputin Light Bold"/>
                          <a:cs typeface="Rasputin Light Bold"/>
                          <a:sym typeface="Rasputin Light Bold"/>
                        </a:rPr>
                        <a:t>Country</a:t>
                      </a:r>
                      <a:endParaRPr lang="en-US" sz="1100"/>
                    </a:p>
                  </a:txBody>
                  <a:tcPr marL="95250" marR="95250" marT="95250" marB="95250" anchor="ctr">
                    <a:lnL w="0" cap="flat" cmpd="sng" algn="ctr">
                      <a:solidFill>
                        <a:srgbClr val="678067"/>
                      </a:solidFill>
                      <a:prstDash val="solid"/>
                      <a:round/>
                      <a:headEnd type="none" w="med" len="med"/>
                      <a:tailEnd type="none" w="med" len="med"/>
                    </a:lnL>
                    <a:lnR w="0" cap="flat" cmpd="sng" algn="ctr">
                      <a:solidFill>
                        <a:srgbClr val="678067"/>
                      </a:solidFill>
                      <a:prstDash val="solid"/>
                      <a:round/>
                      <a:headEnd type="none" w="med" len="med"/>
                      <a:tailEnd type="none" w="med" len="med"/>
                    </a:lnR>
                    <a:lnT w="0" cap="flat" cmpd="sng" algn="ctr">
                      <a:solidFill>
                        <a:srgbClr val="678067"/>
                      </a:solidFill>
                      <a:prstDash val="solid"/>
                      <a:round/>
                      <a:headEnd type="none" w="med" len="med"/>
                      <a:tailEnd type="none" w="med" len="med"/>
                    </a:lnT>
                    <a:lnB w="9525" cap="flat" cmpd="sng" algn="ctr">
                      <a:solidFill>
                        <a:srgbClr val="678067"/>
                      </a:solidFill>
                      <a:prstDash val="solid"/>
                      <a:round/>
                      <a:headEnd type="none" w="med" len="med"/>
                      <a:tailEnd type="none" w="med" len="med"/>
                    </a:lnB>
                    <a:solidFill>
                      <a:srgbClr val="1B2E22"/>
                    </a:solidFill>
                  </a:tcPr>
                </a:tc>
                <a:tc>
                  <a:txBody>
                    <a:bodyPr/>
                    <a:lstStyle/>
                    <a:p>
                      <a:pPr marL="0" lvl="0" indent="0" algn="ctr">
                        <a:lnSpc>
                          <a:spcPts val="3580"/>
                        </a:lnSpc>
                        <a:spcBef>
                          <a:spcPct val="0"/>
                        </a:spcBef>
                        <a:defRPr/>
                      </a:pPr>
                      <a:r>
                        <a:rPr lang="en-US" sz="2557" b="1" u="none" strike="noStrike">
                          <a:solidFill>
                            <a:srgbClr val="FFFFFF"/>
                          </a:solidFill>
                          <a:latin typeface="Rasputin Light Bold"/>
                          <a:ea typeface="Rasputin Light Bold"/>
                          <a:cs typeface="Rasputin Light Bold"/>
                          <a:sym typeface="Rasputin Light Bold"/>
                        </a:rPr>
                        <a:t>Baseline Tariff Rate</a:t>
                      </a:r>
                      <a:endParaRPr lang="en-US" sz="1100"/>
                    </a:p>
                  </a:txBody>
                  <a:tcPr marL="95250" marR="95250" marT="95250" marB="95250" anchor="ctr">
                    <a:lnL w="0" cap="flat" cmpd="sng" algn="ctr">
                      <a:solidFill>
                        <a:srgbClr val="678067"/>
                      </a:solidFill>
                      <a:prstDash val="solid"/>
                      <a:round/>
                      <a:headEnd type="none" w="med" len="med"/>
                      <a:tailEnd type="none" w="med" len="med"/>
                    </a:lnL>
                    <a:lnR w="0" cap="flat" cmpd="sng" algn="ctr">
                      <a:solidFill>
                        <a:srgbClr val="678067"/>
                      </a:solidFill>
                      <a:prstDash val="solid"/>
                      <a:round/>
                      <a:headEnd type="none" w="med" len="med"/>
                      <a:tailEnd type="none" w="med" len="med"/>
                    </a:lnR>
                    <a:lnT w="0" cap="flat" cmpd="sng" algn="ctr">
                      <a:solidFill>
                        <a:srgbClr val="678067"/>
                      </a:solidFill>
                      <a:prstDash val="solid"/>
                      <a:round/>
                      <a:headEnd type="none" w="med" len="med"/>
                      <a:tailEnd type="none" w="med" len="med"/>
                    </a:lnT>
                    <a:lnB w="9525" cap="flat" cmpd="sng" algn="ctr">
                      <a:solidFill>
                        <a:srgbClr val="678067"/>
                      </a:solidFill>
                      <a:prstDash val="solid"/>
                      <a:round/>
                      <a:headEnd type="none" w="med" len="med"/>
                      <a:tailEnd type="none" w="med" len="med"/>
                    </a:lnB>
                    <a:solidFill>
                      <a:srgbClr val="1B2E22"/>
                    </a:solidFill>
                  </a:tcPr>
                </a:tc>
                <a:tc>
                  <a:txBody>
                    <a:bodyPr/>
                    <a:lstStyle/>
                    <a:p>
                      <a:pPr marL="0" lvl="0" indent="0" algn="ctr">
                        <a:lnSpc>
                          <a:spcPts val="3580"/>
                        </a:lnSpc>
                        <a:spcBef>
                          <a:spcPct val="0"/>
                        </a:spcBef>
                        <a:defRPr/>
                      </a:pPr>
                      <a:r>
                        <a:rPr lang="en-US" sz="2557" b="1" u="none" strike="noStrike">
                          <a:solidFill>
                            <a:srgbClr val="FFFFFF"/>
                          </a:solidFill>
                          <a:latin typeface="Rasputin Light Bold"/>
                          <a:ea typeface="Rasputin Light Bold"/>
                          <a:cs typeface="Rasputin Light Bold"/>
                          <a:sym typeface="Rasputin Light Bold"/>
                        </a:rPr>
                        <a:t>10% Increase</a:t>
                      </a:r>
                      <a:endParaRPr lang="en-US" sz="1100"/>
                    </a:p>
                  </a:txBody>
                  <a:tcPr marL="95250" marR="95250" marT="95250" marB="95250" anchor="ctr">
                    <a:lnL w="0" cap="flat" cmpd="sng" algn="ctr">
                      <a:solidFill>
                        <a:srgbClr val="678067"/>
                      </a:solidFill>
                      <a:prstDash val="solid"/>
                      <a:round/>
                      <a:headEnd type="none" w="med" len="med"/>
                      <a:tailEnd type="none" w="med" len="med"/>
                    </a:lnL>
                    <a:lnR w="0" cap="flat" cmpd="sng" algn="ctr">
                      <a:solidFill>
                        <a:srgbClr val="678067"/>
                      </a:solidFill>
                      <a:prstDash val="solid"/>
                      <a:round/>
                      <a:headEnd type="none" w="med" len="med"/>
                      <a:tailEnd type="none" w="med" len="med"/>
                    </a:lnR>
                    <a:lnT w="0" cap="flat" cmpd="sng" algn="ctr">
                      <a:solidFill>
                        <a:srgbClr val="678067"/>
                      </a:solidFill>
                      <a:prstDash val="solid"/>
                      <a:round/>
                      <a:headEnd type="none" w="med" len="med"/>
                      <a:tailEnd type="none" w="med" len="med"/>
                    </a:lnT>
                    <a:lnB w="9525" cap="flat" cmpd="sng" algn="ctr">
                      <a:solidFill>
                        <a:srgbClr val="678067"/>
                      </a:solidFill>
                      <a:prstDash val="solid"/>
                      <a:round/>
                      <a:headEnd type="none" w="med" len="med"/>
                      <a:tailEnd type="none" w="med" len="med"/>
                    </a:lnB>
                    <a:solidFill>
                      <a:srgbClr val="1B2E22"/>
                    </a:solidFill>
                  </a:tcPr>
                </a:tc>
                <a:tc>
                  <a:txBody>
                    <a:bodyPr/>
                    <a:lstStyle/>
                    <a:p>
                      <a:pPr marL="0" lvl="0" indent="0" algn="ctr">
                        <a:lnSpc>
                          <a:spcPts val="3580"/>
                        </a:lnSpc>
                        <a:spcBef>
                          <a:spcPct val="0"/>
                        </a:spcBef>
                        <a:defRPr/>
                      </a:pPr>
                      <a:r>
                        <a:rPr lang="en-US" sz="2557" b="1" u="none" strike="noStrike">
                          <a:solidFill>
                            <a:srgbClr val="FFFFFF"/>
                          </a:solidFill>
                          <a:latin typeface="Rasputin Light Bold"/>
                          <a:ea typeface="Rasputin Light Bold"/>
                          <a:cs typeface="Rasputin Light Bold"/>
                          <a:sym typeface="Rasputin Light Bold"/>
                        </a:rPr>
                        <a:t>20% Increase</a:t>
                      </a:r>
                      <a:endParaRPr lang="en-US" sz="1100"/>
                    </a:p>
                  </a:txBody>
                  <a:tcPr marL="95250" marR="95250" marT="95250" marB="95250" anchor="ctr">
                    <a:lnL w="0" cap="flat" cmpd="sng" algn="ctr">
                      <a:solidFill>
                        <a:srgbClr val="678067"/>
                      </a:solidFill>
                      <a:prstDash val="solid"/>
                      <a:round/>
                      <a:headEnd type="none" w="med" len="med"/>
                      <a:tailEnd type="none" w="med" len="med"/>
                    </a:lnL>
                    <a:lnR w="0" cap="flat" cmpd="sng" algn="ctr">
                      <a:solidFill>
                        <a:srgbClr val="678067"/>
                      </a:solidFill>
                      <a:prstDash val="solid"/>
                      <a:round/>
                      <a:headEnd type="none" w="med" len="med"/>
                      <a:tailEnd type="none" w="med" len="med"/>
                    </a:lnR>
                    <a:lnT w="0" cap="flat" cmpd="sng" algn="ctr">
                      <a:solidFill>
                        <a:srgbClr val="678067"/>
                      </a:solidFill>
                      <a:prstDash val="solid"/>
                      <a:round/>
                      <a:headEnd type="none" w="med" len="med"/>
                      <a:tailEnd type="none" w="med" len="med"/>
                    </a:lnT>
                    <a:lnB w="9525" cap="flat" cmpd="sng" algn="ctr">
                      <a:solidFill>
                        <a:srgbClr val="678067"/>
                      </a:solidFill>
                      <a:prstDash val="solid"/>
                      <a:round/>
                      <a:headEnd type="none" w="med" len="med"/>
                      <a:tailEnd type="none" w="med" len="med"/>
                    </a:lnB>
                    <a:solidFill>
                      <a:srgbClr val="1B2E22"/>
                    </a:solidFill>
                  </a:tcPr>
                </a:tc>
                <a:tc>
                  <a:txBody>
                    <a:bodyPr/>
                    <a:lstStyle/>
                    <a:p>
                      <a:pPr marL="0" lvl="0" indent="0" algn="ctr">
                        <a:lnSpc>
                          <a:spcPts val="3580"/>
                        </a:lnSpc>
                        <a:spcBef>
                          <a:spcPct val="0"/>
                        </a:spcBef>
                        <a:defRPr/>
                      </a:pPr>
                      <a:r>
                        <a:rPr lang="en-US" sz="2557" b="1" u="none" strike="noStrike">
                          <a:solidFill>
                            <a:srgbClr val="FFFFFF"/>
                          </a:solidFill>
                          <a:latin typeface="Rasputin Light Bold"/>
                          <a:ea typeface="Rasputin Light Bold"/>
                          <a:cs typeface="Rasputin Light Bold"/>
                          <a:sym typeface="Rasputin Light Bold"/>
                        </a:rPr>
                        <a:t>30% Increase</a:t>
                      </a:r>
                      <a:endParaRPr lang="en-US" sz="1100"/>
                    </a:p>
                  </a:txBody>
                  <a:tcPr marL="95250" marR="95250" marT="95250" marB="95250" anchor="ctr">
                    <a:lnL w="0" cap="flat" cmpd="sng" algn="ctr">
                      <a:solidFill>
                        <a:srgbClr val="678067"/>
                      </a:solidFill>
                      <a:prstDash val="solid"/>
                      <a:round/>
                      <a:headEnd type="none" w="med" len="med"/>
                      <a:tailEnd type="none" w="med" len="med"/>
                    </a:lnL>
                    <a:lnR w="0" cap="flat" cmpd="sng" algn="ctr">
                      <a:solidFill>
                        <a:srgbClr val="678067"/>
                      </a:solidFill>
                      <a:prstDash val="solid"/>
                      <a:round/>
                      <a:headEnd type="none" w="med" len="med"/>
                      <a:tailEnd type="none" w="med" len="med"/>
                    </a:lnR>
                    <a:lnT w="0" cap="flat" cmpd="sng" algn="ctr">
                      <a:solidFill>
                        <a:srgbClr val="678067"/>
                      </a:solidFill>
                      <a:prstDash val="solid"/>
                      <a:round/>
                      <a:headEnd type="none" w="med" len="med"/>
                      <a:tailEnd type="none" w="med" len="med"/>
                    </a:lnT>
                    <a:lnB w="9525" cap="flat" cmpd="sng" algn="ctr">
                      <a:solidFill>
                        <a:srgbClr val="678067"/>
                      </a:solidFill>
                      <a:prstDash val="solid"/>
                      <a:round/>
                      <a:headEnd type="none" w="med" len="med"/>
                      <a:tailEnd type="none" w="med" len="med"/>
                    </a:lnB>
                    <a:solidFill>
                      <a:srgbClr val="1B2E22"/>
                    </a:solidFill>
                  </a:tcPr>
                </a:tc>
                <a:extLst>
                  <a:ext uri="{0D108BD9-81ED-4DB2-BD59-A6C34878D82A}">
                    <a16:rowId xmlns:a16="http://schemas.microsoft.com/office/drawing/2014/main" val="10000"/>
                  </a:ext>
                </a:extLst>
              </a:tr>
              <a:tr h="753103">
                <a:tc>
                  <a:txBody>
                    <a:bodyPr/>
                    <a:lstStyle/>
                    <a:p>
                      <a:pPr marL="0" lvl="0" indent="0" algn="ctr">
                        <a:lnSpc>
                          <a:spcPts val="3580"/>
                        </a:lnSpc>
                        <a:spcBef>
                          <a:spcPct val="0"/>
                        </a:spcBef>
                        <a:defRPr/>
                      </a:pPr>
                      <a:r>
                        <a:rPr lang="en-US" sz="2557" u="none" strike="noStrike">
                          <a:solidFill>
                            <a:srgbClr val="FFFFFF"/>
                          </a:solidFill>
                          <a:latin typeface="TT Commons Pro"/>
                          <a:ea typeface="TT Commons Pro"/>
                          <a:cs typeface="TT Commons Pro"/>
                          <a:sym typeface="TT Commons Pro"/>
                        </a:rPr>
                        <a:t>Section IV</a:t>
                      </a:r>
                      <a:endParaRPr lang="en-US" sz="1100"/>
                    </a:p>
                  </a:txBody>
                  <a:tcPr marL="95250" marR="95250" marT="95250" marB="95250" anchor="ctr">
                    <a:lnL w="0" cap="flat" cmpd="sng" algn="ctr">
                      <a:solidFill>
                        <a:srgbClr val="678067"/>
                      </a:solidFill>
                      <a:prstDash val="solid"/>
                      <a:round/>
                      <a:headEnd type="none" w="med" len="med"/>
                      <a:tailEnd type="none" w="med" len="med"/>
                    </a:lnL>
                    <a:lnR w="0" cap="flat" cmpd="sng" algn="ctr">
                      <a:solidFill>
                        <a:srgbClr val="678067"/>
                      </a:solidFill>
                      <a:prstDash val="solid"/>
                      <a:round/>
                      <a:headEnd type="none" w="med" len="med"/>
                      <a:tailEnd type="none" w="med" len="med"/>
                    </a:lnR>
                    <a:lnT w="9525" cap="flat" cmpd="sng" algn="ctr">
                      <a:solidFill>
                        <a:srgbClr val="678067"/>
                      </a:solidFill>
                      <a:prstDash val="solid"/>
                      <a:round/>
                      <a:headEnd type="none" w="med" len="med"/>
                      <a:tailEnd type="none" w="med" len="med"/>
                    </a:lnT>
                    <a:lnB w="9525" cap="flat" cmpd="sng" algn="ctr">
                      <a:solidFill>
                        <a:srgbClr val="678067"/>
                      </a:solidFill>
                      <a:prstDash val="solid"/>
                      <a:round/>
                      <a:headEnd type="none" w="med" len="med"/>
                      <a:tailEnd type="none" w="med" len="med"/>
                    </a:lnB>
                    <a:solidFill>
                      <a:srgbClr val="1B2E22"/>
                    </a:solidFill>
                  </a:tcPr>
                </a:tc>
                <a:tc>
                  <a:txBody>
                    <a:bodyPr/>
                    <a:lstStyle/>
                    <a:p>
                      <a:pPr marL="0" lvl="0" indent="0" algn="ctr">
                        <a:lnSpc>
                          <a:spcPts val="3580"/>
                        </a:lnSpc>
                        <a:spcBef>
                          <a:spcPct val="0"/>
                        </a:spcBef>
                        <a:defRPr/>
                      </a:pPr>
                      <a:r>
                        <a:rPr lang="en-US" sz="2557" u="none" strike="noStrike">
                          <a:solidFill>
                            <a:srgbClr val="FFFFFF"/>
                          </a:solidFill>
                          <a:latin typeface="TT Commons Pro"/>
                          <a:ea typeface="TT Commons Pro"/>
                          <a:cs typeface="TT Commons Pro"/>
                          <a:sym typeface="TT Commons Pro"/>
                        </a:rPr>
                        <a:t>Mexico</a:t>
                      </a:r>
                      <a:endParaRPr lang="en-US" sz="1100"/>
                    </a:p>
                  </a:txBody>
                  <a:tcPr marL="95250" marR="95250" marT="95250" marB="95250" anchor="ctr">
                    <a:lnL w="0" cap="flat" cmpd="sng" algn="ctr">
                      <a:solidFill>
                        <a:srgbClr val="678067"/>
                      </a:solidFill>
                      <a:prstDash val="solid"/>
                      <a:round/>
                      <a:headEnd type="none" w="med" len="med"/>
                      <a:tailEnd type="none" w="med" len="med"/>
                    </a:lnL>
                    <a:lnR w="0" cap="flat" cmpd="sng" algn="ctr">
                      <a:solidFill>
                        <a:srgbClr val="678067"/>
                      </a:solidFill>
                      <a:prstDash val="solid"/>
                      <a:round/>
                      <a:headEnd type="none" w="med" len="med"/>
                      <a:tailEnd type="none" w="med" len="med"/>
                    </a:lnR>
                    <a:lnT w="9525" cap="flat" cmpd="sng" algn="ctr">
                      <a:solidFill>
                        <a:srgbClr val="678067"/>
                      </a:solidFill>
                      <a:prstDash val="solid"/>
                      <a:round/>
                      <a:headEnd type="none" w="med" len="med"/>
                      <a:tailEnd type="none" w="med" len="med"/>
                    </a:lnT>
                    <a:lnB w="9525" cap="flat" cmpd="sng" algn="ctr">
                      <a:solidFill>
                        <a:srgbClr val="678067"/>
                      </a:solidFill>
                      <a:prstDash val="solid"/>
                      <a:round/>
                      <a:headEnd type="none" w="med" len="med"/>
                      <a:tailEnd type="none" w="med" len="med"/>
                    </a:lnB>
                    <a:solidFill>
                      <a:srgbClr val="A0B7A0"/>
                    </a:solidFill>
                  </a:tcPr>
                </a:tc>
                <a:tc>
                  <a:txBody>
                    <a:bodyPr/>
                    <a:lstStyle/>
                    <a:p>
                      <a:pPr marL="0" lvl="0" indent="0" algn="ctr">
                        <a:lnSpc>
                          <a:spcPts val="3580"/>
                        </a:lnSpc>
                        <a:spcBef>
                          <a:spcPct val="0"/>
                        </a:spcBef>
                        <a:defRPr/>
                      </a:pPr>
                      <a:r>
                        <a:rPr lang="en-US" sz="2557" u="none" strike="noStrike">
                          <a:solidFill>
                            <a:srgbClr val="FFFFFF"/>
                          </a:solidFill>
                          <a:latin typeface="TT Commons Pro"/>
                          <a:ea typeface="TT Commons Pro"/>
                          <a:cs typeface="TT Commons Pro"/>
                          <a:sym typeface="TT Commons Pro"/>
                        </a:rPr>
                        <a:t>25.11</a:t>
                      </a:r>
                      <a:endParaRPr lang="en-US" sz="1100"/>
                    </a:p>
                  </a:txBody>
                  <a:tcPr marL="95250" marR="95250" marT="95250" marB="95250" anchor="ctr">
                    <a:lnL w="0" cap="flat" cmpd="sng" algn="ctr">
                      <a:solidFill>
                        <a:srgbClr val="678067"/>
                      </a:solidFill>
                      <a:prstDash val="solid"/>
                      <a:round/>
                      <a:headEnd type="none" w="med" len="med"/>
                      <a:tailEnd type="none" w="med" len="med"/>
                    </a:lnL>
                    <a:lnR w="0" cap="flat" cmpd="sng" algn="ctr">
                      <a:solidFill>
                        <a:srgbClr val="678067"/>
                      </a:solidFill>
                      <a:prstDash val="solid"/>
                      <a:round/>
                      <a:headEnd type="none" w="med" len="med"/>
                      <a:tailEnd type="none" w="med" len="med"/>
                    </a:lnR>
                    <a:lnT w="9525" cap="flat" cmpd="sng" algn="ctr">
                      <a:solidFill>
                        <a:srgbClr val="678067"/>
                      </a:solidFill>
                      <a:prstDash val="solid"/>
                      <a:round/>
                      <a:headEnd type="none" w="med" len="med"/>
                      <a:tailEnd type="none" w="med" len="med"/>
                    </a:lnT>
                    <a:lnB w="9525" cap="flat" cmpd="sng" algn="ctr">
                      <a:solidFill>
                        <a:srgbClr val="678067"/>
                      </a:solidFill>
                      <a:prstDash val="solid"/>
                      <a:round/>
                      <a:headEnd type="none" w="med" len="med"/>
                      <a:tailEnd type="none" w="med" len="med"/>
                    </a:lnB>
                    <a:solidFill>
                      <a:srgbClr val="A0B7A0"/>
                    </a:solidFill>
                  </a:tcPr>
                </a:tc>
                <a:tc>
                  <a:txBody>
                    <a:bodyPr/>
                    <a:lstStyle/>
                    <a:p>
                      <a:pPr marL="0" lvl="0" indent="0" algn="ctr">
                        <a:lnSpc>
                          <a:spcPts val="3580"/>
                        </a:lnSpc>
                        <a:spcBef>
                          <a:spcPct val="0"/>
                        </a:spcBef>
                        <a:defRPr/>
                      </a:pPr>
                      <a:r>
                        <a:rPr lang="en-US" sz="2557" u="none" strike="noStrike">
                          <a:solidFill>
                            <a:srgbClr val="FFFFFF"/>
                          </a:solidFill>
                          <a:latin typeface="TT Commons Pro"/>
                          <a:ea typeface="TT Commons Pro"/>
                          <a:cs typeface="TT Commons Pro"/>
                          <a:sym typeface="TT Commons Pro"/>
                        </a:rPr>
                        <a:t>27.62</a:t>
                      </a:r>
                      <a:endParaRPr lang="en-US" sz="1100"/>
                    </a:p>
                  </a:txBody>
                  <a:tcPr marL="95250" marR="95250" marT="95250" marB="95250" anchor="ctr">
                    <a:lnL w="0" cap="flat" cmpd="sng" algn="ctr">
                      <a:solidFill>
                        <a:srgbClr val="678067"/>
                      </a:solidFill>
                      <a:prstDash val="solid"/>
                      <a:round/>
                      <a:headEnd type="none" w="med" len="med"/>
                      <a:tailEnd type="none" w="med" len="med"/>
                    </a:lnL>
                    <a:lnR w="0" cap="flat" cmpd="sng" algn="ctr">
                      <a:solidFill>
                        <a:srgbClr val="678067"/>
                      </a:solidFill>
                      <a:prstDash val="solid"/>
                      <a:round/>
                      <a:headEnd type="none" w="med" len="med"/>
                      <a:tailEnd type="none" w="med" len="med"/>
                    </a:lnR>
                    <a:lnT w="9525" cap="flat" cmpd="sng" algn="ctr">
                      <a:solidFill>
                        <a:srgbClr val="678067"/>
                      </a:solidFill>
                      <a:prstDash val="solid"/>
                      <a:round/>
                      <a:headEnd type="none" w="med" len="med"/>
                      <a:tailEnd type="none" w="med" len="med"/>
                    </a:lnT>
                    <a:lnB w="9525" cap="flat" cmpd="sng" algn="ctr">
                      <a:solidFill>
                        <a:srgbClr val="678067"/>
                      </a:solidFill>
                      <a:prstDash val="solid"/>
                      <a:round/>
                      <a:headEnd type="none" w="med" len="med"/>
                      <a:tailEnd type="none" w="med" len="med"/>
                    </a:lnB>
                    <a:solidFill>
                      <a:srgbClr val="A0B7A0"/>
                    </a:solidFill>
                  </a:tcPr>
                </a:tc>
                <a:tc>
                  <a:txBody>
                    <a:bodyPr/>
                    <a:lstStyle/>
                    <a:p>
                      <a:pPr marL="0" lvl="0" indent="0" algn="ctr">
                        <a:lnSpc>
                          <a:spcPts val="3580"/>
                        </a:lnSpc>
                        <a:spcBef>
                          <a:spcPct val="0"/>
                        </a:spcBef>
                        <a:defRPr/>
                      </a:pPr>
                      <a:r>
                        <a:rPr lang="en-US" sz="2557" u="none" strike="noStrike">
                          <a:solidFill>
                            <a:srgbClr val="FFFFFF"/>
                          </a:solidFill>
                          <a:latin typeface="TT Commons Pro"/>
                          <a:ea typeface="TT Commons Pro"/>
                          <a:cs typeface="TT Commons Pro"/>
                          <a:sym typeface="TT Commons Pro"/>
                        </a:rPr>
                        <a:t>30.13</a:t>
                      </a:r>
                      <a:endParaRPr lang="en-US" sz="1100"/>
                    </a:p>
                  </a:txBody>
                  <a:tcPr marL="95250" marR="95250" marT="95250" marB="95250" anchor="ctr">
                    <a:lnL w="0" cap="flat" cmpd="sng" algn="ctr">
                      <a:solidFill>
                        <a:srgbClr val="678067"/>
                      </a:solidFill>
                      <a:prstDash val="solid"/>
                      <a:round/>
                      <a:headEnd type="none" w="med" len="med"/>
                      <a:tailEnd type="none" w="med" len="med"/>
                    </a:lnL>
                    <a:lnR w="0" cap="flat" cmpd="sng" algn="ctr">
                      <a:solidFill>
                        <a:srgbClr val="678067"/>
                      </a:solidFill>
                      <a:prstDash val="solid"/>
                      <a:round/>
                      <a:headEnd type="none" w="med" len="med"/>
                      <a:tailEnd type="none" w="med" len="med"/>
                    </a:lnR>
                    <a:lnT w="9525" cap="flat" cmpd="sng" algn="ctr">
                      <a:solidFill>
                        <a:srgbClr val="678067"/>
                      </a:solidFill>
                      <a:prstDash val="solid"/>
                      <a:round/>
                      <a:headEnd type="none" w="med" len="med"/>
                      <a:tailEnd type="none" w="med" len="med"/>
                    </a:lnT>
                    <a:lnB w="9525" cap="flat" cmpd="sng" algn="ctr">
                      <a:solidFill>
                        <a:srgbClr val="678067"/>
                      </a:solidFill>
                      <a:prstDash val="solid"/>
                      <a:round/>
                      <a:headEnd type="none" w="med" len="med"/>
                      <a:tailEnd type="none" w="med" len="med"/>
                    </a:lnB>
                    <a:solidFill>
                      <a:srgbClr val="A0B7A0"/>
                    </a:solidFill>
                  </a:tcPr>
                </a:tc>
                <a:tc>
                  <a:txBody>
                    <a:bodyPr/>
                    <a:lstStyle/>
                    <a:p>
                      <a:pPr marL="0" lvl="0" indent="0" algn="ctr">
                        <a:lnSpc>
                          <a:spcPts val="3580"/>
                        </a:lnSpc>
                        <a:spcBef>
                          <a:spcPct val="0"/>
                        </a:spcBef>
                        <a:defRPr/>
                      </a:pPr>
                      <a:r>
                        <a:rPr lang="en-US" sz="2557" u="none" strike="noStrike">
                          <a:solidFill>
                            <a:srgbClr val="FFFFFF"/>
                          </a:solidFill>
                          <a:latin typeface="TT Commons Pro"/>
                          <a:ea typeface="TT Commons Pro"/>
                          <a:cs typeface="TT Commons Pro"/>
                          <a:sym typeface="TT Commons Pro"/>
                        </a:rPr>
                        <a:t>32.64</a:t>
                      </a:r>
                      <a:endParaRPr lang="en-US" sz="1100"/>
                    </a:p>
                  </a:txBody>
                  <a:tcPr marL="95250" marR="95250" marT="95250" marB="95250" anchor="ctr">
                    <a:lnL w="0" cap="flat" cmpd="sng" algn="ctr">
                      <a:solidFill>
                        <a:srgbClr val="678067"/>
                      </a:solidFill>
                      <a:prstDash val="solid"/>
                      <a:round/>
                      <a:headEnd type="none" w="med" len="med"/>
                      <a:tailEnd type="none" w="med" len="med"/>
                    </a:lnL>
                    <a:lnR w="0" cap="flat" cmpd="sng" algn="ctr">
                      <a:solidFill>
                        <a:srgbClr val="678067"/>
                      </a:solidFill>
                      <a:prstDash val="solid"/>
                      <a:round/>
                      <a:headEnd type="none" w="med" len="med"/>
                      <a:tailEnd type="none" w="med" len="med"/>
                    </a:lnR>
                    <a:lnT w="9525" cap="flat" cmpd="sng" algn="ctr">
                      <a:solidFill>
                        <a:srgbClr val="678067"/>
                      </a:solidFill>
                      <a:prstDash val="solid"/>
                      <a:round/>
                      <a:headEnd type="none" w="med" len="med"/>
                      <a:tailEnd type="none" w="med" len="med"/>
                    </a:lnT>
                    <a:lnB w="9525" cap="flat" cmpd="sng" algn="ctr">
                      <a:solidFill>
                        <a:srgbClr val="678067"/>
                      </a:solidFill>
                      <a:prstDash val="solid"/>
                      <a:round/>
                      <a:headEnd type="none" w="med" len="med"/>
                      <a:tailEnd type="none" w="med" len="med"/>
                    </a:lnB>
                    <a:solidFill>
                      <a:srgbClr val="A0B7A0"/>
                    </a:solidFill>
                  </a:tcPr>
                </a:tc>
                <a:extLst>
                  <a:ext uri="{0D108BD9-81ED-4DB2-BD59-A6C34878D82A}">
                    <a16:rowId xmlns:a16="http://schemas.microsoft.com/office/drawing/2014/main" val="10001"/>
                  </a:ext>
                </a:extLst>
              </a:tr>
              <a:tr h="753103">
                <a:tc>
                  <a:txBody>
                    <a:bodyPr/>
                    <a:lstStyle/>
                    <a:p>
                      <a:pPr marL="0" lvl="0" indent="0" algn="ctr">
                        <a:lnSpc>
                          <a:spcPts val="3580"/>
                        </a:lnSpc>
                        <a:spcBef>
                          <a:spcPct val="0"/>
                        </a:spcBef>
                        <a:defRPr/>
                      </a:pPr>
                      <a:endParaRPr lang="en-US" sz="1100"/>
                    </a:p>
                  </a:txBody>
                  <a:tcPr marL="95250" marR="95250" marT="95250" marB="95250" anchor="ctr">
                    <a:lnL w="0" cap="flat" cmpd="sng" algn="ctr">
                      <a:solidFill>
                        <a:srgbClr val="678067"/>
                      </a:solidFill>
                      <a:prstDash val="solid"/>
                      <a:round/>
                      <a:headEnd type="none" w="med" len="med"/>
                      <a:tailEnd type="none" w="med" len="med"/>
                    </a:lnL>
                    <a:lnR w="0" cap="flat" cmpd="sng" algn="ctr">
                      <a:solidFill>
                        <a:srgbClr val="678067"/>
                      </a:solidFill>
                      <a:prstDash val="solid"/>
                      <a:round/>
                      <a:headEnd type="none" w="med" len="med"/>
                      <a:tailEnd type="none" w="med" len="med"/>
                    </a:lnR>
                    <a:lnT w="9525" cap="flat" cmpd="sng" algn="ctr">
                      <a:solidFill>
                        <a:srgbClr val="678067"/>
                      </a:solidFill>
                      <a:prstDash val="solid"/>
                      <a:round/>
                      <a:headEnd type="none" w="med" len="med"/>
                      <a:tailEnd type="none" w="med" len="med"/>
                    </a:lnT>
                    <a:lnB w="9525" cap="flat" cmpd="sng" algn="ctr">
                      <a:solidFill>
                        <a:srgbClr val="678067"/>
                      </a:solidFill>
                      <a:prstDash val="solid"/>
                      <a:round/>
                      <a:headEnd type="none" w="med" len="med"/>
                      <a:tailEnd type="none" w="med" len="med"/>
                    </a:lnB>
                    <a:solidFill>
                      <a:srgbClr val="1B2E22"/>
                    </a:solidFill>
                  </a:tcPr>
                </a:tc>
                <a:tc>
                  <a:txBody>
                    <a:bodyPr/>
                    <a:lstStyle/>
                    <a:p>
                      <a:pPr marL="0" lvl="0" indent="0" algn="ctr">
                        <a:lnSpc>
                          <a:spcPts val="3580"/>
                        </a:lnSpc>
                        <a:spcBef>
                          <a:spcPct val="0"/>
                        </a:spcBef>
                        <a:defRPr/>
                      </a:pPr>
                      <a:r>
                        <a:rPr lang="en-US" sz="2557" u="none" strike="noStrike">
                          <a:solidFill>
                            <a:srgbClr val="FFFFFF"/>
                          </a:solidFill>
                          <a:latin typeface="TT Commons Pro"/>
                          <a:ea typeface="TT Commons Pro"/>
                          <a:cs typeface="TT Commons Pro"/>
                          <a:sym typeface="TT Commons Pro"/>
                        </a:rPr>
                        <a:t>China</a:t>
                      </a:r>
                      <a:endParaRPr lang="en-US" sz="1100"/>
                    </a:p>
                  </a:txBody>
                  <a:tcPr marL="95250" marR="95250" marT="95250" marB="95250" anchor="ctr">
                    <a:lnL w="0" cap="flat" cmpd="sng" algn="ctr">
                      <a:solidFill>
                        <a:srgbClr val="678067"/>
                      </a:solidFill>
                      <a:prstDash val="solid"/>
                      <a:round/>
                      <a:headEnd type="none" w="med" len="med"/>
                      <a:tailEnd type="none" w="med" len="med"/>
                    </a:lnL>
                    <a:lnR w="0" cap="flat" cmpd="sng" algn="ctr">
                      <a:solidFill>
                        <a:srgbClr val="678067"/>
                      </a:solidFill>
                      <a:prstDash val="solid"/>
                      <a:round/>
                      <a:headEnd type="none" w="med" len="med"/>
                      <a:tailEnd type="none" w="med" len="med"/>
                    </a:lnR>
                    <a:lnT w="9525" cap="flat" cmpd="sng" algn="ctr">
                      <a:solidFill>
                        <a:srgbClr val="678067"/>
                      </a:solidFill>
                      <a:prstDash val="solid"/>
                      <a:round/>
                      <a:headEnd type="none" w="med" len="med"/>
                      <a:tailEnd type="none" w="med" len="med"/>
                    </a:lnT>
                    <a:lnB w="9525" cap="flat" cmpd="sng" algn="ctr">
                      <a:solidFill>
                        <a:srgbClr val="678067"/>
                      </a:solidFill>
                      <a:prstDash val="solid"/>
                      <a:round/>
                      <a:headEnd type="none" w="med" len="med"/>
                      <a:tailEnd type="none" w="med" len="med"/>
                    </a:lnB>
                    <a:solidFill>
                      <a:srgbClr val="A0B7A0"/>
                    </a:solidFill>
                  </a:tcPr>
                </a:tc>
                <a:tc>
                  <a:txBody>
                    <a:bodyPr/>
                    <a:lstStyle/>
                    <a:p>
                      <a:pPr marL="0" lvl="0" indent="0" algn="ctr">
                        <a:lnSpc>
                          <a:spcPts val="3580"/>
                        </a:lnSpc>
                        <a:spcBef>
                          <a:spcPct val="0"/>
                        </a:spcBef>
                        <a:defRPr/>
                      </a:pPr>
                      <a:r>
                        <a:rPr lang="en-US" sz="2557" u="none" strike="noStrike">
                          <a:solidFill>
                            <a:srgbClr val="FFFFFF"/>
                          </a:solidFill>
                          <a:latin typeface="TT Commons Pro"/>
                          <a:ea typeface="TT Commons Pro"/>
                          <a:cs typeface="TT Commons Pro"/>
                          <a:sym typeface="TT Commons Pro"/>
                        </a:rPr>
                        <a:t>249.5</a:t>
                      </a:r>
                      <a:endParaRPr lang="en-US" sz="1100"/>
                    </a:p>
                  </a:txBody>
                  <a:tcPr marL="95250" marR="95250" marT="95250" marB="95250" anchor="ctr">
                    <a:lnL w="0" cap="flat" cmpd="sng" algn="ctr">
                      <a:solidFill>
                        <a:srgbClr val="678067"/>
                      </a:solidFill>
                      <a:prstDash val="solid"/>
                      <a:round/>
                      <a:headEnd type="none" w="med" len="med"/>
                      <a:tailEnd type="none" w="med" len="med"/>
                    </a:lnL>
                    <a:lnR w="0" cap="flat" cmpd="sng" algn="ctr">
                      <a:solidFill>
                        <a:srgbClr val="678067"/>
                      </a:solidFill>
                      <a:prstDash val="solid"/>
                      <a:round/>
                      <a:headEnd type="none" w="med" len="med"/>
                      <a:tailEnd type="none" w="med" len="med"/>
                    </a:lnR>
                    <a:lnT w="9525" cap="flat" cmpd="sng" algn="ctr">
                      <a:solidFill>
                        <a:srgbClr val="678067"/>
                      </a:solidFill>
                      <a:prstDash val="solid"/>
                      <a:round/>
                      <a:headEnd type="none" w="med" len="med"/>
                      <a:tailEnd type="none" w="med" len="med"/>
                    </a:lnT>
                    <a:lnB w="9525" cap="flat" cmpd="sng" algn="ctr">
                      <a:solidFill>
                        <a:srgbClr val="678067"/>
                      </a:solidFill>
                      <a:prstDash val="solid"/>
                      <a:round/>
                      <a:headEnd type="none" w="med" len="med"/>
                      <a:tailEnd type="none" w="med" len="med"/>
                    </a:lnB>
                    <a:solidFill>
                      <a:srgbClr val="A0B7A0"/>
                    </a:solidFill>
                  </a:tcPr>
                </a:tc>
                <a:tc>
                  <a:txBody>
                    <a:bodyPr/>
                    <a:lstStyle/>
                    <a:p>
                      <a:pPr marL="0" lvl="0" indent="0" algn="ctr">
                        <a:lnSpc>
                          <a:spcPts val="3580"/>
                        </a:lnSpc>
                        <a:spcBef>
                          <a:spcPct val="0"/>
                        </a:spcBef>
                        <a:defRPr/>
                      </a:pPr>
                      <a:r>
                        <a:rPr lang="en-US" sz="2557" u="none" strike="noStrike">
                          <a:solidFill>
                            <a:srgbClr val="FFFFFF"/>
                          </a:solidFill>
                          <a:latin typeface="TT Commons Pro"/>
                          <a:ea typeface="TT Commons Pro"/>
                          <a:cs typeface="TT Commons Pro"/>
                          <a:sym typeface="TT Commons Pro"/>
                        </a:rPr>
                        <a:t>274.40</a:t>
                      </a:r>
                      <a:endParaRPr lang="en-US" sz="1100"/>
                    </a:p>
                  </a:txBody>
                  <a:tcPr marL="95250" marR="95250" marT="95250" marB="95250" anchor="ctr">
                    <a:lnL w="0" cap="flat" cmpd="sng" algn="ctr">
                      <a:solidFill>
                        <a:srgbClr val="678067"/>
                      </a:solidFill>
                      <a:prstDash val="solid"/>
                      <a:round/>
                      <a:headEnd type="none" w="med" len="med"/>
                      <a:tailEnd type="none" w="med" len="med"/>
                    </a:lnL>
                    <a:lnR w="0" cap="flat" cmpd="sng" algn="ctr">
                      <a:solidFill>
                        <a:srgbClr val="678067"/>
                      </a:solidFill>
                      <a:prstDash val="solid"/>
                      <a:round/>
                      <a:headEnd type="none" w="med" len="med"/>
                      <a:tailEnd type="none" w="med" len="med"/>
                    </a:lnR>
                    <a:lnT w="9525" cap="flat" cmpd="sng" algn="ctr">
                      <a:solidFill>
                        <a:srgbClr val="678067"/>
                      </a:solidFill>
                      <a:prstDash val="solid"/>
                      <a:round/>
                      <a:headEnd type="none" w="med" len="med"/>
                      <a:tailEnd type="none" w="med" len="med"/>
                    </a:lnT>
                    <a:lnB w="9525" cap="flat" cmpd="sng" algn="ctr">
                      <a:solidFill>
                        <a:srgbClr val="678067"/>
                      </a:solidFill>
                      <a:prstDash val="solid"/>
                      <a:round/>
                      <a:headEnd type="none" w="med" len="med"/>
                      <a:tailEnd type="none" w="med" len="med"/>
                    </a:lnB>
                    <a:solidFill>
                      <a:srgbClr val="A0B7A0"/>
                    </a:solidFill>
                  </a:tcPr>
                </a:tc>
                <a:tc>
                  <a:txBody>
                    <a:bodyPr/>
                    <a:lstStyle/>
                    <a:p>
                      <a:pPr marL="0" lvl="0" indent="0" algn="ctr">
                        <a:lnSpc>
                          <a:spcPts val="3580"/>
                        </a:lnSpc>
                        <a:spcBef>
                          <a:spcPct val="0"/>
                        </a:spcBef>
                        <a:defRPr/>
                      </a:pPr>
                      <a:r>
                        <a:rPr lang="en-US" sz="2557" u="none" strike="noStrike">
                          <a:solidFill>
                            <a:srgbClr val="FFFFFF"/>
                          </a:solidFill>
                          <a:latin typeface="TT Commons Pro"/>
                          <a:ea typeface="TT Commons Pro"/>
                          <a:cs typeface="TT Commons Pro"/>
                          <a:sym typeface="TT Commons Pro"/>
                        </a:rPr>
                        <a:t>299.35</a:t>
                      </a:r>
                      <a:endParaRPr lang="en-US" sz="1100"/>
                    </a:p>
                  </a:txBody>
                  <a:tcPr marL="95250" marR="95250" marT="95250" marB="95250" anchor="ctr">
                    <a:lnL w="0" cap="flat" cmpd="sng" algn="ctr">
                      <a:solidFill>
                        <a:srgbClr val="678067"/>
                      </a:solidFill>
                      <a:prstDash val="solid"/>
                      <a:round/>
                      <a:headEnd type="none" w="med" len="med"/>
                      <a:tailEnd type="none" w="med" len="med"/>
                    </a:lnL>
                    <a:lnR w="0" cap="flat" cmpd="sng" algn="ctr">
                      <a:solidFill>
                        <a:srgbClr val="678067"/>
                      </a:solidFill>
                      <a:prstDash val="solid"/>
                      <a:round/>
                      <a:headEnd type="none" w="med" len="med"/>
                      <a:tailEnd type="none" w="med" len="med"/>
                    </a:lnR>
                    <a:lnT w="9525" cap="flat" cmpd="sng" algn="ctr">
                      <a:solidFill>
                        <a:srgbClr val="678067"/>
                      </a:solidFill>
                      <a:prstDash val="solid"/>
                      <a:round/>
                      <a:headEnd type="none" w="med" len="med"/>
                      <a:tailEnd type="none" w="med" len="med"/>
                    </a:lnT>
                    <a:lnB w="9525" cap="flat" cmpd="sng" algn="ctr">
                      <a:solidFill>
                        <a:srgbClr val="678067"/>
                      </a:solidFill>
                      <a:prstDash val="solid"/>
                      <a:round/>
                      <a:headEnd type="none" w="med" len="med"/>
                      <a:tailEnd type="none" w="med" len="med"/>
                    </a:lnB>
                    <a:solidFill>
                      <a:srgbClr val="A0B7A0"/>
                    </a:solidFill>
                  </a:tcPr>
                </a:tc>
                <a:tc>
                  <a:txBody>
                    <a:bodyPr/>
                    <a:lstStyle/>
                    <a:p>
                      <a:pPr marL="0" lvl="0" indent="0" algn="ctr">
                        <a:lnSpc>
                          <a:spcPts val="3580"/>
                        </a:lnSpc>
                        <a:spcBef>
                          <a:spcPct val="0"/>
                        </a:spcBef>
                        <a:defRPr/>
                      </a:pPr>
                      <a:r>
                        <a:rPr lang="en-US" sz="2557" u="none" strike="noStrike">
                          <a:solidFill>
                            <a:srgbClr val="FFFFFF"/>
                          </a:solidFill>
                          <a:latin typeface="TT Commons Pro"/>
                          <a:ea typeface="TT Commons Pro"/>
                          <a:cs typeface="TT Commons Pro"/>
                          <a:sym typeface="TT Commons Pro"/>
                        </a:rPr>
                        <a:t>324.30</a:t>
                      </a:r>
                      <a:endParaRPr lang="en-US" sz="1100"/>
                    </a:p>
                  </a:txBody>
                  <a:tcPr marL="95250" marR="95250" marT="95250" marB="95250" anchor="ctr">
                    <a:lnL w="0" cap="flat" cmpd="sng" algn="ctr">
                      <a:solidFill>
                        <a:srgbClr val="678067"/>
                      </a:solidFill>
                      <a:prstDash val="solid"/>
                      <a:round/>
                      <a:headEnd type="none" w="med" len="med"/>
                      <a:tailEnd type="none" w="med" len="med"/>
                    </a:lnL>
                    <a:lnR w="0" cap="flat" cmpd="sng" algn="ctr">
                      <a:solidFill>
                        <a:srgbClr val="678067"/>
                      </a:solidFill>
                      <a:prstDash val="solid"/>
                      <a:round/>
                      <a:headEnd type="none" w="med" len="med"/>
                      <a:tailEnd type="none" w="med" len="med"/>
                    </a:lnR>
                    <a:lnT w="9525" cap="flat" cmpd="sng" algn="ctr">
                      <a:solidFill>
                        <a:srgbClr val="678067"/>
                      </a:solidFill>
                      <a:prstDash val="solid"/>
                      <a:round/>
                      <a:headEnd type="none" w="med" len="med"/>
                      <a:tailEnd type="none" w="med" len="med"/>
                    </a:lnT>
                    <a:lnB w="9525" cap="flat" cmpd="sng" algn="ctr">
                      <a:solidFill>
                        <a:srgbClr val="678067"/>
                      </a:solidFill>
                      <a:prstDash val="solid"/>
                      <a:round/>
                      <a:headEnd type="none" w="med" len="med"/>
                      <a:tailEnd type="none" w="med" len="med"/>
                    </a:lnB>
                    <a:solidFill>
                      <a:srgbClr val="A0B7A0"/>
                    </a:solidFill>
                  </a:tcPr>
                </a:tc>
                <a:extLst>
                  <a:ext uri="{0D108BD9-81ED-4DB2-BD59-A6C34878D82A}">
                    <a16:rowId xmlns:a16="http://schemas.microsoft.com/office/drawing/2014/main" val="10002"/>
                  </a:ext>
                </a:extLst>
              </a:tr>
              <a:tr h="753103">
                <a:tc>
                  <a:txBody>
                    <a:bodyPr/>
                    <a:lstStyle/>
                    <a:p>
                      <a:pPr marL="0" lvl="0" indent="0" algn="ctr">
                        <a:lnSpc>
                          <a:spcPts val="3580"/>
                        </a:lnSpc>
                        <a:spcBef>
                          <a:spcPct val="0"/>
                        </a:spcBef>
                        <a:defRPr/>
                      </a:pPr>
                      <a:r>
                        <a:rPr lang="en-US" sz="2557" u="none" strike="noStrike">
                          <a:solidFill>
                            <a:srgbClr val="FFFFFF"/>
                          </a:solidFill>
                          <a:latin typeface="TT Commons Pro"/>
                          <a:ea typeface="TT Commons Pro"/>
                          <a:cs typeface="TT Commons Pro"/>
                          <a:sym typeface="TT Commons Pro"/>
                        </a:rPr>
                        <a:t>Section VI</a:t>
                      </a:r>
                      <a:endParaRPr lang="en-US" sz="1100"/>
                    </a:p>
                  </a:txBody>
                  <a:tcPr marL="95250" marR="95250" marT="95250" marB="95250" anchor="ctr">
                    <a:lnL w="0" cap="flat" cmpd="sng" algn="ctr">
                      <a:solidFill>
                        <a:srgbClr val="678067"/>
                      </a:solidFill>
                      <a:prstDash val="solid"/>
                      <a:round/>
                      <a:headEnd type="none" w="med" len="med"/>
                      <a:tailEnd type="none" w="med" len="med"/>
                    </a:lnL>
                    <a:lnR w="0" cap="flat" cmpd="sng" algn="ctr">
                      <a:solidFill>
                        <a:srgbClr val="678067"/>
                      </a:solidFill>
                      <a:prstDash val="solid"/>
                      <a:round/>
                      <a:headEnd type="none" w="med" len="med"/>
                      <a:tailEnd type="none" w="med" len="med"/>
                    </a:lnR>
                    <a:lnT w="9525" cap="flat" cmpd="sng" algn="ctr">
                      <a:solidFill>
                        <a:srgbClr val="678067"/>
                      </a:solidFill>
                      <a:prstDash val="solid"/>
                      <a:round/>
                      <a:headEnd type="none" w="med" len="med"/>
                      <a:tailEnd type="none" w="med" len="med"/>
                    </a:lnT>
                    <a:lnB w="9525" cap="flat" cmpd="sng" algn="ctr">
                      <a:solidFill>
                        <a:srgbClr val="678067"/>
                      </a:solidFill>
                      <a:prstDash val="solid"/>
                      <a:round/>
                      <a:headEnd type="none" w="med" len="med"/>
                      <a:tailEnd type="none" w="med" len="med"/>
                    </a:lnB>
                    <a:solidFill>
                      <a:srgbClr val="1B2E22"/>
                    </a:solidFill>
                  </a:tcPr>
                </a:tc>
                <a:tc>
                  <a:txBody>
                    <a:bodyPr/>
                    <a:lstStyle/>
                    <a:p>
                      <a:pPr marL="0" lvl="0" indent="0" algn="ctr">
                        <a:lnSpc>
                          <a:spcPts val="3580"/>
                        </a:lnSpc>
                        <a:spcBef>
                          <a:spcPct val="0"/>
                        </a:spcBef>
                        <a:defRPr/>
                      </a:pPr>
                      <a:r>
                        <a:rPr lang="en-US" sz="2557" u="none" strike="noStrike">
                          <a:solidFill>
                            <a:srgbClr val="FFFFFF"/>
                          </a:solidFill>
                          <a:latin typeface="TT Commons Pro"/>
                          <a:ea typeface="TT Commons Pro"/>
                          <a:cs typeface="TT Commons Pro"/>
                          <a:sym typeface="TT Commons Pro"/>
                        </a:rPr>
                        <a:t>Mexico</a:t>
                      </a:r>
                      <a:endParaRPr lang="en-US" sz="1100"/>
                    </a:p>
                  </a:txBody>
                  <a:tcPr marL="95250" marR="95250" marT="95250" marB="95250" anchor="ctr">
                    <a:lnL w="0" cap="flat" cmpd="sng" algn="ctr">
                      <a:solidFill>
                        <a:srgbClr val="678067"/>
                      </a:solidFill>
                      <a:prstDash val="solid"/>
                      <a:round/>
                      <a:headEnd type="none" w="med" len="med"/>
                      <a:tailEnd type="none" w="med" len="med"/>
                    </a:lnL>
                    <a:lnR w="0" cap="flat" cmpd="sng" algn="ctr">
                      <a:solidFill>
                        <a:srgbClr val="678067"/>
                      </a:solidFill>
                      <a:prstDash val="solid"/>
                      <a:round/>
                      <a:headEnd type="none" w="med" len="med"/>
                      <a:tailEnd type="none" w="med" len="med"/>
                    </a:lnR>
                    <a:lnT w="9525" cap="flat" cmpd="sng" algn="ctr">
                      <a:solidFill>
                        <a:srgbClr val="678067"/>
                      </a:solidFill>
                      <a:prstDash val="solid"/>
                      <a:round/>
                      <a:headEnd type="none" w="med" len="med"/>
                      <a:tailEnd type="none" w="med" len="med"/>
                    </a:lnT>
                    <a:lnB w="9525" cap="flat" cmpd="sng" algn="ctr">
                      <a:solidFill>
                        <a:srgbClr val="678067"/>
                      </a:solidFill>
                      <a:prstDash val="solid"/>
                      <a:round/>
                      <a:headEnd type="none" w="med" len="med"/>
                      <a:tailEnd type="none" w="med" len="med"/>
                    </a:lnB>
                    <a:solidFill>
                      <a:srgbClr val="A0B7A0"/>
                    </a:solidFill>
                  </a:tcPr>
                </a:tc>
                <a:tc>
                  <a:txBody>
                    <a:bodyPr/>
                    <a:lstStyle/>
                    <a:p>
                      <a:pPr marL="0" lvl="0" indent="0" algn="ctr">
                        <a:lnSpc>
                          <a:spcPts val="3580"/>
                        </a:lnSpc>
                        <a:spcBef>
                          <a:spcPct val="0"/>
                        </a:spcBef>
                        <a:defRPr/>
                      </a:pPr>
                      <a:r>
                        <a:rPr lang="en-US" sz="2557" u="none" strike="noStrike">
                          <a:solidFill>
                            <a:srgbClr val="FFFFFF"/>
                          </a:solidFill>
                          <a:latin typeface="TT Commons Pro"/>
                          <a:ea typeface="TT Commons Pro"/>
                          <a:cs typeface="TT Commons Pro"/>
                          <a:sym typeface="TT Commons Pro"/>
                        </a:rPr>
                        <a:t>0.0037</a:t>
                      </a:r>
                      <a:endParaRPr lang="en-US" sz="1100"/>
                    </a:p>
                  </a:txBody>
                  <a:tcPr marL="95250" marR="95250" marT="95250" marB="95250" anchor="ctr">
                    <a:lnL w="0" cap="flat" cmpd="sng" algn="ctr">
                      <a:solidFill>
                        <a:srgbClr val="678067"/>
                      </a:solidFill>
                      <a:prstDash val="solid"/>
                      <a:round/>
                      <a:headEnd type="none" w="med" len="med"/>
                      <a:tailEnd type="none" w="med" len="med"/>
                    </a:lnL>
                    <a:lnR w="0" cap="flat" cmpd="sng" algn="ctr">
                      <a:solidFill>
                        <a:srgbClr val="678067"/>
                      </a:solidFill>
                      <a:prstDash val="solid"/>
                      <a:round/>
                      <a:headEnd type="none" w="med" len="med"/>
                      <a:tailEnd type="none" w="med" len="med"/>
                    </a:lnR>
                    <a:lnT w="9525" cap="flat" cmpd="sng" algn="ctr">
                      <a:solidFill>
                        <a:srgbClr val="678067"/>
                      </a:solidFill>
                      <a:prstDash val="solid"/>
                      <a:round/>
                      <a:headEnd type="none" w="med" len="med"/>
                      <a:tailEnd type="none" w="med" len="med"/>
                    </a:lnT>
                    <a:lnB w="9525" cap="flat" cmpd="sng" algn="ctr">
                      <a:solidFill>
                        <a:srgbClr val="678067"/>
                      </a:solidFill>
                      <a:prstDash val="solid"/>
                      <a:round/>
                      <a:headEnd type="none" w="med" len="med"/>
                      <a:tailEnd type="none" w="med" len="med"/>
                    </a:lnB>
                    <a:solidFill>
                      <a:srgbClr val="A0B7A0"/>
                    </a:solidFill>
                  </a:tcPr>
                </a:tc>
                <a:tc>
                  <a:txBody>
                    <a:bodyPr/>
                    <a:lstStyle/>
                    <a:p>
                      <a:pPr marL="0" lvl="0" indent="0" algn="ctr">
                        <a:lnSpc>
                          <a:spcPts val="3580"/>
                        </a:lnSpc>
                        <a:spcBef>
                          <a:spcPct val="0"/>
                        </a:spcBef>
                        <a:defRPr/>
                      </a:pPr>
                      <a:r>
                        <a:rPr lang="en-US" sz="2557" u="none" strike="noStrike">
                          <a:solidFill>
                            <a:srgbClr val="FFFFFF"/>
                          </a:solidFill>
                          <a:latin typeface="TT Commons Pro"/>
                          <a:ea typeface="TT Commons Pro"/>
                          <a:cs typeface="TT Commons Pro"/>
                          <a:sym typeface="TT Commons Pro"/>
                        </a:rPr>
                        <a:t>0.0041</a:t>
                      </a:r>
                      <a:endParaRPr lang="en-US" sz="1100"/>
                    </a:p>
                  </a:txBody>
                  <a:tcPr marL="95250" marR="95250" marT="95250" marB="95250" anchor="ctr">
                    <a:lnL w="0" cap="flat" cmpd="sng" algn="ctr">
                      <a:solidFill>
                        <a:srgbClr val="678067"/>
                      </a:solidFill>
                      <a:prstDash val="solid"/>
                      <a:round/>
                      <a:headEnd type="none" w="med" len="med"/>
                      <a:tailEnd type="none" w="med" len="med"/>
                    </a:lnL>
                    <a:lnR w="0" cap="flat" cmpd="sng" algn="ctr">
                      <a:solidFill>
                        <a:srgbClr val="678067"/>
                      </a:solidFill>
                      <a:prstDash val="solid"/>
                      <a:round/>
                      <a:headEnd type="none" w="med" len="med"/>
                      <a:tailEnd type="none" w="med" len="med"/>
                    </a:lnR>
                    <a:lnT w="9525" cap="flat" cmpd="sng" algn="ctr">
                      <a:solidFill>
                        <a:srgbClr val="678067"/>
                      </a:solidFill>
                      <a:prstDash val="solid"/>
                      <a:round/>
                      <a:headEnd type="none" w="med" len="med"/>
                      <a:tailEnd type="none" w="med" len="med"/>
                    </a:lnT>
                    <a:lnB w="9525" cap="flat" cmpd="sng" algn="ctr">
                      <a:solidFill>
                        <a:srgbClr val="678067"/>
                      </a:solidFill>
                      <a:prstDash val="solid"/>
                      <a:round/>
                      <a:headEnd type="none" w="med" len="med"/>
                      <a:tailEnd type="none" w="med" len="med"/>
                    </a:lnB>
                    <a:solidFill>
                      <a:srgbClr val="A0B7A0"/>
                    </a:solidFill>
                  </a:tcPr>
                </a:tc>
                <a:tc>
                  <a:txBody>
                    <a:bodyPr/>
                    <a:lstStyle/>
                    <a:p>
                      <a:pPr marL="0" lvl="0" indent="0" algn="ctr">
                        <a:lnSpc>
                          <a:spcPts val="3580"/>
                        </a:lnSpc>
                        <a:spcBef>
                          <a:spcPct val="0"/>
                        </a:spcBef>
                        <a:defRPr/>
                      </a:pPr>
                      <a:r>
                        <a:rPr lang="en-US" sz="2557" u="none" strike="noStrike">
                          <a:solidFill>
                            <a:srgbClr val="FFFFFF"/>
                          </a:solidFill>
                          <a:latin typeface="TT Commons Pro"/>
                          <a:ea typeface="TT Commons Pro"/>
                          <a:cs typeface="TT Commons Pro"/>
                          <a:sym typeface="TT Commons Pro"/>
                        </a:rPr>
                        <a:t>0.0046</a:t>
                      </a:r>
                      <a:endParaRPr lang="en-US" sz="1100"/>
                    </a:p>
                  </a:txBody>
                  <a:tcPr marL="95250" marR="95250" marT="95250" marB="95250" anchor="ctr">
                    <a:lnL w="0" cap="flat" cmpd="sng" algn="ctr">
                      <a:solidFill>
                        <a:srgbClr val="678067"/>
                      </a:solidFill>
                      <a:prstDash val="solid"/>
                      <a:round/>
                      <a:headEnd type="none" w="med" len="med"/>
                      <a:tailEnd type="none" w="med" len="med"/>
                    </a:lnL>
                    <a:lnR w="0" cap="flat" cmpd="sng" algn="ctr">
                      <a:solidFill>
                        <a:srgbClr val="678067"/>
                      </a:solidFill>
                      <a:prstDash val="solid"/>
                      <a:round/>
                      <a:headEnd type="none" w="med" len="med"/>
                      <a:tailEnd type="none" w="med" len="med"/>
                    </a:lnR>
                    <a:lnT w="9525" cap="flat" cmpd="sng" algn="ctr">
                      <a:solidFill>
                        <a:srgbClr val="678067"/>
                      </a:solidFill>
                      <a:prstDash val="solid"/>
                      <a:round/>
                      <a:headEnd type="none" w="med" len="med"/>
                      <a:tailEnd type="none" w="med" len="med"/>
                    </a:lnT>
                    <a:lnB w="9525" cap="flat" cmpd="sng" algn="ctr">
                      <a:solidFill>
                        <a:srgbClr val="678067"/>
                      </a:solidFill>
                      <a:prstDash val="solid"/>
                      <a:round/>
                      <a:headEnd type="none" w="med" len="med"/>
                      <a:tailEnd type="none" w="med" len="med"/>
                    </a:lnB>
                    <a:solidFill>
                      <a:srgbClr val="A0B7A0"/>
                    </a:solidFill>
                  </a:tcPr>
                </a:tc>
                <a:tc>
                  <a:txBody>
                    <a:bodyPr/>
                    <a:lstStyle/>
                    <a:p>
                      <a:pPr marL="0" lvl="0" indent="0" algn="ctr">
                        <a:lnSpc>
                          <a:spcPts val="3580"/>
                        </a:lnSpc>
                        <a:spcBef>
                          <a:spcPct val="0"/>
                        </a:spcBef>
                        <a:defRPr/>
                      </a:pPr>
                      <a:r>
                        <a:rPr lang="en-US" sz="2557" u="none" strike="noStrike">
                          <a:solidFill>
                            <a:srgbClr val="FFFFFF"/>
                          </a:solidFill>
                          <a:latin typeface="TT Commons Pro"/>
                          <a:ea typeface="TT Commons Pro"/>
                          <a:cs typeface="TT Commons Pro"/>
                          <a:sym typeface="TT Commons Pro"/>
                        </a:rPr>
                        <a:t>0.0048</a:t>
                      </a:r>
                      <a:endParaRPr lang="en-US" sz="1100"/>
                    </a:p>
                  </a:txBody>
                  <a:tcPr marL="95250" marR="95250" marT="95250" marB="95250" anchor="ctr">
                    <a:lnL w="0" cap="flat" cmpd="sng" algn="ctr">
                      <a:solidFill>
                        <a:srgbClr val="678067"/>
                      </a:solidFill>
                      <a:prstDash val="solid"/>
                      <a:round/>
                      <a:headEnd type="none" w="med" len="med"/>
                      <a:tailEnd type="none" w="med" len="med"/>
                    </a:lnL>
                    <a:lnR w="0" cap="flat" cmpd="sng" algn="ctr">
                      <a:solidFill>
                        <a:srgbClr val="678067"/>
                      </a:solidFill>
                      <a:prstDash val="solid"/>
                      <a:round/>
                      <a:headEnd type="none" w="med" len="med"/>
                      <a:tailEnd type="none" w="med" len="med"/>
                    </a:lnR>
                    <a:lnT w="9525" cap="flat" cmpd="sng" algn="ctr">
                      <a:solidFill>
                        <a:srgbClr val="678067"/>
                      </a:solidFill>
                      <a:prstDash val="solid"/>
                      <a:round/>
                      <a:headEnd type="none" w="med" len="med"/>
                      <a:tailEnd type="none" w="med" len="med"/>
                    </a:lnT>
                    <a:lnB w="9525" cap="flat" cmpd="sng" algn="ctr">
                      <a:solidFill>
                        <a:srgbClr val="678067"/>
                      </a:solidFill>
                      <a:prstDash val="solid"/>
                      <a:round/>
                      <a:headEnd type="none" w="med" len="med"/>
                      <a:tailEnd type="none" w="med" len="med"/>
                    </a:lnB>
                    <a:solidFill>
                      <a:srgbClr val="A0B7A0"/>
                    </a:solidFill>
                  </a:tcPr>
                </a:tc>
                <a:extLst>
                  <a:ext uri="{0D108BD9-81ED-4DB2-BD59-A6C34878D82A}">
                    <a16:rowId xmlns:a16="http://schemas.microsoft.com/office/drawing/2014/main" val="10003"/>
                  </a:ext>
                </a:extLst>
              </a:tr>
              <a:tr h="753103">
                <a:tc>
                  <a:txBody>
                    <a:bodyPr/>
                    <a:lstStyle/>
                    <a:p>
                      <a:pPr marL="0" lvl="0" indent="0" algn="ctr">
                        <a:lnSpc>
                          <a:spcPts val="3580"/>
                        </a:lnSpc>
                        <a:spcBef>
                          <a:spcPct val="0"/>
                        </a:spcBef>
                        <a:defRPr/>
                      </a:pPr>
                      <a:endParaRPr lang="en-US" sz="1100"/>
                    </a:p>
                  </a:txBody>
                  <a:tcPr marL="95250" marR="95250" marT="95250" marB="95250" anchor="ctr">
                    <a:lnL w="0" cap="flat" cmpd="sng" algn="ctr">
                      <a:solidFill>
                        <a:srgbClr val="678067"/>
                      </a:solidFill>
                      <a:prstDash val="solid"/>
                      <a:round/>
                      <a:headEnd type="none" w="med" len="med"/>
                      <a:tailEnd type="none" w="med" len="med"/>
                    </a:lnL>
                    <a:lnR w="0" cap="flat" cmpd="sng" algn="ctr">
                      <a:solidFill>
                        <a:srgbClr val="678067"/>
                      </a:solidFill>
                      <a:prstDash val="solid"/>
                      <a:round/>
                      <a:headEnd type="none" w="med" len="med"/>
                      <a:tailEnd type="none" w="med" len="med"/>
                    </a:lnR>
                    <a:lnT w="9525" cap="flat" cmpd="sng" algn="ctr">
                      <a:solidFill>
                        <a:srgbClr val="678067"/>
                      </a:solidFill>
                      <a:prstDash val="solid"/>
                      <a:round/>
                      <a:headEnd type="none" w="med" len="med"/>
                      <a:tailEnd type="none" w="med" len="med"/>
                    </a:lnT>
                    <a:lnB w="9525" cap="flat" cmpd="sng" algn="ctr">
                      <a:solidFill>
                        <a:srgbClr val="678067"/>
                      </a:solidFill>
                      <a:prstDash val="solid"/>
                      <a:round/>
                      <a:headEnd type="none" w="med" len="med"/>
                      <a:tailEnd type="none" w="med" len="med"/>
                    </a:lnB>
                    <a:solidFill>
                      <a:srgbClr val="1B2E22"/>
                    </a:solidFill>
                  </a:tcPr>
                </a:tc>
                <a:tc>
                  <a:txBody>
                    <a:bodyPr/>
                    <a:lstStyle/>
                    <a:p>
                      <a:pPr marL="0" lvl="0" indent="0" algn="ctr">
                        <a:lnSpc>
                          <a:spcPts val="3580"/>
                        </a:lnSpc>
                        <a:spcBef>
                          <a:spcPct val="0"/>
                        </a:spcBef>
                        <a:defRPr/>
                      </a:pPr>
                      <a:r>
                        <a:rPr lang="en-US" sz="2557" u="none" strike="noStrike">
                          <a:solidFill>
                            <a:srgbClr val="FFFFFF"/>
                          </a:solidFill>
                          <a:latin typeface="TT Commons Pro"/>
                          <a:ea typeface="TT Commons Pro"/>
                          <a:cs typeface="TT Commons Pro"/>
                          <a:sym typeface="TT Commons Pro"/>
                        </a:rPr>
                        <a:t>China</a:t>
                      </a:r>
                      <a:endParaRPr lang="en-US" sz="1100"/>
                    </a:p>
                  </a:txBody>
                  <a:tcPr marL="95250" marR="95250" marT="95250" marB="95250" anchor="ctr">
                    <a:lnL w="0" cap="flat" cmpd="sng" algn="ctr">
                      <a:solidFill>
                        <a:srgbClr val="678067"/>
                      </a:solidFill>
                      <a:prstDash val="solid"/>
                      <a:round/>
                      <a:headEnd type="none" w="med" len="med"/>
                      <a:tailEnd type="none" w="med" len="med"/>
                    </a:lnL>
                    <a:lnR w="0" cap="flat" cmpd="sng" algn="ctr">
                      <a:solidFill>
                        <a:srgbClr val="678067"/>
                      </a:solidFill>
                      <a:prstDash val="solid"/>
                      <a:round/>
                      <a:headEnd type="none" w="med" len="med"/>
                      <a:tailEnd type="none" w="med" len="med"/>
                    </a:lnR>
                    <a:lnT w="9525" cap="flat" cmpd="sng" algn="ctr">
                      <a:solidFill>
                        <a:srgbClr val="678067"/>
                      </a:solidFill>
                      <a:prstDash val="solid"/>
                      <a:round/>
                      <a:headEnd type="none" w="med" len="med"/>
                      <a:tailEnd type="none" w="med" len="med"/>
                    </a:lnT>
                    <a:lnB w="9525" cap="flat" cmpd="sng" algn="ctr">
                      <a:solidFill>
                        <a:srgbClr val="678067"/>
                      </a:solidFill>
                      <a:prstDash val="solid"/>
                      <a:round/>
                      <a:headEnd type="none" w="med" len="med"/>
                      <a:tailEnd type="none" w="med" len="med"/>
                    </a:lnB>
                    <a:solidFill>
                      <a:srgbClr val="A0B7A0"/>
                    </a:solidFill>
                  </a:tcPr>
                </a:tc>
                <a:tc>
                  <a:txBody>
                    <a:bodyPr/>
                    <a:lstStyle/>
                    <a:p>
                      <a:pPr marL="0" lvl="0" indent="0" algn="ctr">
                        <a:lnSpc>
                          <a:spcPts val="3580"/>
                        </a:lnSpc>
                        <a:spcBef>
                          <a:spcPct val="0"/>
                        </a:spcBef>
                        <a:defRPr/>
                      </a:pPr>
                      <a:r>
                        <a:rPr lang="en-US" sz="2557" u="none" strike="noStrike">
                          <a:solidFill>
                            <a:srgbClr val="FFFFFF"/>
                          </a:solidFill>
                          <a:latin typeface="TT Commons Pro"/>
                          <a:ea typeface="TT Commons Pro"/>
                          <a:cs typeface="TT Commons Pro"/>
                          <a:sym typeface="TT Commons Pro"/>
                        </a:rPr>
                        <a:t>0.041</a:t>
                      </a:r>
                      <a:endParaRPr lang="en-US" sz="1100"/>
                    </a:p>
                  </a:txBody>
                  <a:tcPr marL="95250" marR="95250" marT="95250" marB="95250" anchor="ctr">
                    <a:lnL w="0" cap="flat" cmpd="sng" algn="ctr">
                      <a:solidFill>
                        <a:srgbClr val="678067"/>
                      </a:solidFill>
                      <a:prstDash val="solid"/>
                      <a:round/>
                      <a:headEnd type="none" w="med" len="med"/>
                      <a:tailEnd type="none" w="med" len="med"/>
                    </a:lnL>
                    <a:lnR w="0" cap="flat" cmpd="sng" algn="ctr">
                      <a:solidFill>
                        <a:srgbClr val="678067"/>
                      </a:solidFill>
                      <a:prstDash val="solid"/>
                      <a:round/>
                      <a:headEnd type="none" w="med" len="med"/>
                      <a:tailEnd type="none" w="med" len="med"/>
                    </a:lnR>
                    <a:lnT w="9525" cap="flat" cmpd="sng" algn="ctr">
                      <a:solidFill>
                        <a:srgbClr val="678067"/>
                      </a:solidFill>
                      <a:prstDash val="solid"/>
                      <a:round/>
                      <a:headEnd type="none" w="med" len="med"/>
                      <a:tailEnd type="none" w="med" len="med"/>
                    </a:lnT>
                    <a:lnB w="9525" cap="flat" cmpd="sng" algn="ctr">
                      <a:solidFill>
                        <a:srgbClr val="678067"/>
                      </a:solidFill>
                      <a:prstDash val="solid"/>
                      <a:round/>
                      <a:headEnd type="none" w="med" len="med"/>
                      <a:tailEnd type="none" w="med" len="med"/>
                    </a:lnB>
                    <a:solidFill>
                      <a:srgbClr val="A0B7A0"/>
                    </a:solidFill>
                  </a:tcPr>
                </a:tc>
                <a:tc>
                  <a:txBody>
                    <a:bodyPr/>
                    <a:lstStyle/>
                    <a:p>
                      <a:pPr marL="0" lvl="0" indent="0" algn="ctr">
                        <a:lnSpc>
                          <a:spcPts val="3580"/>
                        </a:lnSpc>
                        <a:spcBef>
                          <a:spcPct val="0"/>
                        </a:spcBef>
                        <a:defRPr/>
                      </a:pPr>
                      <a:r>
                        <a:rPr lang="en-US" sz="2557" u="none" strike="noStrike">
                          <a:solidFill>
                            <a:srgbClr val="FFFFFF"/>
                          </a:solidFill>
                          <a:latin typeface="TT Commons Pro"/>
                          <a:ea typeface="TT Commons Pro"/>
                          <a:cs typeface="TT Commons Pro"/>
                          <a:sym typeface="TT Commons Pro"/>
                        </a:rPr>
                        <a:t>0.0455</a:t>
                      </a:r>
                      <a:endParaRPr lang="en-US" sz="1100"/>
                    </a:p>
                  </a:txBody>
                  <a:tcPr marL="95250" marR="95250" marT="95250" marB="95250" anchor="ctr">
                    <a:lnL w="0" cap="flat" cmpd="sng" algn="ctr">
                      <a:solidFill>
                        <a:srgbClr val="678067"/>
                      </a:solidFill>
                      <a:prstDash val="solid"/>
                      <a:round/>
                      <a:headEnd type="none" w="med" len="med"/>
                      <a:tailEnd type="none" w="med" len="med"/>
                    </a:lnL>
                    <a:lnR w="0" cap="flat" cmpd="sng" algn="ctr">
                      <a:solidFill>
                        <a:srgbClr val="678067"/>
                      </a:solidFill>
                      <a:prstDash val="solid"/>
                      <a:round/>
                      <a:headEnd type="none" w="med" len="med"/>
                      <a:tailEnd type="none" w="med" len="med"/>
                    </a:lnR>
                    <a:lnT w="9525" cap="flat" cmpd="sng" algn="ctr">
                      <a:solidFill>
                        <a:srgbClr val="678067"/>
                      </a:solidFill>
                      <a:prstDash val="solid"/>
                      <a:round/>
                      <a:headEnd type="none" w="med" len="med"/>
                      <a:tailEnd type="none" w="med" len="med"/>
                    </a:lnT>
                    <a:lnB w="9525" cap="flat" cmpd="sng" algn="ctr">
                      <a:solidFill>
                        <a:srgbClr val="678067"/>
                      </a:solidFill>
                      <a:prstDash val="solid"/>
                      <a:round/>
                      <a:headEnd type="none" w="med" len="med"/>
                      <a:tailEnd type="none" w="med" len="med"/>
                    </a:lnB>
                    <a:solidFill>
                      <a:srgbClr val="A0B7A0"/>
                    </a:solidFill>
                  </a:tcPr>
                </a:tc>
                <a:tc>
                  <a:txBody>
                    <a:bodyPr/>
                    <a:lstStyle/>
                    <a:p>
                      <a:pPr marL="0" lvl="0" indent="0" algn="ctr">
                        <a:lnSpc>
                          <a:spcPts val="3580"/>
                        </a:lnSpc>
                        <a:spcBef>
                          <a:spcPct val="0"/>
                        </a:spcBef>
                        <a:defRPr/>
                      </a:pPr>
                      <a:r>
                        <a:rPr lang="en-US" sz="2557" u="none" strike="noStrike">
                          <a:solidFill>
                            <a:srgbClr val="FFFFFF"/>
                          </a:solidFill>
                          <a:latin typeface="TT Commons Pro"/>
                          <a:ea typeface="TT Commons Pro"/>
                          <a:cs typeface="TT Commons Pro"/>
                          <a:sym typeface="TT Commons Pro"/>
                        </a:rPr>
                        <a:t>0.0496</a:t>
                      </a:r>
                      <a:endParaRPr lang="en-US" sz="1100"/>
                    </a:p>
                  </a:txBody>
                  <a:tcPr marL="95250" marR="95250" marT="95250" marB="95250" anchor="ctr">
                    <a:lnL w="0" cap="flat" cmpd="sng" algn="ctr">
                      <a:solidFill>
                        <a:srgbClr val="678067"/>
                      </a:solidFill>
                      <a:prstDash val="solid"/>
                      <a:round/>
                      <a:headEnd type="none" w="med" len="med"/>
                      <a:tailEnd type="none" w="med" len="med"/>
                    </a:lnL>
                    <a:lnR w="0" cap="flat" cmpd="sng" algn="ctr">
                      <a:solidFill>
                        <a:srgbClr val="678067"/>
                      </a:solidFill>
                      <a:prstDash val="solid"/>
                      <a:round/>
                      <a:headEnd type="none" w="med" len="med"/>
                      <a:tailEnd type="none" w="med" len="med"/>
                    </a:lnR>
                    <a:lnT w="9525" cap="flat" cmpd="sng" algn="ctr">
                      <a:solidFill>
                        <a:srgbClr val="678067"/>
                      </a:solidFill>
                      <a:prstDash val="solid"/>
                      <a:round/>
                      <a:headEnd type="none" w="med" len="med"/>
                      <a:tailEnd type="none" w="med" len="med"/>
                    </a:lnT>
                    <a:lnB w="9525" cap="flat" cmpd="sng" algn="ctr">
                      <a:solidFill>
                        <a:srgbClr val="678067"/>
                      </a:solidFill>
                      <a:prstDash val="solid"/>
                      <a:round/>
                      <a:headEnd type="none" w="med" len="med"/>
                      <a:tailEnd type="none" w="med" len="med"/>
                    </a:lnB>
                    <a:solidFill>
                      <a:srgbClr val="A0B7A0"/>
                    </a:solidFill>
                  </a:tcPr>
                </a:tc>
                <a:tc>
                  <a:txBody>
                    <a:bodyPr/>
                    <a:lstStyle/>
                    <a:p>
                      <a:pPr marL="0" lvl="0" indent="0" algn="ctr">
                        <a:lnSpc>
                          <a:spcPts val="3580"/>
                        </a:lnSpc>
                        <a:spcBef>
                          <a:spcPct val="0"/>
                        </a:spcBef>
                        <a:defRPr/>
                      </a:pPr>
                      <a:r>
                        <a:rPr lang="en-US" sz="2557" u="none" strike="noStrike">
                          <a:solidFill>
                            <a:srgbClr val="FFFFFF"/>
                          </a:solidFill>
                          <a:latin typeface="TT Commons Pro"/>
                          <a:ea typeface="TT Commons Pro"/>
                          <a:cs typeface="TT Commons Pro"/>
                          <a:sym typeface="TT Commons Pro"/>
                        </a:rPr>
                        <a:t>0.0538</a:t>
                      </a:r>
                      <a:endParaRPr lang="en-US" sz="1100"/>
                    </a:p>
                  </a:txBody>
                  <a:tcPr marL="95250" marR="95250" marT="95250" marB="95250" anchor="ctr">
                    <a:lnL w="0" cap="flat" cmpd="sng" algn="ctr">
                      <a:solidFill>
                        <a:srgbClr val="678067"/>
                      </a:solidFill>
                      <a:prstDash val="solid"/>
                      <a:round/>
                      <a:headEnd type="none" w="med" len="med"/>
                      <a:tailEnd type="none" w="med" len="med"/>
                    </a:lnL>
                    <a:lnR w="0" cap="flat" cmpd="sng" algn="ctr">
                      <a:solidFill>
                        <a:srgbClr val="678067"/>
                      </a:solidFill>
                      <a:prstDash val="solid"/>
                      <a:round/>
                      <a:headEnd type="none" w="med" len="med"/>
                      <a:tailEnd type="none" w="med" len="med"/>
                    </a:lnR>
                    <a:lnT w="9525" cap="flat" cmpd="sng" algn="ctr">
                      <a:solidFill>
                        <a:srgbClr val="678067"/>
                      </a:solidFill>
                      <a:prstDash val="solid"/>
                      <a:round/>
                      <a:headEnd type="none" w="med" len="med"/>
                      <a:tailEnd type="none" w="med" len="med"/>
                    </a:lnT>
                    <a:lnB w="9525" cap="flat" cmpd="sng" algn="ctr">
                      <a:solidFill>
                        <a:srgbClr val="678067"/>
                      </a:solidFill>
                      <a:prstDash val="solid"/>
                      <a:round/>
                      <a:headEnd type="none" w="med" len="med"/>
                      <a:tailEnd type="none" w="med" len="med"/>
                    </a:lnB>
                    <a:solidFill>
                      <a:srgbClr val="A0B7A0"/>
                    </a:solidFill>
                  </a:tcPr>
                </a:tc>
                <a:extLst>
                  <a:ext uri="{0D108BD9-81ED-4DB2-BD59-A6C34878D82A}">
                    <a16:rowId xmlns:a16="http://schemas.microsoft.com/office/drawing/2014/main" val="10004"/>
                  </a:ext>
                </a:extLst>
              </a:tr>
              <a:tr h="753103">
                <a:tc>
                  <a:txBody>
                    <a:bodyPr/>
                    <a:lstStyle/>
                    <a:p>
                      <a:pPr marL="0" lvl="0" indent="0" algn="ctr">
                        <a:lnSpc>
                          <a:spcPts val="3580"/>
                        </a:lnSpc>
                        <a:spcBef>
                          <a:spcPct val="0"/>
                        </a:spcBef>
                        <a:defRPr/>
                      </a:pPr>
                      <a:r>
                        <a:rPr lang="en-US" sz="2557" u="none" strike="noStrike">
                          <a:solidFill>
                            <a:srgbClr val="FFFFFF"/>
                          </a:solidFill>
                          <a:latin typeface="TT Commons Pro"/>
                          <a:ea typeface="TT Commons Pro"/>
                          <a:cs typeface="TT Commons Pro"/>
                          <a:sym typeface="TT Commons Pro"/>
                        </a:rPr>
                        <a:t>Section XIX</a:t>
                      </a:r>
                      <a:endParaRPr lang="en-US" sz="1100"/>
                    </a:p>
                  </a:txBody>
                  <a:tcPr marL="95250" marR="95250" marT="95250" marB="95250" anchor="ctr">
                    <a:lnL w="0" cap="flat" cmpd="sng" algn="ctr">
                      <a:solidFill>
                        <a:srgbClr val="678067"/>
                      </a:solidFill>
                      <a:prstDash val="solid"/>
                      <a:round/>
                      <a:headEnd type="none" w="med" len="med"/>
                      <a:tailEnd type="none" w="med" len="med"/>
                    </a:lnL>
                    <a:lnR w="0" cap="flat" cmpd="sng" algn="ctr">
                      <a:solidFill>
                        <a:srgbClr val="678067"/>
                      </a:solidFill>
                      <a:prstDash val="solid"/>
                      <a:round/>
                      <a:headEnd type="none" w="med" len="med"/>
                      <a:tailEnd type="none" w="med" len="med"/>
                    </a:lnR>
                    <a:lnT w="9525" cap="flat" cmpd="sng" algn="ctr">
                      <a:solidFill>
                        <a:srgbClr val="678067"/>
                      </a:solidFill>
                      <a:prstDash val="solid"/>
                      <a:round/>
                      <a:headEnd type="none" w="med" len="med"/>
                      <a:tailEnd type="none" w="med" len="med"/>
                    </a:lnT>
                    <a:lnB w="9525" cap="flat" cmpd="sng" algn="ctr">
                      <a:solidFill>
                        <a:srgbClr val="678067"/>
                      </a:solidFill>
                      <a:prstDash val="solid"/>
                      <a:round/>
                      <a:headEnd type="none" w="med" len="med"/>
                      <a:tailEnd type="none" w="med" len="med"/>
                    </a:lnB>
                    <a:solidFill>
                      <a:srgbClr val="1B2E22"/>
                    </a:solidFill>
                  </a:tcPr>
                </a:tc>
                <a:tc>
                  <a:txBody>
                    <a:bodyPr/>
                    <a:lstStyle/>
                    <a:p>
                      <a:pPr marL="0" lvl="0" indent="0" algn="ctr">
                        <a:lnSpc>
                          <a:spcPts val="3580"/>
                        </a:lnSpc>
                        <a:spcBef>
                          <a:spcPct val="0"/>
                        </a:spcBef>
                        <a:defRPr/>
                      </a:pPr>
                      <a:r>
                        <a:rPr lang="en-US" sz="2557" u="none" strike="noStrike">
                          <a:solidFill>
                            <a:srgbClr val="FFFFFF"/>
                          </a:solidFill>
                          <a:latin typeface="TT Commons Pro"/>
                          <a:ea typeface="TT Commons Pro"/>
                          <a:cs typeface="TT Commons Pro"/>
                          <a:sym typeface="TT Commons Pro"/>
                        </a:rPr>
                        <a:t>Mexico</a:t>
                      </a:r>
                      <a:endParaRPr lang="en-US" sz="1100"/>
                    </a:p>
                  </a:txBody>
                  <a:tcPr marL="95250" marR="95250" marT="95250" marB="95250" anchor="ctr">
                    <a:lnL w="0" cap="flat" cmpd="sng" algn="ctr">
                      <a:solidFill>
                        <a:srgbClr val="678067"/>
                      </a:solidFill>
                      <a:prstDash val="solid"/>
                      <a:round/>
                      <a:headEnd type="none" w="med" len="med"/>
                      <a:tailEnd type="none" w="med" len="med"/>
                    </a:lnL>
                    <a:lnR w="0" cap="flat" cmpd="sng" algn="ctr">
                      <a:solidFill>
                        <a:srgbClr val="678067"/>
                      </a:solidFill>
                      <a:prstDash val="solid"/>
                      <a:round/>
                      <a:headEnd type="none" w="med" len="med"/>
                      <a:tailEnd type="none" w="med" len="med"/>
                    </a:lnR>
                    <a:lnT w="9525" cap="flat" cmpd="sng" algn="ctr">
                      <a:solidFill>
                        <a:srgbClr val="678067"/>
                      </a:solidFill>
                      <a:prstDash val="solid"/>
                      <a:round/>
                      <a:headEnd type="none" w="med" len="med"/>
                      <a:tailEnd type="none" w="med" len="med"/>
                    </a:lnT>
                    <a:lnB w="9525" cap="flat" cmpd="sng" algn="ctr">
                      <a:solidFill>
                        <a:srgbClr val="678067"/>
                      </a:solidFill>
                      <a:prstDash val="solid"/>
                      <a:round/>
                      <a:headEnd type="none" w="med" len="med"/>
                      <a:tailEnd type="none" w="med" len="med"/>
                    </a:lnB>
                    <a:solidFill>
                      <a:srgbClr val="A0B7A0"/>
                    </a:solidFill>
                  </a:tcPr>
                </a:tc>
                <a:tc>
                  <a:txBody>
                    <a:bodyPr/>
                    <a:lstStyle/>
                    <a:p>
                      <a:pPr marL="0" lvl="0" indent="0" algn="ctr">
                        <a:lnSpc>
                          <a:spcPts val="3580"/>
                        </a:lnSpc>
                        <a:spcBef>
                          <a:spcPct val="0"/>
                        </a:spcBef>
                        <a:defRPr/>
                      </a:pPr>
                      <a:r>
                        <a:rPr lang="en-US" sz="2557" u="none" strike="noStrike">
                          <a:solidFill>
                            <a:srgbClr val="FFFFFF"/>
                          </a:solidFill>
                          <a:latin typeface="TT Commons Pro"/>
                          <a:ea typeface="TT Commons Pro"/>
                          <a:cs typeface="TT Commons Pro"/>
                          <a:sym typeface="TT Commons Pro"/>
                        </a:rPr>
                        <a:t>0.000</a:t>
                      </a:r>
                      <a:endParaRPr lang="en-US" sz="1100"/>
                    </a:p>
                  </a:txBody>
                  <a:tcPr marL="95250" marR="95250" marT="95250" marB="95250" anchor="ctr">
                    <a:lnL w="0" cap="flat" cmpd="sng" algn="ctr">
                      <a:solidFill>
                        <a:srgbClr val="678067"/>
                      </a:solidFill>
                      <a:prstDash val="solid"/>
                      <a:round/>
                      <a:headEnd type="none" w="med" len="med"/>
                      <a:tailEnd type="none" w="med" len="med"/>
                    </a:lnL>
                    <a:lnR w="0" cap="flat" cmpd="sng" algn="ctr">
                      <a:solidFill>
                        <a:srgbClr val="678067"/>
                      </a:solidFill>
                      <a:prstDash val="solid"/>
                      <a:round/>
                      <a:headEnd type="none" w="med" len="med"/>
                      <a:tailEnd type="none" w="med" len="med"/>
                    </a:lnR>
                    <a:lnT w="9525" cap="flat" cmpd="sng" algn="ctr">
                      <a:solidFill>
                        <a:srgbClr val="678067"/>
                      </a:solidFill>
                      <a:prstDash val="solid"/>
                      <a:round/>
                      <a:headEnd type="none" w="med" len="med"/>
                      <a:tailEnd type="none" w="med" len="med"/>
                    </a:lnT>
                    <a:lnB w="9525" cap="flat" cmpd="sng" algn="ctr">
                      <a:solidFill>
                        <a:srgbClr val="678067"/>
                      </a:solidFill>
                      <a:prstDash val="solid"/>
                      <a:round/>
                      <a:headEnd type="none" w="med" len="med"/>
                      <a:tailEnd type="none" w="med" len="med"/>
                    </a:lnB>
                    <a:solidFill>
                      <a:srgbClr val="A0B7A0"/>
                    </a:solidFill>
                  </a:tcPr>
                </a:tc>
                <a:tc>
                  <a:txBody>
                    <a:bodyPr/>
                    <a:lstStyle/>
                    <a:p>
                      <a:pPr marL="0" lvl="0" indent="0" algn="ctr">
                        <a:lnSpc>
                          <a:spcPts val="3580"/>
                        </a:lnSpc>
                        <a:spcBef>
                          <a:spcPct val="0"/>
                        </a:spcBef>
                        <a:defRPr/>
                      </a:pPr>
                      <a:r>
                        <a:rPr lang="en-US" sz="2557" u="none" strike="noStrike">
                          <a:solidFill>
                            <a:srgbClr val="FFFFFF"/>
                          </a:solidFill>
                          <a:latin typeface="TT Commons Pro"/>
                          <a:ea typeface="TT Commons Pro"/>
                          <a:cs typeface="TT Commons Pro"/>
                          <a:sym typeface="TT Commons Pro"/>
                        </a:rPr>
                        <a:t>0.000</a:t>
                      </a:r>
                      <a:endParaRPr lang="en-US" sz="1100"/>
                    </a:p>
                  </a:txBody>
                  <a:tcPr marL="95250" marR="95250" marT="95250" marB="95250" anchor="ctr">
                    <a:lnL w="0" cap="flat" cmpd="sng" algn="ctr">
                      <a:solidFill>
                        <a:srgbClr val="678067"/>
                      </a:solidFill>
                      <a:prstDash val="solid"/>
                      <a:round/>
                      <a:headEnd type="none" w="med" len="med"/>
                      <a:tailEnd type="none" w="med" len="med"/>
                    </a:lnL>
                    <a:lnR w="0" cap="flat" cmpd="sng" algn="ctr">
                      <a:solidFill>
                        <a:srgbClr val="678067"/>
                      </a:solidFill>
                      <a:prstDash val="solid"/>
                      <a:round/>
                      <a:headEnd type="none" w="med" len="med"/>
                      <a:tailEnd type="none" w="med" len="med"/>
                    </a:lnR>
                    <a:lnT w="9525" cap="flat" cmpd="sng" algn="ctr">
                      <a:solidFill>
                        <a:srgbClr val="678067"/>
                      </a:solidFill>
                      <a:prstDash val="solid"/>
                      <a:round/>
                      <a:headEnd type="none" w="med" len="med"/>
                      <a:tailEnd type="none" w="med" len="med"/>
                    </a:lnT>
                    <a:lnB w="9525" cap="flat" cmpd="sng" algn="ctr">
                      <a:solidFill>
                        <a:srgbClr val="678067"/>
                      </a:solidFill>
                      <a:prstDash val="solid"/>
                      <a:round/>
                      <a:headEnd type="none" w="med" len="med"/>
                      <a:tailEnd type="none" w="med" len="med"/>
                    </a:lnB>
                    <a:solidFill>
                      <a:srgbClr val="A0B7A0"/>
                    </a:solidFill>
                  </a:tcPr>
                </a:tc>
                <a:tc>
                  <a:txBody>
                    <a:bodyPr/>
                    <a:lstStyle/>
                    <a:p>
                      <a:pPr marL="0" lvl="0" indent="0" algn="ctr">
                        <a:lnSpc>
                          <a:spcPts val="3580"/>
                        </a:lnSpc>
                        <a:spcBef>
                          <a:spcPct val="0"/>
                        </a:spcBef>
                        <a:defRPr/>
                      </a:pPr>
                      <a:r>
                        <a:rPr lang="en-US" sz="2557" u="none" strike="noStrike">
                          <a:solidFill>
                            <a:srgbClr val="FFFFFF"/>
                          </a:solidFill>
                          <a:latin typeface="TT Commons Pro"/>
                          <a:ea typeface="TT Commons Pro"/>
                          <a:cs typeface="TT Commons Pro"/>
                          <a:sym typeface="TT Commons Pro"/>
                        </a:rPr>
                        <a:t>0.000</a:t>
                      </a:r>
                      <a:endParaRPr lang="en-US" sz="1100"/>
                    </a:p>
                  </a:txBody>
                  <a:tcPr marL="95250" marR="95250" marT="95250" marB="95250" anchor="ctr">
                    <a:lnL w="0" cap="flat" cmpd="sng" algn="ctr">
                      <a:solidFill>
                        <a:srgbClr val="678067"/>
                      </a:solidFill>
                      <a:prstDash val="solid"/>
                      <a:round/>
                      <a:headEnd type="none" w="med" len="med"/>
                      <a:tailEnd type="none" w="med" len="med"/>
                    </a:lnL>
                    <a:lnR w="0" cap="flat" cmpd="sng" algn="ctr">
                      <a:solidFill>
                        <a:srgbClr val="678067"/>
                      </a:solidFill>
                      <a:prstDash val="solid"/>
                      <a:round/>
                      <a:headEnd type="none" w="med" len="med"/>
                      <a:tailEnd type="none" w="med" len="med"/>
                    </a:lnR>
                    <a:lnT w="9525" cap="flat" cmpd="sng" algn="ctr">
                      <a:solidFill>
                        <a:srgbClr val="678067"/>
                      </a:solidFill>
                      <a:prstDash val="solid"/>
                      <a:round/>
                      <a:headEnd type="none" w="med" len="med"/>
                      <a:tailEnd type="none" w="med" len="med"/>
                    </a:lnT>
                    <a:lnB w="9525" cap="flat" cmpd="sng" algn="ctr">
                      <a:solidFill>
                        <a:srgbClr val="678067"/>
                      </a:solidFill>
                      <a:prstDash val="solid"/>
                      <a:round/>
                      <a:headEnd type="none" w="med" len="med"/>
                      <a:tailEnd type="none" w="med" len="med"/>
                    </a:lnB>
                    <a:solidFill>
                      <a:srgbClr val="A0B7A0"/>
                    </a:solidFill>
                  </a:tcPr>
                </a:tc>
                <a:tc>
                  <a:txBody>
                    <a:bodyPr/>
                    <a:lstStyle/>
                    <a:p>
                      <a:pPr marL="0" lvl="0" indent="0" algn="ctr">
                        <a:lnSpc>
                          <a:spcPts val="3580"/>
                        </a:lnSpc>
                        <a:spcBef>
                          <a:spcPct val="0"/>
                        </a:spcBef>
                        <a:defRPr/>
                      </a:pPr>
                      <a:r>
                        <a:rPr lang="en-US" sz="2557" u="none" strike="noStrike">
                          <a:solidFill>
                            <a:srgbClr val="FFFFFF"/>
                          </a:solidFill>
                          <a:latin typeface="TT Commons Pro"/>
                          <a:ea typeface="TT Commons Pro"/>
                          <a:cs typeface="TT Commons Pro"/>
                          <a:sym typeface="TT Commons Pro"/>
                        </a:rPr>
                        <a:t>0.000</a:t>
                      </a:r>
                      <a:endParaRPr lang="en-US" sz="1100"/>
                    </a:p>
                  </a:txBody>
                  <a:tcPr marL="95250" marR="95250" marT="95250" marB="95250" anchor="ctr">
                    <a:lnL w="0" cap="flat" cmpd="sng" algn="ctr">
                      <a:solidFill>
                        <a:srgbClr val="678067"/>
                      </a:solidFill>
                      <a:prstDash val="solid"/>
                      <a:round/>
                      <a:headEnd type="none" w="med" len="med"/>
                      <a:tailEnd type="none" w="med" len="med"/>
                    </a:lnL>
                    <a:lnR w="0" cap="flat" cmpd="sng" algn="ctr">
                      <a:solidFill>
                        <a:srgbClr val="678067"/>
                      </a:solidFill>
                      <a:prstDash val="solid"/>
                      <a:round/>
                      <a:headEnd type="none" w="med" len="med"/>
                      <a:tailEnd type="none" w="med" len="med"/>
                    </a:lnR>
                    <a:lnT w="9525" cap="flat" cmpd="sng" algn="ctr">
                      <a:solidFill>
                        <a:srgbClr val="678067"/>
                      </a:solidFill>
                      <a:prstDash val="solid"/>
                      <a:round/>
                      <a:headEnd type="none" w="med" len="med"/>
                      <a:tailEnd type="none" w="med" len="med"/>
                    </a:lnT>
                    <a:lnB w="9525" cap="flat" cmpd="sng" algn="ctr">
                      <a:solidFill>
                        <a:srgbClr val="678067"/>
                      </a:solidFill>
                      <a:prstDash val="solid"/>
                      <a:round/>
                      <a:headEnd type="none" w="med" len="med"/>
                      <a:tailEnd type="none" w="med" len="med"/>
                    </a:lnB>
                    <a:solidFill>
                      <a:srgbClr val="A0B7A0"/>
                    </a:solidFill>
                  </a:tcPr>
                </a:tc>
                <a:extLst>
                  <a:ext uri="{0D108BD9-81ED-4DB2-BD59-A6C34878D82A}">
                    <a16:rowId xmlns:a16="http://schemas.microsoft.com/office/drawing/2014/main" val="10005"/>
                  </a:ext>
                </a:extLst>
              </a:tr>
              <a:tr h="753103">
                <a:tc>
                  <a:txBody>
                    <a:bodyPr/>
                    <a:lstStyle/>
                    <a:p>
                      <a:pPr marL="0" lvl="0" indent="0" algn="ctr">
                        <a:lnSpc>
                          <a:spcPts val="3580"/>
                        </a:lnSpc>
                        <a:spcBef>
                          <a:spcPct val="0"/>
                        </a:spcBef>
                        <a:defRPr/>
                      </a:pPr>
                      <a:endParaRPr lang="en-US" sz="1100"/>
                    </a:p>
                  </a:txBody>
                  <a:tcPr marL="95250" marR="95250" marT="95250" marB="95250" anchor="ctr">
                    <a:lnL w="0" cap="flat" cmpd="sng" algn="ctr">
                      <a:solidFill>
                        <a:srgbClr val="678067"/>
                      </a:solidFill>
                      <a:prstDash val="solid"/>
                      <a:round/>
                      <a:headEnd type="none" w="med" len="med"/>
                      <a:tailEnd type="none" w="med" len="med"/>
                    </a:lnL>
                    <a:lnR w="0" cap="flat" cmpd="sng" algn="ctr">
                      <a:solidFill>
                        <a:srgbClr val="678067"/>
                      </a:solidFill>
                      <a:prstDash val="solid"/>
                      <a:round/>
                      <a:headEnd type="none" w="med" len="med"/>
                      <a:tailEnd type="none" w="med" len="med"/>
                    </a:lnR>
                    <a:lnT w="9525" cap="flat" cmpd="sng" algn="ctr">
                      <a:solidFill>
                        <a:srgbClr val="678067"/>
                      </a:solidFill>
                      <a:prstDash val="solid"/>
                      <a:round/>
                      <a:headEnd type="none" w="med" len="med"/>
                      <a:tailEnd type="none" w="med" len="med"/>
                    </a:lnT>
                    <a:lnB w="9525" cap="flat" cmpd="sng" algn="ctr">
                      <a:solidFill>
                        <a:srgbClr val="678067"/>
                      </a:solidFill>
                      <a:prstDash val="solid"/>
                      <a:round/>
                      <a:headEnd type="none" w="med" len="med"/>
                      <a:tailEnd type="none" w="med" len="med"/>
                    </a:lnB>
                    <a:solidFill>
                      <a:srgbClr val="1B2E22"/>
                    </a:solidFill>
                  </a:tcPr>
                </a:tc>
                <a:tc>
                  <a:txBody>
                    <a:bodyPr/>
                    <a:lstStyle/>
                    <a:p>
                      <a:pPr marL="0" lvl="0" indent="0" algn="ctr">
                        <a:lnSpc>
                          <a:spcPts val="3580"/>
                        </a:lnSpc>
                        <a:spcBef>
                          <a:spcPct val="0"/>
                        </a:spcBef>
                        <a:defRPr/>
                      </a:pPr>
                      <a:r>
                        <a:rPr lang="en-US" sz="2557" u="none" strike="noStrike">
                          <a:solidFill>
                            <a:srgbClr val="FFFFFF"/>
                          </a:solidFill>
                          <a:latin typeface="TT Commons Pro"/>
                          <a:ea typeface="TT Commons Pro"/>
                          <a:cs typeface="TT Commons Pro"/>
                          <a:sym typeface="TT Commons Pro"/>
                        </a:rPr>
                        <a:t>China</a:t>
                      </a:r>
                      <a:endParaRPr lang="en-US" sz="1100"/>
                    </a:p>
                  </a:txBody>
                  <a:tcPr marL="95250" marR="95250" marT="95250" marB="95250" anchor="ctr">
                    <a:lnL w="0" cap="flat" cmpd="sng" algn="ctr">
                      <a:solidFill>
                        <a:srgbClr val="678067"/>
                      </a:solidFill>
                      <a:prstDash val="solid"/>
                      <a:round/>
                      <a:headEnd type="none" w="med" len="med"/>
                      <a:tailEnd type="none" w="med" len="med"/>
                    </a:lnL>
                    <a:lnR w="0" cap="flat" cmpd="sng" algn="ctr">
                      <a:solidFill>
                        <a:srgbClr val="678067"/>
                      </a:solidFill>
                      <a:prstDash val="solid"/>
                      <a:round/>
                      <a:headEnd type="none" w="med" len="med"/>
                      <a:tailEnd type="none" w="med" len="med"/>
                    </a:lnR>
                    <a:lnT w="9525" cap="flat" cmpd="sng" algn="ctr">
                      <a:solidFill>
                        <a:srgbClr val="678067"/>
                      </a:solidFill>
                      <a:prstDash val="solid"/>
                      <a:round/>
                      <a:headEnd type="none" w="med" len="med"/>
                      <a:tailEnd type="none" w="med" len="med"/>
                    </a:lnT>
                    <a:lnB w="9525" cap="flat" cmpd="sng" algn="ctr">
                      <a:solidFill>
                        <a:srgbClr val="678067"/>
                      </a:solidFill>
                      <a:prstDash val="solid"/>
                      <a:round/>
                      <a:headEnd type="none" w="med" len="med"/>
                      <a:tailEnd type="none" w="med" len="med"/>
                    </a:lnB>
                    <a:solidFill>
                      <a:srgbClr val="A0B7A0"/>
                    </a:solidFill>
                  </a:tcPr>
                </a:tc>
                <a:tc>
                  <a:txBody>
                    <a:bodyPr/>
                    <a:lstStyle/>
                    <a:p>
                      <a:pPr marL="0" lvl="0" indent="0" algn="ctr">
                        <a:lnSpc>
                          <a:spcPts val="3580"/>
                        </a:lnSpc>
                        <a:spcBef>
                          <a:spcPct val="0"/>
                        </a:spcBef>
                        <a:defRPr/>
                      </a:pPr>
                      <a:r>
                        <a:rPr lang="en-US" sz="2557" u="none" strike="noStrike">
                          <a:solidFill>
                            <a:srgbClr val="FFFFFF"/>
                          </a:solidFill>
                          <a:latin typeface="TT Commons Pro"/>
                          <a:ea typeface="TT Commons Pro"/>
                          <a:cs typeface="TT Commons Pro"/>
                          <a:sym typeface="TT Commons Pro"/>
                        </a:rPr>
                        <a:t>977.29</a:t>
                      </a:r>
                      <a:endParaRPr lang="en-US" sz="1100"/>
                    </a:p>
                  </a:txBody>
                  <a:tcPr marL="95250" marR="95250" marT="95250" marB="95250" anchor="ctr">
                    <a:lnL w="0" cap="flat" cmpd="sng" algn="ctr">
                      <a:solidFill>
                        <a:srgbClr val="678067"/>
                      </a:solidFill>
                      <a:prstDash val="solid"/>
                      <a:round/>
                      <a:headEnd type="none" w="med" len="med"/>
                      <a:tailEnd type="none" w="med" len="med"/>
                    </a:lnL>
                    <a:lnR w="0" cap="flat" cmpd="sng" algn="ctr">
                      <a:solidFill>
                        <a:srgbClr val="678067"/>
                      </a:solidFill>
                      <a:prstDash val="solid"/>
                      <a:round/>
                      <a:headEnd type="none" w="med" len="med"/>
                      <a:tailEnd type="none" w="med" len="med"/>
                    </a:lnR>
                    <a:lnT w="9525" cap="flat" cmpd="sng" algn="ctr">
                      <a:solidFill>
                        <a:srgbClr val="678067"/>
                      </a:solidFill>
                      <a:prstDash val="solid"/>
                      <a:round/>
                      <a:headEnd type="none" w="med" len="med"/>
                      <a:tailEnd type="none" w="med" len="med"/>
                    </a:lnT>
                    <a:lnB w="9525" cap="flat" cmpd="sng" algn="ctr">
                      <a:solidFill>
                        <a:srgbClr val="678067"/>
                      </a:solidFill>
                      <a:prstDash val="solid"/>
                      <a:round/>
                      <a:headEnd type="none" w="med" len="med"/>
                      <a:tailEnd type="none" w="med" len="med"/>
                    </a:lnB>
                    <a:solidFill>
                      <a:srgbClr val="A0B7A0"/>
                    </a:solidFill>
                  </a:tcPr>
                </a:tc>
                <a:tc>
                  <a:txBody>
                    <a:bodyPr/>
                    <a:lstStyle/>
                    <a:p>
                      <a:pPr marL="0" lvl="0" indent="0" algn="ctr">
                        <a:lnSpc>
                          <a:spcPts val="3580"/>
                        </a:lnSpc>
                        <a:spcBef>
                          <a:spcPct val="0"/>
                        </a:spcBef>
                        <a:defRPr/>
                      </a:pPr>
                      <a:r>
                        <a:rPr lang="en-US" sz="2557" u="none" strike="noStrike">
                          <a:solidFill>
                            <a:srgbClr val="FFFFFF"/>
                          </a:solidFill>
                          <a:latin typeface="TT Commons Pro"/>
                          <a:ea typeface="TT Commons Pro"/>
                          <a:cs typeface="TT Commons Pro"/>
                          <a:sym typeface="TT Commons Pro"/>
                        </a:rPr>
                        <a:t>1075.02</a:t>
                      </a:r>
                      <a:endParaRPr lang="en-US" sz="1100"/>
                    </a:p>
                  </a:txBody>
                  <a:tcPr marL="95250" marR="95250" marT="95250" marB="95250" anchor="ctr">
                    <a:lnL w="0" cap="flat" cmpd="sng" algn="ctr">
                      <a:solidFill>
                        <a:srgbClr val="678067"/>
                      </a:solidFill>
                      <a:prstDash val="solid"/>
                      <a:round/>
                      <a:headEnd type="none" w="med" len="med"/>
                      <a:tailEnd type="none" w="med" len="med"/>
                    </a:lnL>
                    <a:lnR w="0" cap="flat" cmpd="sng" algn="ctr">
                      <a:solidFill>
                        <a:srgbClr val="678067"/>
                      </a:solidFill>
                      <a:prstDash val="solid"/>
                      <a:round/>
                      <a:headEnd type="none" w="med" len="med"/>
                      <a:tailEnd type="none" w="med" len="med"/>
                    </a:lnR>
                    <a:lnT w="9525" cap="flat" cmpd="sng" algn="ctr">
                      <a:solidFill>
                        <a:srgbClr val="678067"/>
                      </a:solidFill>
                      <a:prstDash val="solid"/>
                      <a:round/>
                      <a:headEnd type="none" w="med" len="med"/>
                      <a:tailEnd type="none" w="med" len="med"/>
                    </a:lnT>
                    <a:lnB w="9525" cap="flat" cmpd="sng" algn="ctr">
                      <a:solidFill>
                        <a:srgbClr val="678067"/>
                      </a:solidFill>
                      <a:prstDash val="solid"/>
                      <a:round/>
                      <a:headEnd type="none" w="med" len="med"/>
                      <a:tailEnd type="none" w="med" len="med"/>
                    </a:lnB>
                    <a:solidFill>
                      <a:srgbClr val="A0B7A0"/>
                    </a:solidFill>
                  </a:tcPr>
                </a:tc>
                <a:tc>
                  <a:txBody>
                    <a:bodyPr/>
                    <a:lstStyle/>
                    <a:p>
                      <a:pPr marL="0" lvl="0" indent="0" algn="ctr">
                        <a:lnSpc>
                          <a:spcPts val="3580"/>
                        </a:lnSpc>
                        <a:spcBef>
                          <a:spcPct val="0"/>
                        </a:spcBef>
                        <a:defRPr/>
                      </a:pPr>
                      <a:r>
                        <a:rPr lang="en-US" sz="2557" u="none" strike="noStrike">
                          <a:solidFill>
                            <a:srgbClr val="FFFFFF"/>
                          </a:solidFill>
                          <a:latin typeface="TT Commons Pro"/>
                          <a:ea typeface="TT Commons Pro"/>
                          <a:cs typeface="TT Commons Pro"/>
                          <a:sym typeface="TT Commons Pro"/>
                        </a:rPr>
                        <a:t>1172.74</a:t>
                      </a:r>
                      <a:endParaRPr lang="en-US" sz="1100"/>
                    </a:p>
                  </a:txBody>
                  <a:tcPr marL="95250" marR="95250" marT="95250" marB="95250" anchor="ctr">
                    <a:lnL w="0" cap="flat" cmpd="sng" algn="ctr">
                      <a:solidFill>
                        <a:srgbClr val="678067"/>
                      </a:solidFill>
                      <a:prstDash val="solid"/>
                      <a:round/>
                      <a:headEnd type="none" w="med" len="med"/>
                      <a:tailEnd type="none" w="med" len="med"/>
                    </a:lnL>
                    <a:lnR w="0" cap="flat" cmpd="sng" algn="ctr">
                      <a:solidFill>
                        <a:srgbClr val="678067"/>
                      </a:solidFill>
                      <a:prstDash val="solid"/>
                      <a:round/>
                      <a:headEnd type="none" w="med" len="med"/>
                      <a:tailEnd type="none" w="med" len="med"/>
                    </a:lnR>
                    <a:lnT w="9525" cap="flat" cmpd="sng" algn="ctr">
                      <a:solidFill>
                        <a:srgbClr val="678067"/>
                      </a:solidFill>
                      <a:prstDash val="solid"/>
                      <a:round/>
                      <a:headEnd type="none" w="med" len="med"/>
                      <a:tailEnd type="none" w="med" len="med"/>
                    </a:lnT>
                    <a:lnB w="9525" cap="flat" cmpd="sng" algn="ctr">
                      <a:solidFill>
                        <a:srgbClr val="678067"/>
                      </a:solidFill>
                      <a:prstDash val="solid"/>
                      <a:round/>
                      <a:headEnd type="none" w="med" len="med"/>
                      <a:tailEnd type="none" w="med" len="med"/>
                    </a:lnB>
                    <a:solidFill>
                      <a:srgbClr val="A0B7A0"/>
                    </a:solidFill>
                  </a:tcPr>
                </a:tc>
                <a:tc>
                  <a:txBody>
                    <a:bodyPr/>
                    <a:lstStyle/>
                    <a:p>
                      <a:pPr marL="0" lvl="0" indent="0" algn="ctr">
                        <a:lnSpc>
                          <a:spcPts val="3580"/>
                        </a:lnSpc>
                        <a:spcBef>
                          <a:spcPct val="0"/>
                        </a:spcBef>
                        <a:defRPr/>
                      </a:pPr>
                      <a:r>
                        <a:rPr lang="en-US" sz="2557" u="none" strike="noStrike">
                          <a:solidFill>
                            <a:srgbClr val="FFFFFF"/>
                          </a:solidFill>
                          <a:latin typeface="TT Commons Pro"/>
                          <a:ea typeface="TT Commons Pro"/>
                          <a:cs typeface="TT Commons Pro"/>
                          <a:sym typeface="TT Commons Pro"/>
                        </a:rPr>
                        <a:t>1270.47</a:t>
                      </a:r>
                      <a:endParaRPr lang="en-US" sz="1100"/>
                    </a:p>
                  </a:txBody>
                  <a:tcPr marL="95250" marR="95250" marT="95250" marB="95250" anchor="ctr">
                    <a:lnL w="0" cap="flat" cmpd="sng" algn="ctr">
                      <a:solidFill>
                        <a:srgbClr val="678067"/>
                      </a:solidFill>
                      <a:prstDash val="solid"/>
                      <a:round/>
                      <a:headEnd type="none" w="med" len="med"/>
                      <a:tailEnd type="none" w="med" len="med"/>
                    </a:lnL>
                    <a:lnR w="0" cap="flat" cmpd="sng" algn="ctr">
                      <a:solidFill>
                        <a:srgbClr val="678067"/>
                      </a:solidFill>
                      <a:prstDash val="solid"/>
                      <a:round/>
                      <a:headEnd type="none" w="med" len="med"/>
                      <a:tailEnd type="none" w="med" len="med"/>
                    </a:lnR>
                    <a:lnT w="9525" cap="flat" cmpd="sng" algn="ctr">
                      <a:solidFill>
                        <a:srgbClr val="678067"/>
                      </a:solidFill>
                      <a:prstDash val="solid"/>
                      <a:round/>
                      <a:headEnd type="none" w="med" len="med"/>
                      <a:tailEnd type="none" w="med" len="med"/>
                    </a:lnT>
                    <a:lnB w="9525" cap="flat" cmpd="sng" algn="ctr">
                      <a:solidFill>
                        <a:srgbClr val="678067"/>
                      </a:solidFill>
                      <a:prstDash val="solid"/>
                      <a:round/>
                      <a:headEnd type="none" w="med" len="med"/>
                      <a:tailEnd type="none" w="med" len="med"/>
                    </a:lnB>
                    <a:solidFill>
                      <a:srgbClr val="A0B7A0"/>
                    </a:solidFill>
                  </a:tcPr>
                </a:tc>
                <a:extLst>
                  <a:ext uri="{0D108BD9-81ED-4DB2-BD59-A6C34878D82A}">
                    <a16:rowId xmlns:a16="http://schemas.microsoft.com/office/drawing/2014/main" val="10006"/>
                  </a:ext>
                </a:extLst>
              </a:tr>
            </a:tbl>
          </a:graphicData>
        </a:graphic>
      </p:graphicFrame>
      <p:sp>
        <p:nvSpPr>
          <p:cNvPr id="5" name="TextBox 5"/>
          <p:cNvSpPr txBox="1"/>
          <p:nvPr/>
        </p:nvSpPr>
        <p:spPr>
          <a:xfrm>
            <a:off x="855446" y="388483"/>
            <a:ext cx="16230600" cy="1152525"/>
          </a:xfrm>
          <a:prstGeom prst="rect">
            <a:avLst/>
          </a:prstGeom>
        </p:spPr>
        <p:txBody>
          <a:bodyPr lIns="0" tIns="0" rIns="0" bIns="0" rtlCol="0" anchor="t">
            <a:spAutoFit/>
          </a:bodyPr>
          <a:lstStyle/>
          <a:p>
            <a:pPr marL="0" lvl="0" indent="0" algn="l">
              <a:lnSpc>
                <a:spcPts val="9000"/>
              </a:lnSpc>
              <a:spcBef>
                <a:spcPct val="0"/>
              </a:spcBef>
            </a:pPr>
            <a:r>
              <a:rPr lang="en-US" sz="7500">
                <a:solidFill>
                  <a:srgbClr val="FFFFFF"/>
                </a:solidFill>
                <a:latin typeface="Rasputin Light"/>
                <a:ea typeface="Rasputin Light"/>
                <a:cs typeface="Rasputin Light"/>
                <a:sym typeface="Rasputin Light"/>
              </a:rPr>
              <a:t>M</a:t>
            </a:r>
            <a:r>
              <a:rPr lang="en-US" sz="7500" u="none" strike="noStrike">
                <a:solidFill>
                  <a:srgbClr val="FFFFFF"/>
                </a:solidFill>
                <a:latin typeface="Rasputin Light"/>
                <a:ea typeface="Rasputin Light"/>
                <a:cs typeface="Rasputin Light"/>
                <a:sym typeface="Rasputin Light"/>
              </a:rPr>
              <a:t>ost affected sections</a:t>
            </a:r>
          </a:p>
        </p:txBody>
      </p:sp>
      <p:sp>
        <p:nvSpPr>
          <p:cNvPr id="6" name="AutoShape 6"/>
          <p:cNvSpPr/>
          <p:nvPr/>
        </p:nvSpPr>
        <p:spPr>
          <a:xfrm flipV="1">
            <a:off x="2" y="2955153"/>
            <a:ext cx="18287995" cy="9525"/>
          </a:xfrm>
          <a:prstGeom prst="line">
            <a:avLst/>
          </a:prstGeom>
          <a:ln w="9525" cap="flat">
            <a:solidFill>
              <a:srgbClr val="1B2E22"/>
            </a:solidFill>
            <a:prstDash val="solid"/>
            <a:headEnd type="none" w="sm" len="sm"/>
            <a:tailEnd type="none" w="sm" len="sm"/>
          </a:ln>
        </p:spPr>
        <p:txBody>
          <a:bodyPr/>
          <a:lstStyle/>
          <a:p>
            <a:endParaRPr lang="en-US"/>
          </a:p>
        </p:txBody>
      </p:sp>
      <p:sp>
        <p:nvSpPr>
          <p:cNvPr id="7" name="TextBox 7"/>
          <p:cNvSpPr txBox="1"/>
          <p:nvPr/>
        </p:nvSpPr>
        <p:spPr>
          <a:xfrm>
            <a:off x="855446" y="1741695"/>
            <a:ext cx="13228667" cy="2283460"/>
          </a:xfrm>
          <a:prstGeom prst="rect">
            <a:avLst/>
          </a:prstGeom>
        </p:spPr>
        <p:txBody>
          <a:bodyPr lIns="0" tIns="0" rIns="0" bIns="0" rtlCol="0" anchor="t">
            <a:spAutoFit/>
          </a:bodyPr>
          <a:lstStyle/>
          <a:p>
            <a:pPr algn="just">
              <a:lnSpc>
                <a:spcPts val="4759"/>
              </a:lnSpc>
            </a:pPr>
            <a:r>
              <a:rPr lang="en-US" sz="3399">
                <a:solidFill>
                  <a:srgbClr val="FFFFFF"/>
                </a:solidFill>
                <a:latin typeface="TT Commons Pro"/>
                <a:ea typeface="TT Commons Pro"/>
                <a:cs typeface="TT Commons Pro"/>
                <a:sym typeface="TT Commons Pro"/>
              </a:rPr>
              <a:t>Section IV: Foodstuffs, Beverages &amp; Tobacco</a:t>
            </a:r>
          </a:p>
          <a:p>
            <a:pPr algn="just">
              <a:lnSpc>
                <a:spcPts val="4759"/>
              </a:lnSpc>
            </a:pPr>
            <a:r>
              <a:rPr lang="en-US" sz="3399">
                <a:solidFill>
                  <a:srgbClr val="FFFFFF"/>
                </a:solidFill>
                <a:latin typeface="TT Commons Pro"/>
                <a:ea typeface="TT Commons Pro"/>
                <a:cs typeface="TT Commons Pro"/>
                <a:sym typeface="TT Commons Pro"/>
              </a:rPr>
              <a:t>Section VI: Chemical &amp; Allied Product</a:t>
            </a:r>
          </a:p>
          <a:p>
            <a:pPr algn="just">
              <a:lnSpc>
                <a:spcPts val="4759"/>
              </a:lnSpc>
            </a:pPr>
            <a:r>
              <a:rPr lang="en-US" sz="3399">
                <a:solidFill>
                  <a:srgbClr val="FFFFFF"/>
                </a:solidFill>
                <a:latin typeface="TT Commons Pro"/>
                <a:ea typeface="TT Commons Pro"/>
                <a:cs typeface="TT Commons Pro"/>
                <a:sym typeface="TT Commons Pro"/>
              </a:rPr>
              <a:t>Section XIX: Arms and Ammunition</a:t>
            </a:r>
          </a:p>
          <a:p>
            <a:pPr algn="just">
              <a:lnSpc>
                <a:spcPts val="3920"/>
              </a:lnSpc>
            </a:pPr>
            <a:r>
              <a:rPr lang="en-US" sz="2800">
                <a:solidFill>
                  <a:srgbClr val="FFFFFF"/>
                </a:solidFill>
                <a:latin typeface="TT Commons Pro"/>
                <a:ea typeface="TT Commons Pro"/>
                <a:cs typeface="TT Commons Pro"/>
                <a:sym typeface="TT Commons Pro"/>
              </a:rPr>
              <a:t>With China being the most affected by the increases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4F674F"/>
        </a:solidFill>
        <a:effectLst/>
      </p:bgPr>
    </p:bg>
    <p:spTree>
      <p:nvGrpSpPr>
        <p:cNvPr id="1" name=""/>
        <p:cNvGrpSpPr/>
        <p:nvPr/>
      </p:nvGrpSpPr>
      <p:grpSpPr>
        <a:xfrm>
          <a:off x="0" y="0"/>
          <a:ext cx="0" cy="0"/>
          <a:chOff x="0" y="0"/>
          <a:chExt cx="0" cy="0"/>
        </a:xfrm>
      </p:grpSpPr>
      <p:grpSp>
        <p:nvGrpSpPr>
          <p:cNvPr id="2" name="Group 2"/>
          <p:cNvGrpSpPr/>
          <p:nvPr/>
        </p:nvGrpSpPr>
        <p:grpSpPr>
          <a:xfrm>
            <a:off x="4224823" y="-5354291"/>
            <a:ext cx="18840593" cy="13084034"/>
            <a:chOff x="0" y="0"/>
            <a:chExt cx="25120791" cy="17445379"/>
          </a:xfrm>
        </p:grpSpPr>
        <p:sp>
          <p:nvSpPr>
            <p:cNvPr id="3" name="Freeform 3" descr="Abstract Shape"/>
            <p:cNvSpPr/>
            <p:nvPr/>
          </p:nvSpPr>
          <p:spPr>
            <a:xfrm rot="3595009">
              <a:off x="10008792" y="3792091"/>
              <a:ext cx="14448640" cy="9861197"/>
            </a:xfrm>
            <a:custGeom>
              <a:avLst/>
              <a:gdLst/>
              <a:ahLst/>
              <a:cxnLst/>
              <a:rect l="l" t="t" r="r" b="b"/>
              <a:pathLst>
                <a:path w="14448640" h="9861197">
                  <a:moveTo>
                    <a:pt x="0" y="0"/>
                  </a:moveTo>
                  <a:lnTo>
                    <a:pt x="14448640" y="0"/>
                  </a:lnTo>
                  <a:lnTo>
                    <a:pt x="14448640" y="9861197"/>
                  </a:lnTo>
                  <a:lnTo>
                    <a:pt x="0" y="98611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0" y="7380003"/>
              <a:ext cx="14428967" cy="1676382"/>
            </a:xfrm>
            <a:prstGeom prst="rect">
              <a:avLst/>
            </a:prstGeom>
          </p:spPr>
          <p:txBody>
            <a:bodyPr lIns="0" tIns="0" rIns="0" bIns="0" rtlCol="0" anchor="t">
              <a:spAutoFit/>
            </a:bodyPr>
            <a:lstStyle/>
            <a:p>
              <a:pPr algn="l">
                <a:lnSpc>
                  <a:spcPts val="10500"/>
                </a:lnSpc>
              </a:pPr>
              <a:r>
                <a:rPr lang="en-US" sz="7500">
                  <a:solidFill>
                    <a:srgbClr val="FFFFFF"/>
                  </a:solidFill>
                  <a:latin typeface="Rasputin Light"/>
                  <a:ea typeface="Rasputin Light"/>
                  <a:cs typeface="Rasputin Light"/>
                  <a:sym typeface="Rasputin Light"/>
                </a:rPr>
                <a:t>Real-World Example:</a:t>
              </a:r>
            </a:p>
          </p:txBody>
        </p:sp>
        <p:sp>
          <p:nvSpPr>
            <p:cNvPr id="5" name="TextBox 5"/>
            <p:cNvSpPr txBox="1"/>
            <p:nvPr/>
          </p:nvSpPr>
          <p:spPr>
            <a:xfrm>
              <a:off x="0" y="8737079"/>
              <a:ext cx="14288691" cy="1551728"/>
            </a:xfrm>
            <a:prstGeom prst="rect">
              <a:avLst/>
            </a:prstGeom>
          </p:spPr>
          <p:txBody>
            <a:bodyPr lIns="0" tIns="0" rIns="0" bIns="0" rtlCol="0" anchor="t">
              <a:spAutoFit/>
            </a:bodyPr>
            <a:lstStyle/>
            <a:p>
              <a:pPr algn="ctr">
                <a:lnSpc>
                  <a:spcPts val="4759"/>
                </a:lnSpc>
              </a:pPr>
              <a:r>
                <a:rPr lang="en-US" sz="3399">
                  <a:solidFill>
                    <a:srgbClr val="FFFFFF"/>
                  </a:solidFill>
                  <a:latin typeface="TT Commons Pro"/>
                  <a:ea typeface="TT Commons Pro"/>
                  <a:cs typeface="TT Commons Pro"/>
                  <a:sym typeface="TT Commons Pro"/>
                </a:rPr>
                <a:t>Impact of Tariff Increases on 2024 Coffee and Tea Imports</a:t>
              </a:r>
            </a:p>
            <a:p>
              <a:pPr algn="ctr">
                <a:lnSpc>
                  <a:spcPts val="4759"/>
                </a:lnSpc>
              </a:pPr>
              <a:endParaRPr lang="en-US" sz="3399">
                <a:solidFill>
                  <a:srgbClr val="FFFFFF"/>
                </a:solidFill>
                <a:latin typeface="TT Commons Pro"/>
                <a:ea typeface="TT Commons Pro"/>
                <a:cs typeface="TT Commons Pro"/>
                <a:sym typeface="TT Commons Pro"/>
              </a:endParaRPr>
            </a:p>
          </p:txBody>
        </p:sp>
      </p:grpSp>
      <p:sp>
        <p:nvSpPr>
          <p:cNvPr id="6" name="Freeform 6" descr="Abstract Shape"/>
          <p:cNvSpPr/>
          <p:nvPr/>
        </p:nvSpPr>
        <p:spPr>
          <a:xfrm rot="3921556">
            <a:off x="-3704253" y="5881126"/>
            <a:ext cx="10836480" cy="7395897"/>
          </a:xfrm>
          <a:custGeom>
            <a:avLst/>
            <a:gdLst/>
            <a:ahLst/>
            <a:cxnLst/>
            <a:rect l="l" t="t" r="r" b="b"/>
            <a:pathLst>
              <a:path w="10836480" h="7395897">
                <a:moveTo>
                  <a:pt x="0" y="0"/>
                </a:moveTo>
                <a:lnTo>
                  <a:pt x="10836480" y="0"/>
                </a:lnTo>
                <a:lnTo>
                  <a:pt x="10836480" y="7395897"/>
                </a:lnTo>
                <a:lnTo>
                  <a:pt x="0" y="73958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AutoShape 7"/>
          <p:cNvSpPr/>
          <p:nvPr/>
        </p:nvSpPr>
        <p:spPr>
          <a:xfrm flipV="1">
            <a:off x="2" y="2955153"/>
            <a:ext cx="18287995" cy="9525"/>
          </a:xfrm>
          <a:prstGeom prst="line">
            <a:avLst/>
          </a:prstGeom>
          <a:ln w="9525" cap="flat">
            <a:solidFill>
              <a:srgbClr val="1B2E22"/>
            </a:solidFill>
            <a:prstDash val="solid"/>
            <a:headEnd type="none" w="sm" len="sm"/>
            <a:tailEnd type="none" w="sm" len="sm"/>
          </a:ln>
        </p:spPr>
        <p:txBody>
          <a:bodyPr/>
          <a:lstStyle/>
          <a:p>
            <a:endParaRPr lang="en-US"/>
          </a:p>
        </p:txBody>
      </p:sp>
      <p:pic>
        <p:nvPicPr>
          <p:cNvPr id="8" name="Picture 8"/>
          <p:cNvPicPr>
            <a:picLocks noChangeAspect="1"/>
          </p:cNvPicPr>
          <p:nvPr/>
        </p:nvPicPr>
        <p:blipFill>
          <a:blip r:embed="rId4"/>
          <a:stretch>
            <a:fillRect/>
          </a:stretch>
        </p:blipFill>
        <p:spPr>
          <a:xfrm>
            <a:off x="1013996" y="394899"/>
            <a:ext cx="16260007" cy="10218401"/>
          </a:xfrm>
          <a:prstGeom prst="rect">
            <a:avLst/>
          </a:prstGeom>
        </p:spPr>
      </p:pic>
      <p:sp>
        <p:nvSpPr>
          <p:cNvPr id="9" name="TextBox 9"/>
          <p:cNvSpPr txBox="1"/>
          <p:nvPr/>
        </p:nvSpPr>
        <p:spPr>
          <a:xfrm>
            <a:off x="417212" y="9201150"/>
            <a:ext cx="17870788" cy="1253489"/>
          </a:xfrm>
          <a:prstGeom prst="rect">
            <a:avLst/>
          </a:prstGeom>
        </p:spPr>
        <p:txBody>
          <a:bodyPr lIns="0" tIns="0" rIns="0" bIns="0" rtlCol="0" anchor="t">
            <a:spAutoFit/>
          </a:bodyPr>
          <a:lstStyle/>
          <a:p>
            <a:pPr algn="ctr">
              <a:lnSpc>
                <a:spcPts val="3360"/>
              </a:lnSpc>
            </a:pPr>
            <a:r>
              <a:rPr lang="en-US" sz="2400">
                <a:solidFill>
                  <a:srgbClr val="FFFFFF"/>
                </a:solidFill>
                <a:latin typeface="TT Commons Pro"/>
                <a:ea typeface="TT Commons Pro"/>
                <a:cs typeface="TT Commons Pro"/>
                <a:sym typeface="TT Commons Pro"/>
              </a:rPr>
              <a:t>These increases highlight a direct and measurable impact on COGS, which can challenge small businesses operating on tight margins. Data source </a:t>
            </a:r>
            <a:r>
              <a:rPr lang="en-US" sz="2400" u="sng">
                <a:solidFill>
                  <a:srgbClr val="FFFFFF"/>
                </a:solidFill>
                <a:latin typeface="TT Commons Pro"/>
                <a:ea typeface="TT Commons Pro"/>
                <a:cs typeface="TT Commons Pro"/>
                <a:sym typeface="TT Commons Pro"/>
                <a:hlinkClick r:id="rId5" tooltip="https://www.trade.gov/data-visualization/office-consumer-goods-import-data-tools"/>
              </a:rPr>
              <a:t>(Administration, 2024)</a:t>
            </a:r>
          </a:p>
          <a:p>
            <a:pPr algn="ctr">
              <a:lnSpc>
                <a:spcPts val="3360"/>
              </a:lnSpc>
            </a:pPr>
            <a:endParaRPr lang="en-US" sz="2400" u="sng">
              <a:solidFill>
                <a:srgbClr val="FFFFFF"/>
              </a:solidFill>
              <a:latin typeface="TT Commons Pro"/>
              <a:ea typeface="TT Commons Pro"/>
              <a:cs typeface="TT Commons Pro"/>
              <a:sym typeface="TT Commons Pro"/>
              <a:hlinkClick r:id="rId5" tooltip="https://www.trade.gov/data-visualization/office-consumer-goods-import-data-tool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B7CDB7"/>
        </a:solidFill>
        <a:effectLst/>
      </p:bgPr>
    </p:bg>
    <p:spTree>
      <p:nvGrpSpPr>
        <p:cNvPr id="1" name=""/>
        <p:cNvGrpSpPr/>
        <p:nvPr/>
      </p:nvGrpSpPr>
      <p:grpSpPr>
        <a:xfrm>
          <a:off x="0" y="0"/>
          <a:ext cx="0" cy="0"/>
          <a:chOff x="0" y="0"/>
          <a:chExt cx="0" cy="0"/>
        </a:xfrm>
      </p:grpSpPr>
      <p:sp>
        <p:nvSpPr>
          <p:cNvPr id="2" name="Freeform 2" descr="green organic blob"/>
          <p:cNvSpPr/>
          <p:nvPr/>
        </p:nvSpPr>
        <p:spPr>
          <a:xfrm rot="7672955">
            <a:off x="10751530" y="-4919548"/>
            <a:ext cx="8901994" cy="10457555"/>
          </a:xfrm>
          <a:custGeom>
            <a:avLst/>
            <a:gdLst/>
            <a:ahLst/>
            <a:cxnLst/>
            <a:rect l="l" t="t" r="r" b="b"/>
            <a:pathLst>
              <a:path w="8901994" h="10457555">
                <a:moveTo>
                  <a:pt x="0" y="0"/>
                </a:moveTo>
                <a:lnTo>
                  <a:pt x="8901993" y="0"/>
                </a:lnTo>
                <a:lnTo>
                  <a:pt x="8901993" y="10457555"/>
                </a:lnTo>
                <a:lnTo>
                  <a:pt x="0" y="10457555"/>
                </a:lnTo>
                <a:lnTo>
                  <a:pt x="0" y="0"/>
                </a:lnTo>
                <a:close/>
              </a:path>
            </a:pathLst>
          </a:custGeom>
          <a:blipFill>
            <a:blip r:embed="rId2">
              <a:alphaModFix amt="21999"/>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descr="lined abstract shape"/>
          <p:cNvSpPr/>
          <p:nvPr/>
        </p:nvSpPr>
        <p:spPr>
          <a:xfrm rot="1901520">
            <a:off x="11841060" y="-3813956"/>
            <a:ext cx="10836480" cy="7395897"/>
          </a:xfrm>
          <a:custGeom>
            <a:avLst/>
            <a:gdLst/>
            <a:ahLst/>
            <a:cxnLst/>
            <a:rect l="l" t="t" r="r" b="b"/>
            <a:pathLst>
              <a:path w="10836480" h="7395897">
                <a:moveTo>
                  <a:pt x="0" y="0"/>
                </a:moveTo>
                <a:lnTo>
                  <a:pt x="10836480" y="0"/>
                </a:lnTo>
                <a:lnTo>
                  <a:pt x="10836480" y="7395898"/>
                </a:lnTo>
                <a:lnTo>
                  <a:pt x="0" y="739589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descr="lined abstract shape"/>
          <p:cNvSpPr/>
          <p:nvPr/>
        </p:nvSpPr>
        <p:spPr>
          <a:xfrm rot="-7772413">
            <a:off x="-3694394" y="6621391"/>
            <a:ext cx="6800267" cy="4641183"/>
          </a:xfrm>
          <a:custGeom>
            <a:avLst/>
            <a:gdLst/>
            <a:ahLst/>
            <a:cxnLst/>
            <a:rect l="l" t="t" r="r" b="b"/>
            <a:pathLst>
              <a:path w="6800267" h="4641183">
                <a:moveTo>
                  <a:pt x="0" y="0"/>
                </a:moveTo>
                <a:lnTo>
                  <a:pt x="6800268" y="0"/>
                </a:lnTo>
                <a:lnTo>
                  <a:pt x="6800268" y="4641183"/>
                </a:lnTo>
                <a:lnTo>
                  <a:pt x="0" y="464118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AutoShape 5">
            <a:extLst>
              <a:ext uri="{C183D7F6-B498-43B3-948B-1728B52AA6E4}">
                <adec:decorative xmlns:adec="http://schemas.microsoft.com/office/drawing/2017/decorative" val="1"/>
              </a:ext>
            </a:extLst>
          </p:cNvPr>
          <p:cNvSpPr/>
          <p:nvPr/>
        </p:nvSpPr>
        <p:spPr>
          <a:xfrm>
            <a:off x="1028700" y="5143500"/>
            <a:ext cx="17826211" cy="0"/>
          </a:xfrm>
          <a:prstGeom prst="line">
            <a:avLst/>
          </a:prstGeom>
          <a:ln w="9525" cap="rnd">
            <a:solidFill>
              <a:srgbClr val="4F674F"/>
            </a:solidFill>
            <a:prstDash val="solid"/>
            <a:headEnd type="none" w="sm" len="sm"/>
            <a:tailEnd type="none" w="sm" len="sm"/>
          </a:ln>
        </p:spPr>
        <p:txBody>
          <a:bodyPr/>
          <a:lstStyle/>
          <a:p>
            <a:endParaRPr lang="en-US"/>
          </a:p>
        </p:txBody>
      </p:sp>
      <p:grpSp>
        <p:nvGrpSpPr>
          <p:cNvPr id="6" name="Group 6"/>
          <p:cNvGrpSpPr/>
          <p:nvPr/>
        </p:nvGrpSpPr>
        <p:grpSpPr>
          <a:xfrm>
            <a:off x="1028700" y="4981575"/>
            <a:ext cx="323850" cy="323850"/>
            <a:chOff x="0" y="0"/>
            <a:chExt cx="6350000" cy="6350000"/>
          </a:xfrm>
        </p:grpSpPr>
        <p:sp>
          <p:nvSpPr>
            <p:cNvPr id="7" name="Freeform 7">
              <a:extLst>
                <a:ext uri="{C183D7F6-B498-43B3-948B-1728B52AA6E4}">
                  <adec:decorative xmlns:adec="http://schemas.microsoft.com/office/drawing/2017/decorative" val="1"/>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4F674F"/>
            </a:solidFill>
          </p:spPr>
          <p:txBody>
            <a:bodyPr/>
            <a:lstStyle/>
            <a:p>
              <a:endParaRPr lang="en-US"/>
            </a:p>
          </p:txBody>
        </p:sp>
      </p:grpSp>
      <p:grpSp>
        <p:nvGrpSpPr>
          <p:cNvPr id="8" name="Group 8"/>
          <p:cNvGrpSpPr/>
          <p:nvPr/>
        </p:nvGrpSpPr>
        <p:grpSpPr>
          <a:xfrm>
            <a:off x="6470944" y="4972050"/>
            <a:ext cx="323850" cy="323850"/>
            <a:chOff x="0" y="0"/>
            <a:chExt cx="6350000" cy="6350000"/>
          </a:xfrm>
        </p:grpSpPr>
        <p:sp>
          <p:nvSpPr>
            <p:cNvPr id="9" name="Freeform 9">
              <a:extLst>
                <a:ext uri="{C183D7F6-B498-43B3-948B-1728B52AA6E4}">
                  <adec:decorative xmlns:adec="http://schemas.microsoft.com/office/drawing/2017/decorative" val="1"/>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4F674F"/>
            </a:solidFill>
          </p:spPr>
          <p:txBody>
            <a:bodyPr/>
            <a:lstStyle/>
            <a:p>
              <a:endParaRPr lang="en-US"/>
            </a:p>
          </p:txBody>
        </p:sp>
      </p:grpSp>
      <p:grpSp>
        <p:nvGrpSpPr>
          <p:cNvPr id="10" name="Group 10"/>
          <p:cNvGrpSpPr/>
          <p:nvPr/>
        </p:nvGrpSpPr>
        <p:grpSpPr>
          <a:xfrm>
            <a:off x="11009614" y="4981575"/>
            <a:ext cx="323850" cy="323850"/>
            <a:chOff x="0" y="0"/>
            <a:chExt cx="6350000" cy="6350000"/>
          </a:xfrm>
        </p:grpSpPr>
        <p:sp>
          <p:nvSpPr>
            <p:cNvPr id="11" name="Freeform 11">
              <a:extLst>
                <a:ext uri="{C183D7F6-B498-43B3-948B-1728B52AA6E4}">
                  <adec:decorative xmlns:adec="http://schemas.microsoft.com/office/drawing/2017/decorative" val="1"/>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4F674F"/>
            </a:solidFill>
          </p:spPr>
          <p:txBody>
            <a:bodyPr/>
            <a:lstStyle/>
            <a:p>
              <a:endParaRPr lang="en-US"/>
            </a:p>
          </p:txBody>
        </p:sp>
      </p:grpSp>
      <p:grpSp>
        <p:nvGrpSpPr>
          <p:cNvPr id="12" name="Group 12"/>
          <p:cNvGrpSpPr/>
          <p:nvPr/>
        </p:nvGrpSpPr>
        <p:grpSpPr>
          <a:xfrm>
            <a:off x="15811047" y="4842540"/>
            <a:ext cx="323850" cy="323850"/>
            <a:chOff x="0" y="0"/>
            <a:chExt cx="6350000" cy="6350000"/>
          </a:xfrm>
        </p:grpSpPr>
        <p:sp>
          <p:nvSpPr>
            <p:cNvPr id="13" name="Freeform 13">
              <a:extLst>
                <a:ext uri="{C183D7F6-B498-43B3-948B-1728B52AA6E4}">
                  <adec:decorative xmlns:adec="http://schemas.microsoft.com/office/drawing/2017/decorative" val="1"/>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4F674F"/>
            </a:solidFill>
          </p:spPr>
          <p:txBody>
            <a:bodyPr/>
            <a:lstStyle/>
            <a:p>
              <a:endParaRPr lang="en-US"/>
            </a:p>
          </p:txBody>
        </p:sp>
      </p:grpSp>
      <p:grpSp>
        <p:nvGrpSpPr>
          <p:cNvPr id="14" name="Group 14"/>
          <p:cNvGrpSpPr/>
          <p:nvPr/>
        </p:nvGrpSpPr>
        <p:grpSpPr>
          <a:xfrm>
            <a:off x="1028700" y="6121325"/>
            <a:ext cx="3455295" cy="2437535"/>
            <a:chOff x="0" y="0"/>
            <a:chExt cx="4607060" cy="3250047"/>
          </a:xfrm>
        </p:grpSpPr>
        <p:sp>
          <p:nvSpPr>
            <p:cNvPr id="15" name="TextBox 15"/>
            <p:cNvSpPr txBox="1"/>
            <p:nvPr/>
          </p:nvSpPr>
          <p:spPr>
            <a:xfrm>
              <a:off x="0" y="963412"/>
              <a:ext cx="4607060" cy="2286635"/>
            </a:xfrm>
            <a:prstGeom prst="rect">
              <a:avLst/>
            </a:prstGeom>
          </p:spPr>
          <p:txBody>
            <a:bodyPr lIns="0" tIns="0" rIns="0" bIns="0" rtlCol="0" anchor="t">
              <a:spAutoFit/>
            </a:bodyPr>
            <a:lstStyle/>
            <a:p>
              <a:pPr marL="0" lvl="0" indent="0" algn="l">
                <a:lnSpc>
                  <a:spcPts val="3450"/>
                </a:lnSpc>
              </a:pPr>
              <a:r>
                <a:rPr lang="en-US" sz="2300">
                  <a:solidFill>
                    <a:srgbClr val="142414"/>
                  </a:solidFill>
                  <a:latin typeface="TT Commons Pro"/>
                  <a:ea typeface="TT Commons Pro"/>
                  <a:cs typeface="TT Commons Pro"/>
                  <a:sym typeface="TT Commons Pro"/>
                </a:rPr>
                <a:t>The analysis relies on estimated COGS data, which may not reflect real-world variations</a:t>
              </a:r>
            </a:p>
          </p:txBody>
        </p:sp>
        <p:sp>
          <p:nvSpPr>
            <p:cNvPr id="16" name="TextBox 16"/>
            <p:cNvSpPr txBox="1"/>
            <p:nvPr/>
          </p:nvSpPr>
          <p:spPr>
            <a:xfrm>
              <a:off x="0" y="-47625"/>
              <a:ext cx="4607060" cy="657225"/>
            </a:xfrm>
            <a:prstGeom prst="rect">
              <a:avLst/>
            </a:prstGeom>
          </p:spPr>
          <p:txBody>
            <a:bodyPr lIns="0" tIns="0" rIns="0" bIns="0" rtlCol="0" anchor="t">
              <a:spAutoFit/>
            </a:bodyPr>
            <a:lstStyle/>
            <a:p>
              <a:pPr algn="l">
                <a:lnSpc>
                  <a:spcPts val="3900"/>
                </a:lnSpc>
              </a:pPr>
              <a:r>
                <a:rPr lang="en-US" sz="3000">
                  <a:solidFill>
                    <a:srgbClr val="142414"/>
                  </a:solidFill>
                  <a:latin typeface="Rasputin Light"/>
                  <a:ea typeface="Rasputin Light"/>
                  <a:cs typeface="Rasputin Light"/>
                  <a:sym typeface="Rasputin Light"/>
                </a:rPr>
                <a:t>Hypothetical Data</a:t>
              </a:r>
            </a:p>
          </p:txBody>
        </p:sp>
      </p:grpSp>
      <p:grpSp>
        <p:nvGrpSpPr>
          <p:cNvPr id="17" name="Group 17"/>
          <p:cNvGrpSpPr/>
          <p:nvPr/>
        </p:nvGrpSpPr>
        <p:grpSpPr>
          <a:xfrm>
            <a:off x="9605817" y="6121325"/>
            <a:ext cx="3455295" cy="2437535"/>
            <a:chOff x="0" y="0"/>
            <a:chExt cx="4607060" cy="3250047"/>
          </a:xfrm>
        </p:grpSpPr>
        <p:sp>
          <p:nvSpPr>
            <p:cNvPr id="18" name="TextBox 18"/>
            <p:cNvSpPr txBox="1"/>
            <p:nvPr/>
          </p:nvSpPr>
          <p:spPr>
            <a:xfrm>
              <a:off x="0" y="963412"/>
              <a:ext cx="4607060" cy="2286635"/>
            </a:xfrm>
            <a:prstGeom prst="rect">
              <a:avLst/>
            </a:prstGeom>
          </p:spPr>
          <p:txBody>
            <a:bodyPr lIns="0" tIns="0" rIns="0" bIns="0" rtlCol="0" anchor="t">
              <a:spAutoFit/>
            </a:bodyPr>
            <a:lstStyle/>
            <a:p>
              <a:pPr marL="0" lvl="0" indent="0" algn="l">
                <a:lnSpc>
                  <a:spcPts val="3450"/>
                </a:lnSpc>
              </a:pPr>
              <a:r>
                <a:rPr lang="en-US" sz="2300">
                  <a:solidFill>
                    <a:srgbClr val="142414"/>
                  </a:solidFill>
                  <a:latin typeface="TT Commons Pro"/>
                  <a:ea typeface="TT Commons Pro"/>
                  <a:cs typeface="TT Commons Pro"/>
                  <a:sym typeface="TT Commons Pro"/>
                </a:rPr>
                <a:t>The analysis groups tariffs by section, which might overlook product-specific nuances</a:t>
              </a:r>
            </a:p>
          </p:txBody>
        </p:sp>
        <p:sp>
          <p:nvSpPr>
            <p:cNvPr id="19" name="TextBox 19"/>
            <p:cNvSpPr txBox="1"/>
            <p:nvPr/>
          </p:nvSpPr>
          <p:spPr>
            <a:xfrm>
              <a:off x="0" y="-47625"/>
              <a:ext cx="4607060" cy="657225"/>
            </a:xfrm>
            <a:prstGeom prst="rect">
              <a:avLst/>
            </a:prstGeom>
          </p:spPr>
          <p:txBody>
            <a:bodyPr lIns="0" tIns="0" rIns="0" bIns="0" rtlCol="0" anchor="t">
              <a:spAutoFit/>
            </a:bodyPr>
            <a:lstStyle/>
            <a:p>
              <a:pPr algn="l">
                <a:lnSpc>
                  <a:spcPts val="3900"/>
                </a:lnSpc>
              </a:pPr>
              <a:r>
                <a:rPr lang="en-US" sz="3000">
                  <a:solidFill>
                    <a:srgbClr val="142414"/>
                  </a:solidFill>
                  <a:latin typeface="Rasputin Light"/>
                  <a:ea typeface="Rasputin Light"/>
                  <a:cs typeface="Rasputin Light"/>
                  <a:sym typeface="Rasputin Light"/>
                </a:rPr>
                <a:t>Data Granularity</a:t>
              </a:r>
            </a:p>
          </p:txBody>
        </p:sp>
      </p:grpSp>
      <p:grpSp>
        <p:nvGrpSpPr>
          <p:cNvPr id="20" name="Group 20"/>
          <p:cNvGrpSpPr/>
          <p:nvPr/>
        </p:nvGrpSpPr>
        <p:grpSpPr>
          <a:xfrm>
            <a:off x="5432340" y="6121325"/>
            <a:ext cx="3455295" cy="3751985"/>
            <a:chOff x="0" y="0"/>
            <a:chExt cx="4607060" cy="5002647"/>
          </a:xfrm>
        </p:grpSpPr>
        <p:sp>
          <p:nvSpPr>
            <p:cNvPr id="21" name="TextBox 21"/>
            <p:cNvSpPr txBox="1"/>
            <p:nvPr/>
          </p:nvSpPr>
          <p:spPr>
            <a:xfrm>
              <a:off x="0" y="963412"/>
              <a:ext cx="4607060" cy="4039235"/>
            </a:xfrm>
            <a:prstGeom prst="rect">
              <a:avLst/>
            </a:prstGeom>
          </p:spPr>
          <p:txBody>
            <a:bodyPr lIns="0" tIns="0" rIns="0" bIns="0" rtlCol="0" anchor="t">
              <a:spAutoFit/>
            </a:bodyPr>
            <a:lstStyle/>
            <a:p>
              <a:pPr algn="l">
                <a:lnSpc>
                  <a:spcPts val="3450"/>
                </a:lnSpc>
              </a:pPr>
              <a:r>
                <a:rPr lang="en-US" sz="2300">
                  <a:solidFill>
                    <a:srgbClr val="142414"/>
                  </a:solidFill>
                  <a:latin typeface="TT Commons Pro"/>
                  <a:ea typeface="TT Commons Pro"/>
                  <a:cs typeface="TT Commons Pro"/>
                  <a:sym typeface="TT Commons Pro"/>
                </a:rPr>
                <a:t>The tools used:</a:t>
              </a:r>
            </a:p>
            <a:p>
              <a:pPr marL="496571" lvl="1" indent="-248285" algn="l">
                <a:lnSpc>
                  <a:spcPts val="3450"/>
                </a:lnSpc>
                <a:buFont typeface="Arial"/>
                <a:buChar char="•"/>
              </a:pPr>
              <a:r>
                <a:rPr lang="en-US" sz="2300">
                  <a:solidFill>
                    <a:srgbClr val="142414"/>
                  </a:solidFill>
                  <a:latin typeface="TT Commons Pro"/>
                  <a:ea typeface="TT Commons Pro"/>
                  <a:cs typeface="TT Commons Pro"/>
                  <a:sym typeface="TT Commons Pro"/>
                </a:rPr>
                <a:t>R</a:t>
              </a:r>
            </a:p>
            <a:p>
              <a:pPr marL="496571" lvl="1" indent="-248285" algn="l">
                <a:lnSpc>
                  <a:spcPts val="3450"/>
                </a:lnSpc>
                <a:buFont typeface="Arial"/>
                <a:buChar char="•"/>
              </a:pPr>
              <a:r>
                <a:rPr lang="en-US" sz="2300">
                  <a:solidFill>
                    <a:srgbClr val="142414"/>
                  </a:solidFill>
                  <a:latin typeface="TT Commons Pro"/>
                  <a:ea typeface="TT Commons Pro"/>
                  <a:cs typeface="TT Commons Pro"/>
                  <a:sym typeface="TT Commons Pro"/>
                </a:rPr>
                <a:t>Excel</a:t>
              </a:r>
            </a:p>
            <a:p>
              <a:pPr algn="l">
                <a:lnSpc>
                  <a:spcPts val="3450"/>
                </a:lnSpc>
              </a:pPr>
              <a:r>
                <a:rPr lang="en-US" sz="2300">
                  <a:solidFill>
                    <a:srgbClr val="142414"/>
                  </a:solidFill>
                  <a:latin typeface="TT Commons Pro"/>
                  <a:ea typeface="TT Commons Pro"/>
                  <a:cs typeface="TT Commons Pro"/>
                  <a:sym typeface="TT Commons Pro"/>
                </a:rPr>
                <a:t> Can be limited by their computational capacity and dependency on clean, structured data</a:t>
              </a:r>
            </a:p>
          </p:txBody>
        </p:sp>
        <p:sp>
          <p:nvSpPr>
            <p:cNvPr id="22" name="TextBox 22"/>
            <p:cNvSpPr txBox="1"/>
            <p:nvPr/>
          </p:nvSpPr>
          <p:spPr>
            <a:xfrm>
              <a:off x="0" y="-47625"/>
              <a:ext cx="4607060" cy="657225"/>
            </a:xfrm>
            <a:prstGeom prst="rect">
              <a:avLst/>
            </a:prstGeom>
          </p:spPr>
          <p:txBody>
            <a:bodyPr lIns="0" tIns="0" rIns="0" bIns="0" rtlCol="0" anchor="t">
              <a:spAutoFit/>
            </a:bodyPr>
            <a:lstStyle/>
            <a:p>
              <a:pPr algn="l">
                <a:lnSpc>
                  <a:spcPts val="3900"/>
                </a:lnSpc>
              </a:pPr>
              <a:r>
                <a:rPr lang="en-US" sz="3000">
                  <a:solidFill>
                    <a:srgbClr val="142414"/>
                  </a:solidFill>
                  <a:latin typeface="Rasputin Light"/>
                  <a:ea typeface="Rasputin Light"/>
                  <a:cs typeface="Rasputin Light"/>
                  <a:sym typeface="Rasputin Light"/>
                </a:rPr>
                <a:t>Tool Constraints</a:t>
              </a:r>
            </a:p>
          </p:txBody>
        </p:sp>
      </p:grpSp>
      <p:grpSp>
        <p:nvGrpSpPr>
          <p:cNvPr id="23" name="Group 23"/>
          <p:cNvGrpSpPr/>
          <p:nvPr/>
        </p:nvGrpSpPr>
        <p:grpSpPr>
          <a:xfrm>
            <a:off x="14009457" y="6121325"/>
            <a:ext cx="3548010" cy="2437535"/>
            <a:chOff x="0" y="0"/>
            <a:chExt cx="4730679" cy="3250047"/>
          </a:xfrm>
        </p:grpSpPr>
        <p:sp>
          <p:nvSpPr>
            <p:cNvPr id="24" name="TextBox 24"/>
            <p:cNvSpPr txBox="1"/>
            <p:nvPr/>
          </p:nvSpPr>
          <p:spPr>
            <a:xfrm>
              <a:off x="0" y="963412"/>
              <a:ext cx="4730679" cy="2286635"/>
            </a:xfrm>
            <a:prstGeom prst="rect">
              <a:avLst/>
            </a:prstGeom>
          </p:spPr>
          <p:txBody>
            <a:bodyPr lIns="0" tIns="0" rIns="0" bIns="0" rtlCol="0" anchor="t">
              <a:spAutoFit/>
            </a:bodyPr>
            <a:lstStyle/>
            <a:p>
              <a:pPr marL="0" lvl="0" indent="0" algn="l">
                <a:lnSpc>
                  <a:spcPts val="3450"/>
                </a:lnSpc>
              </a:pPr>
              <a:r>
                <a:rPr lang="en-US" sz="2300">
                  <a:solidFill>
                    <a:srgbClr val="142414"/>
                  </a:solidFill>
                  <a:latin typeface="TT Commons Pro"/>
                  <a:ea typeface="TT Commons Pro"/>
                  <a:cs typeface="TT Commons Pro"/>
                  <a:sym typeface="TT Commons Pro"/>
                </a:rPr>
                <a:t>the analysis is the assumption of a linear relationship between tariffs and costs</a:t>
              </a:r>
            </a:p>
          </p:txBody>
        </p:sp>
        <p:sp>
          <p:nvSpPr>
            <p:cNvPr id="25" name="TextBox 25"/>
            <p:cNvSpPr txBox="1"/>
            <p:nvPr/>
          </p:nvSpPr>
          <p:spPr>
            <a:xfrm>
              <a:off x="0" y="-47625"/>
              <a:ext cx="4730679" cy="657225"/>
            </a:xfrm>
            <a:prstGeom prst="rect">
              <a:avLst/>
            </a:prstGeom>
          </p:spPr>
          <p:txBody>
            <a:bodyPr lIns="0" tIns="0" rIns="0" bIns="0" rtlCol="0" anchor="t">
              <a:spAutoFit/>
            </a:bodyPr>
            <a:lstStyle/>
            <a:p>
              <a:pPr algn="l">
                <a:lnSpc>
                  <a:spcPts val="3900"/>
                </a:lnSpc>
              </a:pPr>
              <a:r>
                <a:rPr lang="en-US" sz="3000">
                  <a:solidFill>
                    <a:srgbClr val="142414"/>
                  </a:solidFill>
                  <a:latin typeface="Rasputin Light"/>
                  <a:ea typeface="Rasputin Light"/>
                  <a:cs typeface="Rasputin Light"/>
                  <a:sym typeface="Rasputin Light"/>
                </a:rPr>
                <a:t>Data Assumptions</a:t>
              </a:r>
            </a:p>
          </p:txBody>
        </p:sp>
      </p:grpSp>
      <p:sp>
        <p:nvSpPr>
          <p:cNvPr id="26" name="TextBox 26"/>
          <p:cNvSpPr txBox="1"/>
          <p:nvPr/>
        </p:nvSpPr>
        <p:spPr>
          <a:xfrm>
            <a:off x="1266236" y="1009650"/>
            <a:ext cx="15755527" cy="4391025"/>
          </a:xfrm>
          <a:prstGeom prst="rect">
            <a:avLst/>
          </a:prstGeom>
        </p:spPr>
        <p:txBody>
          <a:bodyPr lIns="0" tIns="0" rIns="0" bIns="0" rtlCol="0" anchor="t">
            <a:spAutoFit/>
          </a:bodyPr>
          <a:lstStyle/>
          <a:p>
            <a:pPr algn="ctr">
              <a:lnSpc>
                <a:spcPts val="11519"/>
              </a:lnSpc>
            </a:pPr>
            <a:r>
              <a:rPr lang="en-US" sz="9600">
                <a:solidFill>
                  <a:srgbClr val="142414"/>
                </a:solidFill>
                <a:latin typeface="Rasputin Light"/>
                <a:ea typeface="Rasputin Light"/>
                <a:cs typeface="Rasputin Light"/>
                <a:sym typeface="Rasputin Light"/>
              </a:rPr>
              <a:t>Limitations of Techniques and Tools</a:t>
            </a:r>
          </a:p>
          <a:p>
            <a:pPr algn="r">
              <a:lnSpc>
                <a:spcPts val="11519"/>
              </a:lnSpc>
            </a:pPr>
            <a:endParaRPr lang="en-US" sz="9600">
              <a:solidFill>
                <a:srgbClr val="142414"/>
              </a:solidFill>
              <a:latin typeface="Rasputin Light"/>
              <a:ea typeface="Rasputin Light"/>
              <a:cs typeface="Rasputin Light"/>
              <a:sym typeface="Rasputin Ligh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4F674F"/>
        </a:solidFill>
        <a:effectLst/>
      </p:bgPr>
    </p:bg>
    <p:spTree>
      <p:nvGrpSpPr>
        <p:cNvPr id="1" name=""/>
        <p:cNvGrpSpPr/>
        <p:nvPr/>
      </p:nvGrpSpPr>
      <p:grpSpPr>
        <a:xfrm>
          <a:off x="0" y="0"/>
          <a:ext cx="0" cy="0"/>
          <a:chOff x="0" y="0"/>
          <a:chExt cx="0" cy="0"/>
        </a:xfrm>
      </p:grpSpPr>
      <p:sp>
        <p:nvSpPr>
          <p:cNvPr id="2" name="Freeform 2" descr="green organic blob"/>
          <p:cNvSpPr/>
          <p:nvPr/>
        </p:nvSpPr>
        <p:spPr>
          <a:xfrm>
            <a:off x="3285901" y="6205709"/>
            <a:ext cx="8857785" cy="8525618"/>
          </a:xfrm>
          <a:custGeom>
            <a:avLst/>
            <a:gdLst/>
            <a:ahLst/>
            <a:cxnLst/>
            <a:rect l="l" t="t" r="r" b="b"/>
            <a:pathLst>
              <a:path w="8857785" h="8525618">
                <a:moveTo>
                  <a:pt x="0" y="0"/>
                </a:moveTo>
                <a:lnTo>
                  <a:pt x="8857785" y="0"/>
                </a:lnTo>
                <a:lnTo>
                  <a:pt x="8857785" y="8525619"/>
                </a:lnTo>
                <a:lnTo>
                  <a:pt x="0" y="8525619"/>
                </a:lnTo>
                <a:lnTo>
                  <a:pt x="0" y="0"/>
                </a:lnTo>
                <a:close/>
              </a:path>
            </a:pathLst>
          </a:custGeom>
          <a:blipFill>
            <a:blip r:embed="rId2">
              <a:alphaModFix amt="21999"/>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descr="lined abstract shape"/>
          <p:cNvSpPr/>
          <p:nvPr/>
        </p:nvSpPr>
        <p:spPr>
          <a:xfrm rot="-5790819">
            <a:off x="8900004" y="5599105"/>
            <a:ext cx="5915271" cy="9375789"/>
          </a:xfrm>
          <a:custGeom>
            <a:avLst/>
            <a:gdLst/>
            <a:ahLst/>
            <a:cxnLst/>
            <a:rect l="l" t="t" r="r" b="b"/>
            <a:pathLst>
              <a:path w="5915271" h="9375789">
                <a:moveTo>
                  <a:pt x="0" y="0"/>
                </a:moveTo>
                <a:lnTo>
                  <a:pt x="5915271" y="0"/>
                </a:lnTo>
                <a:lnTo>
                  <a:pt x="5915271" y="9375790"/>
                </a:lnTo>
                <a:lnTo>
                  <a:pt x="0" y="937579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a:off x="991959" y="2427851"/>
            <a:ext cx="8152041" cy="5431297"/>
          </a:xfrm>
          <a:custGeom>
            <a:avLst/>
            <a:gdLst/>
            <a:ahLst/>
            <a:cxnLst/>
            <a:rect l="l" t="t" r="r" b="b"/>
            <a:pathLst>
              <a:path w="8152041" h="5431297">
                <a:moveTo>
                  <a:pt x="0" y="0"/>
                </a:moveTo>
                <a:lnTo>
                  <a:pt x="8152041" y="0"/>
                </a:lnTo>
                <a:lnTo>
                  <a:pt x="8152041" y="5431298"/>
                </a:lnTo>
                <a:lnTo>
                  <a:pt x="0" y="5431298"/>
                </a:lnTo>
                <a:lnTo>
                  <a:pt x="0" y="0"/>
                </a:lnTo>
                <a:close/>
              </a:path>
            </a:pathLst>
          </a:custGeom>
          <a:blipFill>
            <a:blip r:embed="rId6"/>
            <a:stretch>
              <a:fillRect/>
            </a:stretch>
          </a:blipFill>
        </p:spPr>
        <p:txBody>
          <a:bodyPr/>
          <a:lstStyle/>
          <a:p>
            <a:endParaRPr lang="en-US"/>
          </a:p>
        </p:txBody>
      </p:sp>
      <p:grpSp>
        <p:nvGrpSpPr>
          <p:cNvPr id="5" name="Group 5"/>
          <p:cNvGrpSpPr/>
          <p:nvPr/>
        </p:nvGrpSpPr>
        <p:grpSpPr>
          <a:xfrm>
            <a:off x="9764187" y="2366771"/>
            <a:ext cx="7086600" cy="5101189"/>
            <a:chOff x="0" y="0"/>
            <a:chExt cx="9448800" cy="6801585"/>
          </a:xfrm>
        </p:grpSpPr>
        <p:sp>
          <p:nvSpPr>
            <p:cNvPr id="6" name="TextBox 6"/>
            <p:cNvSpPr txBox="1"/>
            <p:nvPr/>
          </p:nvSpPr>
          <p:spPr>
            <a:xfrm>
              <a:off x="0" y="-19050"/>
              <a:ext cx="9448800" cy="3905250"/>
            </a:xfrm>
            <a:prstGeom prst="rect">
              <a:avLst/>
            </a:prstGeom>
          </p:spPr>
          <p:txBody>
            <a:bodyPr lIns="0" tIns="0" rIns="0" bIns="0" rtlCol="0" anchor="t">
              <a:spAutoFit/>
            </a:bodyPr>
            <a:lstStyle/>
            <a:p>
              <a:pPr marL="0" lvl="0" indent="0" algn="ctr">
                <a:lnSpc>
                  <a:spcPts val="11519"/>
                </a:lnSpc>
                <a:spcBef>
                  <a:spcPct val="0"/>
                </a:spcBef>
              </a:pPr>
              <a:r>
                <a:rPr lang="en-US" sz="9600">
                  <a:solidFill>
                    <a:srgbClr val="FFFFFF"/>
                  </a:solidFill>
                  <a:latin typeface="Rasputin Light"/>
                  <a:ea typeface="Rasputin Light"/>
                  <a:cs typeface="Rasputin Light"/>
                  <a:sym typeface="Rasputin Light"/>
                </a:rPr>
                <a:t>Proposed Actions</a:t>
              </a:r>
            </a:p>
          </p:txBody>
        </p:sp>
        <p:sp>
          <p:nvSpPr>
            <p:cNvPr id="7" name="TextBox 7"/>
            <p:cNvSpPr txBox="1"/>
            <p:nvPr/>
          </p:nvSpPr>
          <p:spPr>
            <a:xfrm>
              <a:off x="0" y="4188136"/>
              <a:ext cx="9448800" cy="2613449"/>
            </a:xfrm>
            <a:prstGeom prst="rect">
              <a:avLst/>
            </a:prstGeom>
          </p:spPr>
          <p:txBody>
            <a:bodyPr lIns="0" tIns="0" rIns="0" bIns="0" rtlCol="0" anchor="t">
              <a:spAutoFit/>
            </a:bodyPr>
            <a:lstStyle/>
            <a:p>
              <a:pPr marL="604518" lvl="1" indent="-302259" algn="l">
                <a:lnSpc>
                  <a:spcPts val="3919"/>
                </a:lnSpc>
                <a:buFont typeface="Arial"/>
                <a:buChar char="•"/>
              </a:pPr>
              <a:r>
                <a:rPr lang="en-US" sz="2799">
                  <a:solidFill>
                    <a:srgbClr val="FFFFFF"/>
                  </a:solidFill>
                  <a:latin typeface="TT Commons Pro"/>
                  <a:ea typeface="TT Commons Pro"/>
                  <a:cs typeface="TT Commons Pro"/>
                  <a:sym typeface="TT Commons Pro"/>
                </a:rPr>
                <a:t>Find new suppliers.</a:t>
              </a:r>
            </a:p>
            <a:p>
              <a:pPr marL="604518" lvl="1" indent="-302259" algn="l">
                <a:lnSpc>
                  <a:spcPts val="3919"/>
                </a:lnSpc>
                <a:buFont typeface="Arial"/>
                <a:buChar char="•"/>
              </a:pPr>
              <a:r>
                <a:rPr lang="en-US" sz="2799">
                  <a:solidFill>
                    <a:srgbClr val="FFFFFF"/>
                  </a:solidFill>
                  <a:latin typeface="TT Commons Pro"/>
                  <a:ea typeface="TT Commons Pro"/>
                  <a:cs typeface="TT Commons Pro"/>
                  <a:sym typeface="TT Commons Pro"/>
                </a:rPr>
                <a:t>Strategically adjust pricing or prioritize high-margin products</a:t>
              </a:r>
            </a:p>
            <a:p>
              <a:pPr marL="604518" lvl="1" indent="-302259" algn="l">
                <a:lnSpc>
                  <a:spcPts val="3919"/>
                </a:lnSpc>
                <a:spcBef>
                  <a:spcPct val="0"/>
                </a:spcBef>
                <a:buFont typeface="Arial"/>
                <a:buChar char="•"/>
              </a:pPr>
              <a:r>
                <a:rPr lang="en-US" sz="2799">
                  <a:solidFill>
                    <a:srgbClr val="FFFFFF"/>
                  </a:solidFill>
                  <a:latin typeface="TT Commons Pro"/>
                  <a:ea typeface="TT Commons Pro"/>
                  <a:cs typeface="TT Commons Pro"/>
                  <a:sym typeface="TT Commons Pro"/>
                </a:rPr>
                <a:t>Explore alternative markets</a:t>
              </a: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B7CDB7"/>
        </a:solidFill>
        <a:effectLst/>
      </p:bgPr>
    </p:bg>
    <p:spTree>
      <p:nvGrpSpPr>
        <p:cNvPr id="1" name=""/>
        <p:cNvGrpSpPr/>
        <p:nvPr/>
      </p:nvGrpSpPr>
      <p:grpSpPr>
        <a:xfrm>
          <a:off x="0" y="0"/>
          <a:ext cx="0" cy="0"/>
          <a:chOff x="0" y="0"/>
          <a:chExt cx="0" cy="0"/>
        </a:xfrm>
      </p:grpSpPr>
      <p:sp>
        <p:nvSpPr>
          <p:cNvPr id="2" name="Freeform 2" descr="green organic blob"/>
          <p:cNvSpPr/>
          <p:nvPr/>
        </p:nvSpPr>
        <p:spPr>
          <a:xfrm>
            <a:off x="12831187" y="732682"/>
            <a:ext cx="8857785" cy="8525618"/>
          </a:xfrm>
          <a:custGeom>
            <a:avLst/>
            <a:gdLst/>
            <a:ahLst/>
            <a:cxnLst/>
            <a:rect l="l" t="t" r="r" b="b"/>
            <a:pathLst>
              <a:path w="8857785" h="8525618">
                <a:moveTo>
                  <a:pt x="0" y="0"/>
                </a:moveTo>
                <a:lnTo>
                  <a:pt x="8857785" y="0"/>
                </a:lnTo>
                <a:lnTo>
                  <a:pt x="8857785" y="8525618"/>
                </a:lnTo>
                <a:lnTo>
                  <a:pt x="0" y="8525618"/>
                </a:lnTo>
                <a:lnTo>
                  <a:pt x="0" y="0"/>
                </a:lnTo>
                <a:close/>
              </a:path>
            </a:pathLst>
          </a:custGeom>
          <a:blipFill>
            <a:blip r:embed="rId2">
              <a:alphaModFix amt="21999"/>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 name="Group 3"/>
          <p:cNvGrpSpPr/>
          <p:nvPr/>
        </p:nvGrpSpPr>
        <p:grpSpPr>
          <a:xfrm>
            <a:off x="0" y="0"/>
            <a:ext cx="2759063" cy="3509800"/>
            <a:chOff x="0" y="0"/>
            <a:chExt cx="3678751" cy="4679734"/>
          </a:xfrm>
        </p:grpSpPr>
        <p:pic>
          <p:nvPicPr>
            <p:cNvPr id="4" name="Picture 4"/>
            <p:cNvPicPr>
              <a:picLocks noChangeAspect="1"/>
            </p:cNvPicPr>
            <p:nvPr/>
          </p:nvPicPr>
          <p:blipFill>
            <a:blip r:embed="rId4"/>
            <a:srcRect l="11628" r="11628"/>
            <a:stretch>
              <a:fillRect/>
            </a:stretch>
          </p:blipFill>
          <p:spPr>
            <a:xfrm>
              <a:off x="0" y="0"/>
              <a:ext cx="3678751" cy="4679734"/>
            </a:xfrm>
            <a:prstGeom prst="rect">
              <a:avLst/>
            </a:prstGeom>
          </p:spPr>
        </p:pic>
      </p:grpSp>
      <p:grpSp>
        <p:nvGrpSpPr>
          <p:cNvPr id="5" name="Group 5"/>
          <p:cNvGrpSpPr/>
          <p:nvPr/>
        </p:nvGrpSpPr>
        <p:grpSpPr>
          <a:xfrm>
            <a:off x="2759063" y="0"/>
            <a:ext cx="3105947" cy="3509800"/>
            <a:chOff x="0" y="0"/>
            <a:chExt cx="4141262" cy="4679734"/>
          </a:xfrm>
        </p:grpSpPr>
        <p:pic>
          <p:nvPicPr>
            <p:cNvPr id="6" name="Picture 6"/>
            <p:cNvPicPr>
              <a:picLocks noChangeAspect="1"/>
            </p:cNvPicPr>
            <p:nvPr/>
          </p:nvPicPr>
          <p:blipFill>
            <a:blip r:embed="rId5"/>
            <a:srcRect l="23451" r="23451"/>
            <a:stretch>
              <a:fillRect/>
            </a:stretch>
          </p:blipFill>
          <p:spPr>
            <a:xfrm>
              <a:off x="0" y="0"/>
              <a:ext cx="4141262" cy="4679734"/>
            </a:xfrm>
            <a:prstGeom prst="rect">
              <a:avLst/>
            </a:prstGeom>
          </p:spPr>
        </p:pic>
      </p:grpSp>
      <p:grpSp>
        <p:nvGrpSpPr>
          <p:cNvPr id="7" name="Group 7"/>
          <p:cNvGrpSpPr/>
          <p:nvPr/>
        </p:nvGrpSpPr>
        <p:grpSpPr>
          <a:xfrm>
            <a:off x="5864213" y="0"/>
            <a:ext cx="3105947" cy="3509800"/>
            <a:chOff x="0" y="0"/>
            <a:chExt cx="4141262" cy="4679734"/>
          </a:xfrm>
        </p:grpSpPr>
        <p:pic>
          <p:nvPicPr>
            <p:cNvPr id="8" name="Picture 8"/>
            <p:cNvPicPr>
              <a:picLocks noChangeAspect="1"/>
            </p:cNvPicPr>
            <p:nvPr/>
          </p:nvPicPr>
          <p:blipFill>
            <a:blip r:embed="rId6"/>
            <a:srcRect l="18916" r="18916"/>
            <a:stretch>
              <a:fillRect/>
            </a:stretch>
          </p:blipFill>
          <p:spPr>
            <a:xfrm>
              <a:off x="0" y="0"/>
              <a:ext cx="4141262" cy="4679734"/>
            </a:xfrm>
            <a:prstGeom prst="rect">
              <a:avLst/>
            </a:prstGeom>
          </p:spPr>
        </p:pic>
      </p:grpSp>
      <p:grpSp>
        <p:nvGrpSpPr>
          <p:cNvPr id="9" name="Group 9"/>
          <p:cNvGrpSpPr/>
          <p:nvPr/>
        </p:nvGrpSpPr>
        <p:grpSpPr>
          <a:xfrm>
            <a:off x="8970160" y="-4736"/>
            <a:ext cx="3105947" cy="3509800"/>
            <a:chOff x="0" y="0"/>
            <a:chExt cx="4141262" cy="4679734"/>
          </a:xfrm>
        </p:grpSpPr>
        <p:pic>
          <p:nvPicPr>
            <p:cNvPr id="10" name="Picture 10"/>
            <p:cNvPicPr>
              <a:picLocks noChangeAspect="1"/>
            </p:cNvPicPr>
            <p:nvPr/>
          </p:nvPicPr>
          <p:blipFill>
            <a:blip r:embed="rId7"/>
            <a:srcRect l="20465" r="20465"/>
            <a:stretch>
              <a:fillRect/>
            </a:stretch>
          </p:blipFill>
          <p:spPr>
            <a:xfrm>
              <a:off x="0" y="0"/>
              <a:ext cx="4141262" cy="4679734"/>
            </a:xfrm>
            <a:prstGeom prst="rect">
              <a:avLst/>
            </a:prstGeom>
          </p:spPr>
        </p:pic>
      </p:grpSp>
      <p:grpSp>
        <p:nvGrpSpPr>
          <p:cNvPr id="11" name="Group 11"/>
          <p:cNvGrpSpPr/>
          <p:nvPr/>
        </p:nvGrpSpPr>
        <p:grpSpPr>
          <a:xfrm>
            <a:off x="12076106" y="-4736"/>
            <a:ext cx="3105947" cy="3509800"/>
            <a:chOff x="0" y="0"/>
            <a:chExt cx="4141262" cy="4679734"/>
          </a:xfrm>
        </p:grpSpPr>
        <p:pic>
          <p:nvPicPr>
            <p:cNvPr id="12" name="Picture 12"/>
            <p:cNvPicPr>
              <a:picLocks noChangeAspect="1"/>
            </p:cNvPicPr>
            <p:nvPr/>
          </p:nvPicPr>
          <p:blipFill>
            <a:blip r:embed="rId8"/>
            <a:srcRect l="6880" r="34160"/>
            <a:stretch>
              <a:fillRect/>
            </a:stretch>
          </p:blipFill>
          <p:spPr>
            <a:xfrm>
              <a:off x="0" y="0"/>
              <a:ext cx="4141262" cy="4679734"/>
            </a:xfrm>
            <a:prstGeom prst="rect">
              <a:avLst/>
            </a:prstGeom>
          </p:spPr>
        </p:pic>
      </p:grpSp>
      <p:grpSp>
        <p:nvGrpSpPr>
          <p:cNvPr id="13" name="Group 13"/>
          <p:cNvGrpSpPr/>
          <p:nvPr/>
        </p:nvGrpSpPr>
        <p:grpSpPr>
          <a:xfrm>
            <a:off x="15182053" y="-4736"/>
            <a:ext cx="3105947" cy="3509800"/>
            <a:chOff x="0" y="0"/>
            <a:chExt cx="4141262" cy="4679734"/>
          </a:xfrm>
        </p:grpSpPr>
        <p:pic>
          <p:nvPicPr>
            <p:cNvPr id="14" name="Picture 14"/>
            <p:cNvPicPr>
              <a:picLocks noChangeAspect="1"/>
            </p:cNvPicPr>
            <p:nvPr/>
          </p:nvPicPr>
          <p:blipFill>
            <a:blip r:embed="rId9"/>
            <a:srcRect l="11879" r="29161"/>
            <a:stretch>
              <a:fillRect/>
            </a:stretch>
          </p:blipFill>
          <p:spPr>
            <a:xfrm>
              <a:off x="0" y="0"/>
              <a:ext cx="4141262" cy="4679734"/>
            </a:xfrm>
            <a:prstGeom prst="rect">
              <a:avLst/>
            </a:prstGeom>
          </p:spPr>
        </p:pic>
      </p:grpSp>
      <p:sp>
        <p:nvSpPr>
          <p:cNvPr id="15" name="TextBox 15"/>
          <p:cNvSpPr txBox="1"/>
          <p:nvPr/>
        </p:nvSpPr>
        <p:spPr>
          <a:xfrm>
            <a:off x="9457791" y="3914639"/>
            <a:ext cx="7569722" cy="4693920"/>
          </a:xfrm>
          <a:prstGeom prst="rect">
            <a:avLst/>
          </a:prstGeom>
        </p:spPr>
        <p:txBody>
          <a:bodyPr lIns="0" tIns="0" rIns="0" bIns="0" rtlCol="0" anchor="t">
            <a:spAutoFit/>
          </a:bodyPr>
          <a:lstStyle/>
          <a:p>
            <a:pPr marL="604518" lvl="1" indent="-302259" algn="l">
              <a:lnSpc>
                <a:spcPts val="4199"/>
              </a:lnSpc>
              <a:buFont typeface="Arial"/>
              <a:buChar char="•"/>
            </a:pPr>
            <a:r>
              <a:rPr lang="en-US" sz="2799" b="1">
                <a:solidFill>
                  <a:srgbClr val="142414"/>
                </a:solidFill>
                <a:latin typeface="TT Commons Pro Bold"/>
                <a:ea typeface="TT Commons Pro Bold"/>
                <a:cs typeface="TT Commons Pro Bold"/>
                <a:sym typeface="TT Commons Pro Bold"/>
              </a:rPr>
              <a:t>Stay Ahead of Tariff Changes</a:t>
            </a:r>
          </a:p>
          <a:p>
            <a:pPr marL="1209036" lvl="2" indent="-403012" algn="l">
              <a:lnSpc>
                <a:spcPts val="4199"/>
              </a:lnSpc>
              <a:buFont typeface="Arial"/>
              <a:buChar char="⚬"/>
            </a:pPr>
            <a:r>
              <a:rPr lang="en-US" sz="2799">
                <a:solidFill>
                  <a:srgbClr val="142414"/>
                </a:solidFill>
                <a:latin typeface="TT Commons Pro"/>
                <a:ea typeface="TT Commons Pro"/>
                <a:cs typeface="TT Commons Pro"/>
                <a:sym typeface="TT Commons Pro"/>
              </a:rPr>
              <a:t> Increased costs due to tariffs</a:t>
            </a:r>
          </a:p>
          <a:p>
            <a:pPr marL="1209036" lvl="2" indent="-403012" algn="l">
              <a:lnSpc>
                <a:spcPts val="4199"/>
              </a:lnSpc>
              <a:buFont typeface="Arial"/>
              <a:buChar char="⚬"/>
            </a:pPr>
            <a:r>
              <a:rPr lang="en-US" sz="2799">
                <a:solidFill>
                  <a:srgbClr val="142414"/>
                </a:solidFill>
                <a:latin typeface="TT Commons Pro"/>
                <a:ea typeface="TT Commons Pro"/>
                <a:cs typeface="TT Commons Pro"/>
                <a:sym typeface="TT Commons Pro"/>
              </a:rPr>
              <a:t> Renegotiating contracts</a:t>
            </a:r>
          </a:p>
          <a:p>
            <a:pPr marL="1209036" lvl="2" indent="-403012" algn="l">
              <a:lnSpc>
                <a:spcPts val="4199"/>
              </a:lnSpc>
              <a:buFont typeface="Arial"/>
              <a:buChar char="⚬"/>
            </a:pPr>
            <a:r>
              <a:rPr lang="en-US" sz="2799">
                <a:solidFill>
                  <a:srgbClr val="142414"/>
                </a:solidFill>
                <a:latin typeface="TT Commons Pro"/>
                <a:ea typeface="TT Commons Pro"/>
                <a:cs typeface="TT Commons Pro"/>
                <a:sym typeface="TT Commons Pro"/>
              </a:rPr>
              <a:t>Exploring alternative suppliers</a:t>
            </a:r>
          </a:p>
          <a:p>
            <a:pPr marL="604518" lvl="1" indent="-302259" algn="l">
              <a:lnSpc>
                <a:spcPts val="4199"/>
              </a:lnSpc>
              <a:buFont typeface="Arial"/>
              <a:buChar char="•"/>
            </a:pPr>
            <a:r>
              <a:rPr lang="en-US" sz="2799" b="1">
                <a:solidFill>
                  <a:srgbClr val="142414"/>
                </a:solidFill>
                <a:latin typeface="TT Commons Pro Bold"/>
                <a:ea typeface="TT Commons Pro Bold"/>
                <a:cs typeface="TT Commons Pro Bold"/>
                <a:sym typeface="TT Commons Pro Bold"/>
              </a:rPr>
              <a:t>Effective Cost Management</a:t>
            </a:r>
          </a:p>
          <a:p>
            <a:pPr marL="1209036" lvl="2" indent="-403012" algn="l">
              <a:lnSpc>
                <a:spcPts val="4199"/>
              </a:lnSpc>
              <a:buFont typeface="Arial"/>
              <a:buChar char="⚬"/>
            </a:pPr>
            <a:r>
              <a:rPr lang="en-US" sz="2799">
                <a:solidFill>
                  <a:srgbClr val="142414"/>
                </a:solidFill>
                <a:latin typeface="TT Commons Pro"/>
                <a:ea typeface="TT Commons Pro"/>
                <a:cs typeface="TT Commons Pro"/>
                <a:sym typeface="TT Commons Pro"/>
              </a:rPr>
              <a:t> Small businesses can strategically allocate resources</a:t>
            </a:r>
          </a:p>
          <a:p>
            <a:pPr marL="604518" lvl="1" indent="-302259" algn="l">
              <a:lnSpc>
                <a:spcPts val="4199"/>
              </a:lnSpc>
              <a:buFont typeface="Arial"/>
              <a:buChar char="•"/>
            </a:pPr>
            <a:r>
              <a:rPr lang="en-US" sz="2799" b="1">
                <a:solidFill>
                  <a:srgbClr val="142414"/>
                </a:solidFill>
                <a:latin typeface="TT Commons Pro Bold"/>
                <a:ea typeface="TT Commons Pro Bold"/>
                <a:cs typeface="TT Commons Pro Bold"/>
                <a:sym typeface="TT Commons Pro Bold"/>
              </a:rPr>
              <a:t>Enhanced Decision-Making</a:t>
            </a:r>
          </a:p>
          <a:p>
            <a:pPr marL="1209036" lvl="2" indent="-403012" algn="l">
              <a:lnSpc>
                <a:spcPts val="4199"/>
              </a:lnSpc>
              <a:buFont typeface="Arial"/>
              <a:buChar char="⚬"/>
            </a:pPr>
            <a:r>
              <a:rPr lang="en-US" sz="2799">
                <a:solidFill>
                  <a:srgbClr val="142414"/>
                </a:solidFill>
                <a:latin typeface="TT Commons Pro"/>
                <a:ea typeface="TT Commons Pro"/>
                <a:cs typeface="TT Commons Pro"/>
                <a:sym typeface="TT Commons Pro"/>
              </a:rPr>
              <a:t> Businesses can make informed decisions</a:t>
            </a:r>
          </a:p>
        </p:txBody>
      </p:sp>
      <p:sp>
        <p:nvSpPr>
          <p:cNvPr id="16" name="TextBox 16"/>
          <p:cNvSpPr txBox="1"/>
          <p:nvPr/>
        </p:nvSpPr>
        <p:spPr>
          <a:xfrm>
            <a:off x="7499" y="4099425"/>
            <a:ext cx="8609074" cy="4391025"/>
          </a:xfrm>
          <a:prstGeom prst="rect">
            <a:avLst/>
          </a:prstGeom>
        </p:spPr>
        <p:txBody>
          <a:bodyPr lIns="0" tIns="0" rIns="0" bIns="0" rtlCol="0" anchor="t">
            <a:spAutoFit/>
          </a:bodyPr>
          <a:lstStyle/>
          <a:p>
            <a:pPr algn="ctr">
              <a:lnSpc>
                <a:spcPts val="11519"/>
              </a:lnSpc>
            </a:pPr>
            <a:r>
              <a:rPr lang="en-US" sz="9600">
                <a:solidFill>
                  <a:srgbClr val="142414"/>
                </a:solidFill>
                <a:latin typeface="Rasputin Light"/>
                <a:ea typeface="Rasputin Light"/>
                <a:cs typeface="Rasputin Light"/>
                <a:sym typeface="Rasputin Light"/>
              </a:rPr>
              <a:t>Expected Benefits of the Analysis</a:t>
            </a:r>
          </a:p>
        </p:txBody>
      </p:sp>
      <p:sp>
        <p:nvSpPr>
          <p:cNvPr id="17" name="TextBox 17"/>
          <p:cNvSpPr txBox="1"/>
          <p:nvPr/>
        </p:nvSpPr>
        <p:spPr>
          <a:xfrm>
            <a:off x="0" y="9032449"/>
            <a:ext cx="18288000" cy="1180465"/>
          </a:xfrm>
          <a:prstGeom prst="rect">
            <a:avLst/>
          </a:prstGeom>
        </p:spPr>
        <p:txBody>
          <a:bodyPr lIns="0" tIns="0" rIns="0" bIns="0" rtlCol="0" anchor="t">
            <a:spAutoFit/>
          </a:bodyPr>
          <a:lstStyle/>
          <a:p>
            <a:pPr algn="ctr">
              <a:lnSpc>
                <a:spcPts val="4759"/>
              </a:lnSpc>
            </a:pPr>
            <a:r>
              <a:rPr lang="en-US" sz="3399">
                <a:solidFill>
                  <a:srgbClr val="142414"/>
                </a:solidFill>
                <a:latin typeface="TT Commons Pro"/>
                <a:ea typeface="TT Commons Pro"/>
                <a:cs typeface="TT Commons Pro"/>
                <a:sym typeface="TT Commons Pro"/>
              </a:rPr>
              <a:t>By leveraging this analysis, businesses can safeguard profitability and remain competitive in a changing trade landscape.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4F674F"/>
        </a:solidFill>
        <a:effectLst/>
      </p:bgPr>
    </p:bg>
    <p:spTree>
      <p:nvGrpSpPr>
        <p:cNvPr id="1" name=""/>
        <p:cNvGrpSpPr/>
        <p:nvPr/>
      </p:nvGrpSpPr>
      <p:grpSpPr>
        <a:xfrm>
          <a:off x="0" y="0"/>
          <a:ext cx="0" cy="0"/>
          <a:chOff x="0" y="0"/>
          <a:chExt cx="0" cy="0"/>
        </a:xfrm>
      </p:grpSpPr>
      <p:grpSp>
        <p:nvGrpSpPr>
          <p:cNvPr id="2" name="Group 2"/>
          <p:cNvGrpSpPr/>
          <p:nvPr/>
        </p:nvGrpSpPr>
        <p:grpSpPr>
          <a:xfrm>
            <a:off x="1181829" y="2449326"/>
            <a:ext cx="15389918" cy="5279993"/>
            <a:chOff x="0" y="0"/>
            <a:chExt cx="20519890" cy="7039991"/>
          </a:xfrm>
        </p:grpSpPr>
        <p:sp>
          <p:nvSpPr>
            <p:cNvPr id="3" name="TextBox 3"/>
            <p:cNvSpPr txBox="1"/>
            <p:nvPr/>
          </p:nvSpPr>
          <p:spPr>
            <a:xfrm>
              <a:off x="2202316" y="3321008"/>
              <a:ext cx="16498773" cy="3718983"/>
            </a:xfrm>
            <a:prstGeom prst="rect">
              <a:avLst/>
            </a:prstGeom>
          </p:spPr>
          <p:txBody>
            <a:bodyPr lIns="0" tIns="0" rIns="0" bIns="0" rtlCol="0" anchor="t">
              <a:spAutoFit/>
            </a:bodyPr>
            <a:lstStyle/>
            <a:p>
              <a:pPr algn="ctr">
                <a:lnSpc>
                  <a:spcPts val="5600"/>
                </a:lnSpc>
              </a:pPr>
              <a:r>
                <a:rPr lang="en-US" sz="4000">
                  <a:solidFill>
                    <a:srgbClr val="FFFFFF"/>
                  </a:solidFill>
                  <a:latin typeface="Rasputin Light"/>
                  <a:ea typeface="Rasputin Light"/>
                  <a:cs typeface="Rasputin Light"/>
                  <a:sym typeface="Rasputin Light"/>
                </a:rPr>
                <a:t>The increase in tariffs can hurt many small businesses.  With the right strategies, businesses can adapt and thrive despite these challenges</a:t>
              </a:r>
            </a:p>
          </p:txBody>
        </p:sp>
        <p:sp>
          <p:nvSpPr>
            <p:cNvPr id="4" name="TextBox 4"/>
            <p:cNvSpPr txBox="1"/>
            <p:nvPr/>
          </p:nvSpPr>
          <p:spPr>
            <a:xfrm>
              <a:off x="0" y="114300"/>
              <a:ext cx="20519890" cy="2518833"/>
            </a:xfrm>
            <a:prstGeom prst="rect">
              <a:avLst/>
            </a:prstGeom>
          </p:spPr>
          <p:txBody>
            <a:bodyPr lIns="0" tIns="0" rIns="0" bIns="0" rtlCol="0" anchor="t">
              <a:spAutoFit/>
            </a:bodyPr>
            <a:lstStyle/>
            <a:p>
              <a:pPr algn="ctr">
                <a:lnSpc>
                  <a:spcPts val="14300"/>
                </a:lnSpc>
              </a:pPr>
              <a:r>
                <a:rPr lang="en-US" sz="13000">
                  <a:solidFill>
                    <a:srgbClr val="FFFFFF"/>
                  </a:solidFill>
                  <a:latin typeface="Rasputin Light"/>
                  <a:ea typeface="Rasputin Light"/>
                  <a:cs typeface="Rasputin Light"/>
                  <a:sym typeface="Rasputin Light"/>
                </a:rPr>
                <a:t>Thank you!</a:t>
              </a:r>
            </a:p>
          </p:txBody>
        </p:sp>
      </p:grpSp>
      <p:sp>
        <p:nvSpPr>
          <p:cNvPr id="5" name="Freeform 5" descr="green organic blob"/>
          <p:cNvSpPr/>
          <p:nvPr/>
        </p:nvSpPr>
        <p:spPr>
          <a:xfrm>
            <a:off x="-2284790" y="-3746425"/>
            <a:ext cx="8857785" cy="8525618"/>
          </a:xfrm>
          <a:custGeom>
            <a:avLst/>
            <a:gdLst/>
            <a:ahLst/>
            <a:cxnLst/>
            <a:rect l="l" t="t" r="r" b="b"/>
            <a:pathLst>
              <a:path w="8857785" h="8525618">
                <a:moveTo>
                  <a:pt x="0" y="0"/>
                </a:moveTo>
                <a:lnTo>
                  <a:pt x="8857785" y="0"/>
                </a:lnTo>
                <a:lnTo>
                  <a:pt x="8857785" y="8525618"/>
                </a:lnTo>
                <a:lnTo>
                  <a:pt x="0" y="8525618"/>
                </a:lnTo>
                <a:lnTo>
                  <a:pt x="0" y="0"/>
                </a:lnTo>
                <a:close/>
              </a:path>
            </a:pathLst>
          </a:custGeom>
          <a:blipFill>
            <a:blip r:embed="rId2">
              <a:alphaModFix amt="21999"/>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descr="green organic blob"/>
          <p:cNvSpPr/>
          <p:nvPr/>
        </p:nvSpPr>
        <p:spPr>
          <a:xfrm rot="6653687">
            <a:off x="10166505" y="4129872"/>
            <a:ext cx="9957653" cy="8663158"/>
          </a:xfrm>
          <a:custGeom>
            <a:avLst/>
            <a:gdLst/>
            <a:ahLst/>
            <a:cxnLst/>
            <a:rect l="l" t="t" r="r" b="b"/>
            <a:pathLst>
              <a:path w="9957653" h="8663158">
                <a:moveTo>
                  <a:pt x="0" y="0"/>
                </a:moveTo>
                <a:lnTo>
                  <a:pt x="9957652" y="0"/>
                </a:lnTo>
                <a:lnTo>
                  <a:pt x="9957652" y="8663157"/>
                </a:lnTo>
                <a:lnTo>
                  <a:pt x="0" y="8663157"/>
                </a:lnTo>
                <a:lnTo>
                  <a:pt x="0" y="0"/>
                </a:lnTo>
                <a:close/>
              </a:path>
            </a:pathLst>
          </a:custGeom>
          <a:blipFill>
            <a:blip r:embed="rId4">
              <a:alphaModFix amt="21999"/>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Freeform 7" descr="lined abstract shape"/>
          <p:cNvSpPr/>
          <p:nvPr/>
        </p:nvSpPr>
        <p:spPr>
          <a:xfrm rot="4726396">
            <a:off x="1565829" y="-4045273"/>
            <a:ext cx="5318268" cy="8429531"/>
          </a:xfrm>
          <a:custGeom>
            <a:avLst/>
            <a:gdLst/>
            <a:ahLst/>
            <a:cxnLst/>
            <a:rect l="l" t="t" r="r" b="b"/>
            <a:pathLst>
              <a:path w="5318268" h="8429531">
                <a:moveTo>
                  <a:pt x="0" y="0"/>
                </a:moveTo>
                <a:lnTo>
                  <a:pt x="5318268" y="0"/>
                </a:lnTo>
                <a:lnTo>
                  <a:pt x="5318268" y="8429531"/>
                </a:lnTo>
                <a:lnTo>
                  <a:pt x="0" y="842953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8" name="Freeform 8" descr="lined abstract shape"/>
          <p:cNvSpPr/>
          <p:nvPr/>
        </p:nvSpPr>
        <p:spPr>
          <a:xfrm rot="5045464">
            <a:off x="10463264" y="6473304"/>
            <a:ext cx="5489002" cy="8700148"/>
          </a:xfrm>
          <a:custGeom>
            <a:avLst/>
            <a:gdLst/>
            <a:ahLst/>
            <a:cxnLst/>
            <a:rect l="l" t="t" r="r" b="b"/>
            <a:pathLst>
              <a:path w="5489002" h="8700148">
                <a:moveTo>
                  <a:pt x="0" y="0"/>
                </a:moveTo>
                <a:lnTo>
                  <a:pt x="5489003" y="0"/>
                </a:lnTo>
                <a:lnTo>
                  <a:pt x="5489003" y="8700148"/>
                </a:lnTo>
                <a:lnTo>
                  <a:pt x="0" y="870014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B7CDB7"/>
        </a:solidFill>
        <a:effectLst/>
      </p:bgPr>
    </p:bg>
    <p:spTree>
      <p:nvGrpSpPr>
        <p:cNvPr id="1" name=""/>
        <p:cNvGrpSpPr/>
        <p:nvPr/>
      </p:nvGrpSpPr>
      <p:grpSpPr>
        <a:xfrm>
          <a:off x="0" y="0"/>
          <a:ext cx="0" cy="0"/>
          <a:chOff x="0" y="0"/>
          <a:chExt cx="0" cy="0"/>
        </a:xfrm>
      </p:grpSpPr>
      <p:sp>
        <p:nvSpPr>
          <p:cNvPr id="2" name="Freeform 2" descr="organic blob shape"/>
          <p:cNvSpPr/>
          <p:nvPr/>
        </p:nvSpPr>
        <p:spPr>
          <a:xfrm>
            <a:off x="11706123" y="5628050"/>
            <a:ext cx="2332272" cy="1848326"/>
          </a:xfrm>
          <a:custGeom>
            <a:avLst/>
            <a:gdLst/>
            <a:ahLst/>
            <a:cxnLst/>
            <a:rect l="l" t="t" r="r" b="b"/>
            <a:pathLst>
              <a:path w="2332272" h="1848326">
                <a:moveTo>
                  <a:pt x="0" y="0"/>
                </a:moveTo>
                <a:lnTo>
                  <a:pt x="2332272" y="0"/>
                </a:lnTo>
                <a:lnTo>
                  <a:pt x="2332272" y="1848326"/>
                </a:lnTo>
                <a:lnTo>
                  <a:pt x="0" y="184832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descr="organic blob shape"/>
          <p:cNvSpPr/>
          <p:nvPr/>
        </p:nvSpPr>
        <p:spPr>
          <a:xfrm>
            <a:off x="14469375" y="5628050"/>
            <a:ext cx="2789925" cy="1848326"/>
          </a:xfrm>
          <a:custGeom>
            <a:avLst/>
            <a:gdLst/>
            <a:ahLst/>
            <a:cxnLst/>
            <a:rect l="l" t="t" r="r" b="b"/>
            <a:pathLst>
              <a:path w="2789925" h="1848326">
                <a:moveTo>
                  <a:pt x="0" y="0"/>
                </a:moveTo>
                <a:lnTo>
                  <a:pt x="2789925" y="0"/>
                </a:lnTo>
                <a:lnTo>
                  <a:pt x="2789925" y="1848326"/>
                </a:lnTo>
                <a:lnTo>
                  <a:pt x="0" y="184832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descr="organic blob shape"/>
          <p:cNvSpPr/>
          <p:nvPr/>
        </p:nvSpPr>
        <p:spPr>
          <a:xfrm>
            <a:off x="10654059" y="3295174"/>
            <a:ext cx="1742047" cy="1848326"/>
          </a:xfrm>
          <a:custGeom>
            <a:avLst/>
            <a:gdLst/>
            <a:ahLst/>
            <a:cxnLst/>
            <a:rect l="l" t="t" r="r" b="b"/>
            <a:pathLst>
              <a:path w="1742047" h="1848326">
                <a:moveTo>
                  <a:pt x="0" y="0"/>
                </a:moveTo>
                <a:lnTo>
                  <a:pt x="1742047" y="0"/>
                </a:lnTo>
                <a:lnTo>
                  <a:pt x="1742047" y="1848326"/>
                </a:lnTo>
                <a:lnTo>
                  <a:pt x="0" y="184832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5" name="Freeform 5" descr="organic blob shape"/>
          <p:cNvSpPr/>
          <p:nvPr/>
        </p:nvSpPr>
        <p:spPr>
          <a:xfrm>
            <a:off x="12627459" y="3202822"/>
            <a:ext cx="2821871" cy="1848326"/>
          </a:xfrm>
          <a:custGeom>
            <a:avLst/>
            <a:gdLst/>
            <a:ahLst/>
            <a:cxnLst/>
            <a:rect l="l" t="t" r="r" b="b"/>
            <a:pathLst>
              <a:path w="2821871" h="1848326">
                <a:moveTo>
                  <a:pt x="0" y="0"/>
                </a:moveTo>
                <a:lnTo>
                  <a:pt x="2821871" y="0"/>
                </a:lnTo>
                <a:lnTo>
                  <a:pt x="2821871" y="1848326"/>
                </a:lnTo>
                <a:lnTo>
                  <a:pt x="0" y="184832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6" name="Freeform 6" descr="organic blob shape"/>
          <p:cNvSpPr/>
          <p:nvPr/>
        </p:nvSpPr>
        <p:spPr>
          <a:xfrm>
            <a:off x="15693579" y="3449236"/>
            <a:ext cx="1827532" cy="1848326"/>
          </a:xfrm>
          <a:custGeom>
            <a:avLst/>
            <a:gdLst/>
            <a:ahLst/>
            <a:cxnLst/>
            <a:rect l="l" t="t" r="r" b="b"/>
            <a:pathLst>
              <a:path w="1827532" h="1848326">
                <a:moveTo>
                  <a:pt x="0" y="0"/>
                </a:moveTo>
                <a:lnTo>
                  <a:pt x="1827532" y="0"/>
                </a:lnTo>
                <a:lnTo>
                  <a:pt x="1827532" y="1848325"/>
                </a:lnTo>
                <a:lnTo>
                  <a:pt x="0" y="184832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7" name="Freeform 7" descr="organic blob shape"/>
          <p:cNvSpPr/>
          <p:nvPr/>
        </p:nvSpPr>
        <p:spPr>
          <a:xfrm>
            <a:off x="11840766" y="1028700"/>
            <a:ext cx="1573387" cy="1848326"/>
          </a:xfrm>
          <a:custGeom>
            <a:avLst/>
            <a:gdLst/>
            <a:ahLst/>
            <a:cxnLst/>
            <a:rect l="l" t="t" r="r" b="b"/>
            <a:pathLst>
              <a:path w="1573387" h="1848326">
                <a:moveTo>
                  <a:pt x="0" y="0"/>
                </a:moveTo>
                <a:lnTo>
                  <a:pt x="1573387" y="0"/>
                </a:lnTo>
                <a:lnTo>
                  <a:pt x="1573387" y="1848326"/>
                </a:lnTo>
                <a:lnTo>
                  <a:pt x="0" y="1848326"/>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8" name="Freeform 8" descr="organic blob shape"/>
          <p:cNvSpPr/>
          <p:nvPr/>
        </p:nvSpPr>
        <p:spPr>
          <a:xfrm>
            <a:off x="13761034" y="991480"/>
            <a:ext cx="1727344" cy="1848326"/>
          </a:xfrm>
          <a:custGeom>
            <a:avLst/>
            <a:gdLst/>
            <a:ahLst/>
            <a:cxnLst/>
            <a:rect l="l" t="t" r="r" b="b"/>
            <a:pathLst>
              <a:path w="1727344" h="1848326">
                <a:moveTo>
                  <a:pt x="0" y="0"/>
                </a:moveTo>
                <a:lnTo>
                  <a:pt x="1727344" y="0"/>
                </a:lnTo>
                <a:lnTo>
                  <a:pt x="1727344" y="1848325"/>
                </a:lnTo>
                <a:lnTo>
                  <a:pt x="0" y="1848325"/>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US"/>
          </a:p>
        </p:txBody>
      </p:sp>
      <p:sp>
        <p:nvSpPr>
          <p:cNvPr id="9" name="Freeform 9" descr="organic blob shape"/>
          <p:cNvSpPr/>
          <p:nvPr/>
        </p:nvSpPr>
        <p:spPr>
          <a:xfrm>
            <a:off x="15955390" y="991480"/>
            <a:ext cx="1303910" cy="1848326"/>
          </a:xfrm>
          <a:custGeom>
            <a:avLst/>
            <a:gdLst/>
            <a:ahLst/>
            <a:cxnLst/>
            <a:rect l="l" t="t" r="r" b="b"/>
            <a:pathLst>
              <a:path w="1303910" h="1848326">
                <a:moveTo>
                  <a:pt x="0" y="0"/>
                </a:moveTo>
                <a:lnTo>
                  <a:pt x="1303910" y="0"/>
                </a:lnTo>
                <a:lnTo>
                  <a:pt x="1303910" y="1848325"/>
                </a:lnTo>
                <a:lnTo>
                  <a:pt x="0" y="1848325"/>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US"/>
          </a:p>
        </p:txBody>
      </p:sp>
      <p:sp>
        <p:nvSpPr>
          <p:cNvPr id="10" name="Freeform 10" descr="organic blob shape"/>
          <p:cNvSpPr/>
          <p:nvPr/>
        </p:nvSpPr>
        <p:spPr>
          <a:xfrm>
            <a:off x="13549824" y="7541902"/>
            <a:ext cx="1839101" cy="1903339"/>
          </a:xfrm>
          <a:custGeom>
            <a:avLst/>
            <a:gdLst/>
            <a:ahLst/>
            <a:cxnLst/>
            <a:rect l="l" t="t" r="r" b="b"/>
            <a:pathLst>
              <a:path w="1839101" h="1903339">
                <a:moveTo>
                  <a:pt x="0" y="0"/>
                </a:moveTo>
                <a:lnTo>
                  <a:pt x="1839101" y="0"/>
                </a:lnTo>
                <a:lnTo>
                  <a:pt x="1839101" y="1903338"/>
                </a:lnTo>
                <a:lnTo>
                  <a:pt x="0" y="1903338"/>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US"/>
          </a:p>
        </p:txBody>
      </p:sp>
      <p:sp>
        <p:nvSpPr>
          <p:cNvPr id="11" name="Freeform 11" descr="organic blob shape"/>
          <p:cNvSpPr/>
          <p:nvPr/>
        </p:nvSpPr>
        <p:spPr>
          <a:xfrm>
            <a:off x="8145889" y="2978571"/>
            <a:ext cx="1919724" cy="2072577"/>
          </a:xfrm>
          <a:custGeom>
            <a:avLst/>
            <a:gdLst/>
            <a:ahLst/>
            <a:cxnLst/>
            <a:rect l="l" t="t" r="r" b="b"/>
            <a:pathLst>
              <a:path w="1919724" h="2072577">
                <a:moveTo>
                  <a:pt x="0" y="0"/>
                </a:moveTo>
                <a:lnTo>
                  <a:pt x="1919724" y="0"/>
                </a:lnTo>
                <a:lnTo>
                  <a:pt x="1919724" y="2072577"/>
                </a:lnTo>
                <a:lnTo>
                  <a:pt x="0" y="2072577"/>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US"/>
          </a:p>
        </p:txBody>
      </p:sp>
      <p:sp>
        <p:nvSpPr>
          <p:cNvPr id="12" name="Freeform 12" descr="organic blob shape"/>
          <p:cNvSpPr/>
          <p:nvPr/>
        </p:nvSpPr>
        <p:spPr>
          <a:xfrm>
            <a:off x="9864880" y="5562525"/>
            <a:ext cx="1660202" cy="1979377"/>
          </a:xfrm>
          <a:custGeom>
            <a:avLst/>
            <a:gdLst/>
            <a:ahLst/>
            <a:cxnLst/>
            <a:rect l="l" t="t" r="r" b="b"/>
            <a:pathLst>
              <a:path w="1660202" h="1979377">
                <a:moveTo>
                  <a:pt x="0" y="0"/>
                </a:moveTo>
                <a:lnTo>
                  <a:pt x="1660203" y="0"/>
                </a:lnTo>
                <a:lnTo>
                  <a:pt x="1660203" y="1979377"/>
                </a:lnTo>
                <a:lnTo>
                  <a:pt x="0" y="1979377"/>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US"/>
          </a:p>
        </p:txBody>
      </p:sp>
      <p:sp>
        <p:nvSpPr>
          <p:cNvPr id="13" name="Freeform 13" descr="organic blob shape"/>
          <p:cNvSpPr/>
          <p:nvPr/>
        </p:nvSpPr>
        <p:spPr>
          <a:xfrm>
            <a:off x="9438154" y="7797867"/>
            <a:ext cx="3591005" cy="1647373"/>
          </a:xfrm>
          <a:custGeom>
            <a:avLst/>
            <a:gdLst/>
            <a:ahLst/>
            <a:cxnLst/>
            <a:rect l="l" t="t" r="r" b="b"/>
            <a:pathLst>
              <a:path w="3591005" h="1647373">
                <a:moveTo>
                  <a:pt x="0" y="0"/>
                </a:moveTo>
                <a:lnTo>
                  <a:pt x="3591005" y="0"/>
                </a:lnTo>
                <a:lnTo>
                  <a:pt x="3591005" y="1647373"/>
                </a:lnTo>
                <a:lnTo>
                  <a:pt x="0" y="1647373"/>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txBody>
          <a:bodyPr/>
          <a:lstStyle/>
          <a:p>
            <a:endParaRPr lang="en-US"/>
          </a:p>
        </p:txBody>
      </p:sp>
      <p:sp>
        <p:nvSpPr>
          <p:cNvPr id="14" name="Freeform 14" descr="organic blob shape"/>
          <p:cNvSpPr/>
          <p:nvPr/>
        </p:nvSpPr>
        <p:spPr>
          <a:xfrm>
            <a:off x="9276040" y="1032388"/>
            <a:ext cx="1835333" cy="1766508"/>
          </a:xfrm>
          <a:custGeom>
            <a:avLst/>
            <a:gdLst/>
            <a:ahLst/>
            <a:cxnLst/>
            <a:rect l="l" t="t" r="r" b="b"/>
            <a:pathLst>
              <a:path w="1835333" h="1766508">
                <a:moveTo>
                  <a:pt x="0" y="0"/>
                </a:moveTo>
                <a:lnTo>
                  <a:pt x="1835333" y="0"/>
                </a:lnTo>
                <a:lnTo>
                  <a:pt x="1835333" y="1766509"/>
                </a:lnTo>
                <a:lnTo>
                  <a:pt x="0" y="1766509"/>
                </a:lnTo>
                <a:lnTo>
                  <a:pt x="0" y="0"/>
                </a:lnTo>
                <a:close/>
              </a:path>
            </a:pathLst>
          </a:custGeom>
          <a:blipFill>
            <a:blip r:embed="rId26">
              <a:extLst>
                <a:ext uri="{96DAC541-7B7A-43D3-8B79-37D633B846F1}">
                  <asvg:svgBlip xmlns:asvg="http://schemas.microsoft.com/office/drawing/2016/SVG/main" r:embed="rId27"/>
                </a:ext>
              </a:extLst>
            </a:blip>
            <a:stretch>
              <a:fillRect/>
            </a:stretch>
          </a:blipFill>
        </p:spPr>
        <p:txBody>
          <a:bodyPr/>
          <a:lstStyle/>
          <a:p>
            <a:endParaRPr lang="en-US"/>
          </a:p>
        </p:txBody>
      </p:sp>
      <p:grpSp>
        <p:nvGrpSpPr>
          <p:cNvPr id="15" name="Group 15"/>
          <p:cNvGrpSpPr/>
          <p:nvPr/>
        </p:nvGrpSpPr>
        <p:grpSpPr>
          <a:xfrm>
            <a:off x="1028700" y="1028700"/>
            <a:ext cx="7257564" cy="7220819"/>
            <a:chOff x="0" y="0"/>
            <a:chExt cx="9676752" cy="9627759"/>
          </a:xfrm>
        </p:grpSpPr>
        <p:sp>
          <p:nvSpPr>
            <p:cNvPr id="16" name="TextBox 16"/>
            <p:cNvSpPr txBox="1"/>
            <p:nvPr/>
          </p:nvSpPr>
          <p:spPr>
            <a:xfrm>
              <a:off x="0" y="-9525"/>
              <a:ext cx="9676752" cy="2651125"/>
            </a:xfrm>
            <a:prstGeom prst="rect">
              <a:avLst/>
            </a:prstGeom>
          </p:spPr>
          <p:txBody>
            <a:bodyPr lIns="0" tIns="0" rIns="0" bIns="0" rtlCol="0" anchor="t">
              <a:spAutoFit/>
            </a:bodyPr>
            <a:lstStyle/>
            <a:p>
              <a:pPr algn="l">
                <a:lnSpc>
                  <a:spcPts val="7800"/>
                </a:lnSpc>
              </a:pPr>
              <a:r>
                <a:rPr lang="en-US" sz="6500">
                  <a:solidFill>
                    <a:srgbClr val="142414"/>
                  </a:solidFill>
                  <a:latin typeface="Rasputin Light"/>
                  <a:ea typeface="Rasputin Light"/>
                  <a:cs typeface="Rasputin Light"/>
                  <a:sym typeface="Rasputin Light"/>
                </a:rPr>
                <a:t>Resource </a:t>
              </a:r>
            </a:p>
            <a:p>
              <a:pPr algn="l">
                <a:lnSpc>
                  <a:spcPts val="7800"/>
                </a:lnSpc>
              </a:pPr>
              <a:r>
                <a:rPr lang="en-US" sz="6500">
                  <a:solidFill>
                    <a:srgbClr val="142414"/>
                  </a:solidFill>
                  <a:latin typeface="Rasputin Light"/>
                  <a:ea typeface="Rasputin Light"/>
                  <a:cs typeface="Rasputin Light"/>
                  <a:sym typeface="Rasputin Light"/>
                </a:rPr>
                <a:t>Page</a:t>
              </a:r>
            </a:p>
          </p:txBody>
        </p:sp>
        <p:sp>
          <p:nvSpPr>
            <p:cNvPr id="17" name="TextBox 17"/>
            <p:cNvSpPr txBox="1"/>
            <p:nvPr/>
          </p:nvSpPr>
          <p:spPr>
            <a:xfrm>
              <a:off x="0" y="3208756"/>
              <a:ext cx="9676752" cy="6419003"/>
            </a:xfrm>
            <a:prstGeom prst="rect">
              <a:avLst/>
            </a:prstGeom>
          </p:spPr>
          <p:txBody>
            <a:bodyPr lIns="0" tIns="0" rIns="0" bIns="0" rtlCol="0" anchor="t">
              <a:spAutoFit/>
            </a:bodyPr>
            <a:lstStyle/>
            <a:p>
              <a:pPr algn="l">
                <a:lnSpc>
                  <a:spcPts val="2990"/>
                </a:lnSpc>
              </a:pPr>
              <a:r>
                <a:rPr lang="en-US" sz="2300">
                  <a:solidFill>
                    <a:srgbClr val="142414"/>
                  </a:solidFill>
                  <a:latin typeface="TT Commons Pro"/>
                  <a:ea typeface="TT Commons Pro"/>
                  <a:cs typeface="TT Commons Pro"/>
                  <a:sym typeface="TT Commons Pro"/>
                </a:rPr>
                <a:t>Administration, I. T. (2024, December). Office of Consumer Goods Import Data Tools. Retrieved from International Trade Administration: https://www.trade.gov/data-visualization/office-consumer-goods-import-data-tools</a:t>
              </a:r>
            </a:p>
            <a:p>
              <a:pPr algn="l">
                <a:lnSpc>
                  <a:spcPts val="2990"/>
                </a:lnSpc>
              </a:pPr>
              <a:endParaRPr lang="en-US" sz="2300">
                <a:solidFill>
                  <a:srgbClr val="142414"/>
                </a:solidFill>
                <a:latin typeface="TT Commons Pro"/>
                <a:ea typeface="TT Commons Pro"/>
                <a:cs typeface="TT Commons Pro"/>
                <a:sym typeface="TT Commons Pro"/>
              </a:endParaRPr>
            </a:p>
            <a:p>
              <a:pPr algn="l">
                <a:lnSpc>
                  <a:spcPts val="2990"/>
                </a:lnSpc>
              </a:pPr>
              <a:r>
                <a:rPr lang="en-US" sz="2300">
                  <a:solidFill>
                    <a:srgbClr val="142414"/>
                  </a:solidFill>
                  <a:latin typeface="TT Commons Pro"/>
                  <a:ea typeface="TT Commons Pro"/>
                  <a:cs typeface="TT Commons Pro"/>
                  <a:sym typeface="TT Commons Pro"/>
                </a:rPr>
                <a:t>Annual Tariff Data, 2023, [Dataset]. (2024). Retrieved from DataWeb: https://dataweb.usitc.gov/tariff/annual</a:t>
              </a:r>
            </a:p>
            <a:p>
              <a:pPr algn="l">
                <a:lnSpc>
                  <a:spcPts val="2990"/>
                </a:lnSpc>
              </a:pPr>
              <a:endParaRPr lang="en-US" sz="2300">
                <a:solidFill>
                  <a:srgbClr val="142414"/>
                </a:solidFill>
                <a:latin typeface="TT Commons Pro"/>
                <a:ea typeface="TT Commons Pro"/>
                <a:cs typeface="TT Commons Pro"/>
                <a:sym typeface="TT Commons Pro"/>
              </a:endParaRPr>
            </a:p>
            <a:p>
              <a:pPr algn="l">
                <a:lnSpc>
                  <a:spcPts val="2990"/>
                </a:lnSpc>
              </a:pPr>
              <a:r>
                <a:rPr lang="en-US" sz="2300">
                  <a:solidFill>
                    <a:srgbClr val="142414"/>
                  </a:solidFill>
                  <a:latin typeface="TT Commons Pro"/>
                  <a:ea typeface="TT Commons Pro"/>
                  <a:cs typeface="TT Commons Pro"/>
                  <a:sym typeface="TT Commons Pro"/>
                </a:rPr>
                <a:t>Harmonized Tariff Schedule of the United States. (2024). Chapter 99. Retrieved from hts.usitc.gov: https://hts.usitc.gov/search?query=990388</a:t>
              </a:r>
            </a:p>
            <a:p>
              <a:pPr algn="l">
                <a:lnSpc>
                  <a:spcPts val="2990"/>
                </a:lnSpc>
              </a:pPr>
              <a:endParaRPr lang="en-US" sz="2300">
                <a:solidFill>
                  <a:srgbClr val="142414"/>
                </a:solidFill>
                <a:latin typeface="TT Commons Pro"/>
                <a:ea typeface="TT Commons Pro"/>
                <a:cs typeface="TT Commons Pro"/>
                <a:sym typeface="TT Commons Pro"/>
              </a:endParaRPr>
            </a:p>
            <a:p>
              <a:pPr algn="l">
                <a:lnSpc>
                  <a:spcPts val="2990"/>
                </a:lnSpc>
              </a:pPr>
              <a:endParaRPr lang="en-US" sz="2300">
                <a:solidFill>
                  <a:srgbClr val="142414"/>
                </a:solidFill>
                <a:latin typeface="TT Commons Pro"/>
                <a:ea typeface="TT Commons Pro"/>
                <a:cs typeface="TT Commons Pro"/>
                <a:sym typeface="TT Commons Pro"/>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835</Words>
  <Application>Microsoft Office PowerPoint</Application>
  <PresentationFormat>Custom</PresentationFormat>
  <Paragraphs>132</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TT Commons Pro Bold</vt:lpstr>
      <vt:lpstr>Rasputin Light</vt:lpstr>
      <vt:lpstr>Calibri</vt:lpstr>
      <vt:lpstr>Rasputin Light Bold</vt:lpstr>
      <vt:lpstr>Arial</vt:lpstr>
      <vt:lpstr>TT Commons Pro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Senario Analtsis</dc:title>
  <cp:lastModifiedBy>Kiara Ganger</cp:lastModifiedBy>
  <cp:revision>1</cp:revision>
  <dcterms:created xsi:type="dcterms:W3CDTF">2006-08-16T00:00:00Z</dcterms:created>
  <dcterms:modified xsi:type="dcterms:W3CDTF">2024-12-24T04:20:37Z</dcterms:modified>
  <dc:identifier>DAGZ2r3eeRc</dc:identifier>
</cp:coreProperties>
</file>